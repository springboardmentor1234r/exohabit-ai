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Gagalin" panose="020B0604020202020204" charset="0"/>
      <p:regular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  <p:embeddedFont>
      <p:font typeface="Montserrat Bold" panose="00000800000000000000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B19377-2D2D-49EF-903B-122ECDF2FF76}" v="7" dt="2026-02-20T17:43:40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72" y="36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praja Mutyala" userId="434fd8d2f5f31988" providerId="LiveId" clId="{A9C38C69-4D12-45E4-A355-02F3BE9B632E}"/>
    <pc:docChg chg="undo custSel addSld delSld modSld sldOrd">
      <pc:chgData name="Supraja Mutyala" userId="434fd8d2f5f31988" providerId="LiveId" clId="{A9C38C69-4D12-45E4-A355-02F3BE9B632E}" dt="2026-02-20T17:43:45.223" v="20" actId="167"/>
      <pc:docMkLst>
        <pc:docMk/>
      </pc:docMkLst>
      <pc:sldChg chg="addSp delSp modSp mod">
        <pc:chgData name="Supraja Mutyala" userId="434fd8d2f5f31988" providerId="LiveId" clId="{A9C38C69-4D12-45E4-A355-02F3BE9B632E}" dt="2026-02-20T17:43:45.223" v="20" actId="167"/>
        <pc:sldMkLst>
          <pc:docMk/>
          <pc:sldMk cId="0" sldId="256"/>
        </pc:sldMkLst>
        <pc:spChg chg="add del mod">
          <ac:chgData name="Supraja Mutyala" userId="434fd8d2f5f31988" providerId="LiveId" clId="{A9C38C69-4D12-45E4-A355-02F3BE9B632E}" dt="2026-02-20T17:43:25.383" v="16" actId="20577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Supraja Mutyala" userId="434fd8d2f5f31988" providerId="LiveId" clId="{A9C38C69-4D12-45E4-A355-02F3BE9B632E}" dt="2026-02-20T17:43:18.195" v="11"/>
          <ac:spMkLst>
            <pc:docMk/>
            <pc:sldMk cId="0" sldId="256"/>
            <ac:spMk id="3" creationId="{9357DAED-2B86-8F33-1165-A2CAD0B8FCB9}"/>
          </ac:spMkLst>
        </pc:spChg>
        <pc:spChg chg="add mod ord">
          <ac:chgData name="Supraja Mutyala" userId="434fd8d2f5f31988" providerId="LiveId" clId="{A9C38C69-4D12-45E4-A355-02F3BE9B632E}" dt="2026-02-20T17:43:45.223" v="20" actId="167"/>
          <ac:spMkLst>
            <pc:docMk/>
            <pc:sldMk cId="0" sldId="256"/>
            <ac:spMk id="4" creationId="{2C8539C8-CEFF-E6C6-7C09-F06A6130E22B}"/>
          </ac:spMkLst>
        </pc:spChg>
      </pc:sldChg>
      <pc:sldChg chg="modSp add del mod ord">
        <pc:chgData name="Supraja Mutyala" userId="434fd8d2f5f31988" providerId="LiveId" clId="{A9C38C69-4D12-45E4-A355-02F3BE9B632E}" dt="2026-02-20T17:43:32.140" v="18" actId="2890"/>
        <pc:sldMkLst>
          <pc:docMk/>
          <pc:sldMk cId="43087682" sldId="266"/>
        </pc:sldMkLst>
        <pc:spChg chg="mod">
          <ac:chgData name="Supraja Mutyala" userId="434fd8d2f5f31988" providerId="LiveId" clId="{A9C38C69-4D12-45E4-A355-02F3BE9B632E}" dt="2026-02-20T17:43:24.330" v="14" actId="20577"/>
          <ac:spMkLst>
            <pc:docMk/>
            <pc:sldMk cId="43087682" sldId="266"/>
            <ac:spMk id="3" creationId="{A9B174C7-805A-3DA1-9F83-8D28BBBEA8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2C8539C8-CEFF-E6C6-7C09-F06A6130E22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TextBox 2"/>
          <p:cNvSpPr txBox="1"/>
          <p:nvPr/>
        </p:nvSpPr>
        <p:spPr>
          <a:xfrm>
            <a:off x="1028700" y="3958468"/>
            <a:ext cx="16230600" cy="170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81"/>
              </a:lnSpc>
            </a:pPr>
            <a:r>
              <a:rPr lang="en-US" sz="5699" spc="-245" dirty="0">
                <a:solidFill>
                  <a:srgbClr val="FFFFFF">
                    <a:alpha val="95686"/>
                  </a:srgbClr>
                </a:solidFill>
                <a:latin typeface="Gagalin"/>
                <a:ea typeface="Gagalin"/>
                <a:cs typeface="Gagalin"/>
                <a:sym typeface="Gagalin"/>
              </a:rPr>
              <a:t>🪐 EXOHABIT-AI: EXOPLANET HABITABILITY PREDICTION</a:t>
            </a:r>
          </a:p>
          <a:p>
            <a:pPr algn="ctr">
              <a:lnSpc>
                <a:spcPts val="5756"/>
              </a:lnSpc>
            </a:pPr>
            <a:r>
              <a:rPr lang="en-US" sz="5699" spc="-245" dirty="0">
                <a:solidFill>
                  <a:srgbClr val="FFFFFF">
                    <a:alpha val="95686"/>
                  </a:srgbClr>
                </a:solidFill>
                <a:latin typeface="Gagalin"/>
                <a:ea typeface="Gagalin"/>
                <a:cs typeface="Gagalin"/>
                <a:sym typeface="Gagalin"/>
              </a:rPr>
              <a:t>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331891" y="1162050"/>
            <a:ext cx="7971512" cy="954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2"/>
              </a:lnSpc>
            </a:pPr>
            <a:r>
              <a:rPr lang="en-US" sz="72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PROJECT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504083"/>
            <a:ext cx="15783734" cy="639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8645" lvl="1" indent="-384323" algn="l">
              <a:lnSpc>
                <a:spcPts val="4663"/>
              </a:lnSpc>
              <a:buFont typeface="Arial"/>
              <a:buChar char="•"/>
            </a:pPr>
            <a:r>
              <a:rPr lang="en-US" sz="35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Intelligent Prediction: A machine learning–based web application designed to analyze exoplanet and stellar parameters to predict habitability.</a:t>
            </a:r>
          </a:p>
          <a:p>
            <a:pPr marL="768645" lvl="1" indent="-384323" algn="l">
              <a:lnSpc>
                <a:spcPts val="4663"/>
              </a:lnSpc>
              <a:buFont typeface="Arial"/>
              <a:buChar char="•"/>
            </a:pPr>
            <a:r>
              <a:rPr lang="en-US" sz="35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Scientific Analysis: Combines feature engineering, ML predictions, and interactive dashboards to identify planets that may support life.</a:t>
            </a:r>
          </a:p>
          <a:p>
            <a:pPr marL="768645" lvl="1" indent="-384323" algn="l">
              <a:lnSpc>
                <a:spcPts val="4663"/>
              </a:lnSpc>
              <a:buFont typeface="Arial"/>
              <a:buChar char="•"/>
            </a:pPr>
            <a:r>
              <a:rPr lang="en-US" sz="35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Accessible Platform: An educational tool featuring famous exoplanets, discovery methods, and a 3D starfield experience.</a:t>
            </a:r>
          </a:p>
          <a:p>
            <a:pPr marL="768645" lvl="1" indent="-384323" algn="l">
              <a:lnSpc>
                <a:spcPts val="4663"/>
              </a:lnSpc>
              <a:buFont typeface="Arial"/>
              <a:buChar char="•"/>
            </a:pPr>
            <a:r>
              <a:rPr lang="en-US" sz="35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Cloud Deployment: Built with a Flask backend and deployed for online access.</a:t>
            </a:r>
          </a:p>
          <a:p>
            <a:pPr algn="l">
              <a:lnSpc>
                <a:spcPts val="4663"/>
              </a:lnSpc>
            </a:pPr>
            <a:endParaRPr lang="en-US" sz="356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9" r="-369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3184823" y="5418779"/>
            <a:ext cx="2948148" cy="2948148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9FCD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3"/>
              <a:stretch>
                <a:fillRect l="-38492" r="-384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73010" y="1085850"/>
            <a:ext cx="9959180" cy="1035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sz="72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 PROJECT OBJECTIVES</a:t>
            </a: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3184823" y="1776447"/>
            <a:ext cx="2948148" cy="2948148"/>
            <a:chOff x="0" y="0"/>
            <a:chExt cx="14840029" cy="14840029"/>
          </a:xfrm>
        </p:grpSpPr>
        <p:sp>
          <p:nvSpPr>
            <p:cNvPr id="9" name="Freeform 9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9FCD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44363" r="-4436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7086" y="2578719"/>
            <a:ext cx="11622583" cy="5398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0557" lvl="1" indent="-320278" algn="l">
              <a:lnSpc>
                <a:spcPts val="3886"/>
              </a:lnSpc>
              <a:buFont typeface="Arial"/>
              <a:buChar char="•"/>
            </a:pPr>
            <a:r>
              <a:rPr lang="en-US" sz="296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Classify Habitability: Determine if an exoplanet is Habitable or Not Habitable using binary classification.</a:t>
            </a:r>
          </a:p>
          <a:p>
            <a:pPr marL="640557" lvl="1" indent="-320278" algn="l">
              <a:lnSpc>
                <a:spcPts val="3886"/>
              </a:lnSpc>
              <a:buFont typeface="Arial"/>
              <a:buChar char="•"/>
            </a:pPr>
            <a:r>
              <a:rPr lang="en-US" sz="296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Scoring System: Compute a Habitability Score and Percentage based on planetary suitability.</a:t>
            </a:r>
          </a:p>
          <a:p>
            <a:pPr marL="640557" lvl="1" indent="-320278" algn="l">
              <a:lnSpc>
                <a:spcPts val="3886"/>
              </a:lnSpc>
              <a:buFont typeface="Arial"/>
              <a:buChar char="•"/>
            </a:pPr>
            <a:r>
              <a:rPr lang="en-US" sz="296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Ranking: Rank confirmed exoplanets based on their predicted habitability scores.</a:t>
            </a:r>
          </a:p>
          <a:p>
            <a:pPr marL="640557" lvl="1" indent="-320278" algn="l">
              <a:lnSpc>
                <a:spcPts val="3886"/>
              </a:lnSpc>
              <a:buFont typeface="Arial"/>
              <a:buChar char="•"/>
            </a:pPr>
            <a:r>
              <a:rPr lang="en-US" sz="296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Visual Analytics: Provide insights through interactive dashboards and feature importance plots.</a:t>
            </a:r>
          </a:p>
          <a:p>
            <a:pPr marL="640557" lvl="1" indent="-320278" algn="l">
              <a:lnSpc>
                <a:spcPts val="3886"/>
              </a:lnSpc>
              <a:buFont typeface="Arial"/>
              <a:buChar char="•"/>
            </a:pPr>
            <a:r>
              <a:rPr lang="en-US" sz="296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End-to-End Development: Demonstrate a full-stack ML lifecycle from data preprocessing to web deployment.</a:t>
            </a:r>
          </a:p>
          <a:p>
            <a:pPr algn="l">
              <a:lnSpc>
                <a:spcPts val="3886"/>
              </a:lnSpc>
            </a:pPr>
            <a:endParaRPr lang="en-US" sz="2966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17" r="-331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172714" y="2204080"/>
            <a:ext cx="4848041" cy="4909408"/>
          </a:xfrm>
          <a:custGeom>
            <a:avLst/>
            <a:gdLst/>
            <a:ahLst/>
            <a:cxnLst/>
            <a:rect l="l" t="t" r="r" b="b"/>
            <a:pathLst>
              <a:path w="4848041" h="4909408">
                <a:moveTo>
                  <a:pt x="0" y="0"/>
                </a:moveTo>
                <a:lnTo>
                  <a:pt x="4848041" y="0"/>
                </a:lnTo>
                <a:lnTo>
                  <a:pt x="4848041" y="4909408"/>
                </a:lnTo>
                <a:lnTo>
                  <a:pt x="0" y="49094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-134904" y="2007661"/>
            <a:ext cx="4628830" cy="5966699"/>
          </a:xfrm>
          <a:custGeom>
            <a:avLst/>
            <a:gdLst/>
            <a:ahLst/>
            <a:cxnLst/>
            <a:rect l="l" t="t" r="r" b="b"/>
            <a:pathLst>
              <a:path w="4628830" h="5966699">
                <a:moveTo>
                  <a:pt x="0" y="0"/>
                </a:moveTo>
                <a:lnTo>
                  <a:pt x="4628830" y="0"/>
                </a:lnTo>
                <a:lnTo>
                  <a:pt x="4628830" y="5966699"/>
                </a:lnTo>
                <a:lnTo>
                  <a:pt x="0" y="59666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7184151" y="1168903"/>
            <a:ext cx="8422832" cy="1035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sz="72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TECHNOLOGY STACK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84151" y="2625092"/>
            <a:ext cx="9559703" cy="5930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29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Programming &amp; Machine Learning</a:t>
            </a:r>
          </a:p>
          <a:p>
            <a:pPr marL="647698" lvl="1" indent="-323849" algn="l">
              <a:lnSpc>
                <a:spcPts val="392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Language: Python 3.8+</a:t>
            </a:r>
          </a:p>
          <a:p>
            <a:pPr marL="647698" lvl="1" indent="-323849" algn="l">
              <a:lnSpc>
                <a:spcPts val="392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Core Libraries: NumPy, Pandas, Scikit-learn</a:t>
            </a:r>
          </a:p>
          <a:p>
            <a:pPr marL="647698" lvl="1" indent="-323849" algn="l">
              <a:lnSpc>
                <a:spcPts val="392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Algorithm: Random Forest Classifier</a:t>
            </a:r>
          </a:p>
          <a:p>
            <a:pPr marL="647698" lvl="1" indent="-323849" algn="l">
              <a:lnSpc>
                <a:spcPts val="392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Serialization: Joblib / Pickle</a:t>
            </a:r>
          </a:p>
          <a:p>
            <a:pPr algn="l">
              <a:lnSpc>
                <a:spcPts val="3929"/>
              </a:lnSpc>
            </a:pPr>
            <a:r>
              <a:rPr lang="en-US" sz="29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Web &amp; Frontend</a:t>
            </a:r>
          </a:p>
          <a:p>
            <a:pPr marL="647698" lvl="1" indent="-323849" algn="l">
              <a:lnSpc>
                <a:spcPts val="392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Backend Framework: Flask (Python)</a:t>
            </a:r>
          </a:p>
          <a:p>
            <a:pPr marL="647698" lvl="1" indent="-323849" algn="l">
              <a:lnSpc>
                <a:spcPts val="392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Frontend Core: HTML5, CSS3, JavaScript (ES6+), Bootstrap</a:t>
            </a:r>
          </a:p>
          <a:p>
            <a:pPr marL="647698" lvl="1" indent="-323849" algn="l">
              <a:lnSpc>
                <a:spcPts val="392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Graphics: Three.js (3D Starfield), GSAP (Animations), Chart.js (Visualizations)</a:t>
            </a:r>
          </a:p>
          <a:p>
            <a:pPr algn="l">
              <a:lnSpc>
                <a:spcPts val="3929"/>
              </a:lnSpc>
            </a:pPr>
            <a:endParaRPr lang="en-US" sz="29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9" r="-36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0" y="1162050"/>
            <a:ext cx="10151671" cy="954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2"/>
              </a:lnSpc>
            </a:pPr>
            <a:r>
              <a:rPr lang="en-US" sz="72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DATASET &amp; PARAMETERS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2402026" y="5143500"/>
            <a:ext cx="3304590" cy="3304590"/>
            <a:chOff x="0" y="0"/>
            <a:chExt cx="14840029" cy="14840029"/>
          </a:xfrm>
        </p:grpSpPr>
        <p:sp>
          <p:nvSpPr>
            <p:cNvPr id="5" name="Freeform 5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C5B8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3"/>
              <a:stretch>
                <a:fillRect l="-29643" r="-2964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2402026" y="1226950"/>
            <a:ext cx="3304590" cy="3304590"/>
            <a:chOff x="0" y="0"/>
            <a:chExt cx="14840029" cy="14840029"/>
          </a:xfrm>
        </p:grpSpPr>
        <p:sp>
          <p:nvSpPr>
            <p:cNvPr id="9" name="Freeform 9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C5B8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24642" r="-2464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58917" y="2464054"/>
            <a:ext cx="8708106" cy="6794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system analyzes real exoplanet data with 10 key input features:</a:t>
            </a:r>
          </a:p>
          <a:p>
            <a:pPr marL="690881" lvl="1" indent="-345440" algn="l">
              <a:lnSpc>
                <a:spcPts val="4192"/>
              </a:lnSpc>
              <a:buFont typeface="Arial"/>
              <a:buChar char="•"/>
            </a:pPr>
            <a:r>
              <a:rPr lang="en-US" sz="32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Planetary Features:</a:t>
            </a: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Radius (Earth radii), Mass (Earth masses), Equilibrium Temperature (K), and Orbital Period (days).</a:t>
            </a:r>
          </a:p>
          <a:p>
            <a:pPr marL="690881" lvl="1" indent="-345440" algn="l">
              <a:lnSpc>
                <a:spcPts val="4192"/>
              </a:lnSpc>
              <a:buFont typeface="Arial"/>
              <a:buChar char="•"/>
            </a:pPr>
            <a:r>
              <a:rPr lang="en-US" sz="32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Stellar Features:</a:t>
            </a: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Effective Temperature (K), Radius (Solar radii), and Mass (Solar masses).</a:t>
            </a:r>
          </a:p>
          <a:p>
            <a:pPr marL="690881" lvl="1" indent="-345440" algn="l">
              <a:lnSpc>
                <a:spcPts val="4192"/>
              </a:lnSpc>
              <a:buFont typeface="Arial"/>
              <a:buChar char="•"/>
            </a:pPr>
            <a:r>
              <a:rPr lang="en-US" sz="32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Features:</a:t>
            </a: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Distance to the system (parsec), number of stars, and number of planets.</a:t>
            </a:r>
          </a:p>
          <a:p>
            <a:pPr algn="l">
              <a:lnSpc>
                <a:spcPts val="4192"/>
              </a:lnSpc>
            </a:pPr>
            <a:endParaRPr lang="en-US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7217997" y="3943569"/>
            <a:ext cx="3476232" cy="3471887"/>
          </a:xfrm>
          <a:custGeom>
            <a:avLst/>
            <a:gdLst/>
            <a:ahLst/>
            <a:cxnLst/>
            <a:rect l="l" t="t" r="r" b="b"/>
            <a:pathLst>
              <a:path w="3476232" h="3471887">
                <a:moveTo>
                  <a:pt x="0" y="0"/>
                </a:moveTo>
                <a:lnTo>
                  <a:pt x="3476232" y="0"/>
                </a:lnTo>
                <a:lnTo>
                  <a:pt x="3476232" y="3471887"/>
                </a:lnTo>
                <a:lnTo>
                  <a:pt x="0" y="347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028700" y="2714390"/>
            <a:ext cx="520956" cy="52095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A28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59799" y="1149931"/>
            <a:ext cx="10125219" cy="954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2"/>
              </a:lnSpc>
            </a:pPr>
            <a:r>
              <a:rPr lang="en-US" sz="72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MACHINE LEARNING MODEL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2766" y="3560172"/>
            <a:ext cx="6240472" cy="4915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3834" lvl="1" indent="-291917" algn="l">
              <a:lnSpc>
                <a:spcPts val="3542"/>
              </a:lnSpc>
              <a:buFont typeface="Arial"/>
              <a:buChar char="•"/>
            </a:pPr>
            <a:r>
              <a:rPr lang="en-US" sz="27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Temperature Closeness: Evaluates how near the planet's temperature is to Earth's average (288K).</a:t>
            </a:r>
          </a:p>
          <a:p>
            <a:pPr marL="583834" lvl="1" indent="-291917" algn="l">
              <a:lnSpc>
                <a:spcPts val="3542"/>
              </a:lnSpc>
              <a:buFont typeface="Arial"/>
              <a:buChar char="•"/>
            </a:pPr>
            <a:r>
              <a:rPr lang="en-US" sz="27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Physical Constraints: Assesses the suitability of the planet's radius and mass.</a:t>
            </a:r>
          </a:p>
          <a:p>
            <a:pPr marL="583834" lvl="1" indent="-291917" algn="l">
              <a:lnSpc>
                <a:spcPts val="3542"/>
              </a:lnSpc>
              <a:buFont typeface="Arial"/>
              <a:buChar char="•"/>
            </a:pPr>
            <a:r>
              <a:rPr lang="en-US" sz="27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Normalization: The raw metrics are converted into a 0–100% habitability percentage.</a:t>
            </a:r>
          </a:p>
          <a:p>
            <a:pPr algn="l">
              <a:lnSpc>
                <a:spcPts val="3542"/>
              </a:lnSpc>
            </a:pPr>
            <a:endParaRPr lang="en-US" sz="2704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83662" y="2848216"/>
            <a:ext cx="4702960" cy="330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4"/>
              </a:lnSpc>
              <a:spcBef>
                <a:spcPct val="0"/>
              </a:spcBef>
            </a:pPr>
            <a:r>
              <a:rPr lang="en-US" sz="244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HABITABILITY SCORE LOGIC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03536" y="2946293"/>
            <a:ext cx="6434166" cy="5362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2"/>
              </a:lnSpc>
            </a:pPr>
            <a:endParaRPr/>
          </a:p>
          <a:p>
            <a:pPr marL="583834" lvl="1" indent="-291917" algn="l">
              <a:lnSpc>
                <a:spcPts val="3542"/>
              </a:lnSpc>
              <a:buFont typeface="Arial"/>
              <a:buChar char="•"/>
            </a:pPr>
            <a:r>
              <a:rPr lang="en-US" sz="27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Algorithm: A robust ensemble learning method chosen for high accuracy and ability to handle non-linear data.</a:t>
            </a:r>
          </a:p>
          <a:p>
            <a:pPr marL="583834" lvl="1" indent="-291917" algn="l">
              <a:lnSpc>
                <a:spcPts val="3542"/>
              </a:lnSpc>
              <a:buFont typeface="Arial"/>
              <a:buChar char="•"/>
            </a:pPr>
            <a:r>
              <a:rPr lang="en-US" sz="27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Training: Trained on NASA Exoplanet Archive data.</a:t>
            </a:r>
          </a:p>
          <a:p>
            <a:pPr marL="583834" lvl="1" indent="-291917" algn="l">
              <a:lnSpc>
                <a:spcPts val="3542"/>
              </a:lnSpc>
              <a:buFont typeface="Arial"/>
              <a:buChar char="•"/>
            </a:pPr>
            <a:r>
              <a:rPr lang="en-US" sz="27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Output: Provides binary classification (Habitable/Not Habitable) along with probability scores for confidence levels.</a:t>
            </a:r>
          </a:p>
          <a:p>
            <a:pPr algn="l">
              <a:lnSpc>
                <a:spcPts val="3542"/>
              </a:lnSpc>
            </a:pPr>
            <a:endParaRPr lang="en-US" sz="2704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142453" y="2848216"/>
            <a:ext cx="5113324" cy="330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4"/>
              </a:lnSpc>
              <a:spcBef>
                <a:spcPct val="0"/>
              </a:spcBef>
            </a:pPr>
            <a:r>
              <a:rPr lang="en-US" sz="244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RANDOM FOREST CLASSIFIER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410443" y="2738571"/>
            <a:ext cx="520956" cy="52095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A28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18542" y="2848216"/>
            <a:ext cx="236522" cy="289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  <a:spcBef>
                <a:spcPct val="0"/>
              </a:spcBef>
            </a:pPr>
            <a:r>
              <a:rPr lang="en-US" sz="210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81235" y="2868713"/>
            <a:ext cx="236522" cy="289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  <a:spcBef>
                <a:spcPct val="0"/>
              </a:spcBef>
            </a:pPr>
            <a:r>
              <a:rPr lang="en-US" sz="210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</a:t>
            </a:r>
          </a:p>
        </p:txBody>
      </p:sp>
      <p:sp>
        <p:nvSpPr>
          <p:cNvPr id="17" name="Freeform 17"/>
          <p:cNvSpPr/>
          <p:nvPr/>
        </p:nvSpPr>
        <p:spPr>
          <a:xfrm>
            <a:off x="6215323" y="3408373"/>
            <a:ext cx="2530234" cy="3261546"/>
          </a:xfrm>
          <a:custGeom>
            <a:avLst/>
            <a:gdLst/>
            <a:ahLst/>
            <a:cxnLst/>
            <a:rect l="l" t="t" r="r" b="b"/>
            <a:pathLst>
              <a:path w="2530234" h="3261546">
                <a:moveTo>
                  <a:pt x="0" y="0"/>
                </a:moveTo>
                <a:lnTo>
                  <a:pt x="2530234" y="0"/>
                </a:lnTo>
                <a:lnTo>
                  <a:pt x="2530234" y="3261547"/>
                </a:lnTo>
                <a:lnTo>
                  <a:pt x="0" y="326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8163995" y="4576695"/>
            <a:ext cx="2530234" cy="3261546"/>
          </a:xfrm>
          <a:custGeom>
            <a:avLst/>
            <a:gdLst/>
            <a:ahLst/>
            <a:cxnLst/>
            <a:rect l="l" t="t" r="r" b="b"/>
            <a:pathLst>
              <a:path w="2530234" h="3261546">
                <a:moveTo>
                  <a:pt x="0" y="0"/>
                </a:moveTo>
                <a:lnTo>
                  <a:pt x="2530234" y="0"/>
                </a:lnTo>
                <a:lnTo>
                  <a:pt x="2530234" y="3261546"/>
                </a:lnTo>
                <a:lnTo>
                  <a:pt x="0" y="3261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48" b="-914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500760" y="1112945"/>
            <a:ext cx="4784424" cy="4784424"/>
          </a:xfrm>
          <a:custGeom>
            <a:avLst/>
            <a:gdLst/>
            <a:ahLst/>
            <a:cxnLst/>
            <a:rect l="l" t="t" r="r" b="b"/>
            <a:pathLst>
              <a:path w="4784424" h="4784424">
                <a:moveTo>
                  <a:pt x="0" y="0"/>
                </a:moveTo>
                <a:lnTo>
                  <a:pt x="4784424" y="0"/>
                </a:lnTo>
                <a:lnTo>
                  <a:pt x="4784424" y="4784424"/>
                </a:lnTo>
                <a:lnTo>
                  <a:pt x="0" y="4784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1674302" y="3006800"/>
            <a:ext cx="6613698" cy="6613698"/>
          </a:xfrm>
          <a:custGeom>
            <a:avLst/>
            <a:gdLst/>
            <a:ahLst/>
            <a:cxnLst/>
            <a:rect l="l" t="t" r="r" b="b"/>
            <a:pathLst>
              <a:path w="6613698" h="6613698">
                <a:moveTo>
                  <a:pt x="0" y="0"/>
                </a:moveTo>
                <a:lnTo>
                  <a:pt x="6613698" y="0"/>
                </a:lnTo>
                <a:lnTo>
                  <a:pt x="6613698" y="6613697"/>
                </a:lnTo>
                <a:lnTo>
                  <a:pt x="0" y="66136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766189" y="1170095"/>
            <a:ext cx="11591758" cy="1035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sz="72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WEB APPLICATION FEATURES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598696"/>
            <a:ext cx="9472060" cy="715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988" lvl="1" indent="-290994" algn="l">
              <a:lnSpc>
                <a:spcPts val="3531"/>
              </a:lnSpc>
              <a:buFont typeface="Arial"/>
              <a:buChar char="•"/>
            </a:pPr>
            <a:r>
              <a:rPr lang="en-US" sz="26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🏠 </a:t>
            </a:r>
            <a:r>
              <a:rPr lang="en-US" sz="269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 Page:</a:t>
            </a:r>
            <a:r>
              <a:rPr lang="en-US" sz="26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Project overview and navigation to key features.</a:t>
            </a:r>
          </a:p>
          <a:p>
            <a:pPr marL="581988" lvl="1" indent="-290994" algn="l">
              <a:lnSpc>
                <a:spcPts val="3531"/>
              </a:lnSpc>
              <a:buFont typeface="Arial"/>
              <a:buChar char="•"/>
            </a:pPr>
            <a:r>
              <a:rPr lang="en-US" sz="26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🔮 </a:t>
            </a:r>
            <a:r>
              <a:rPr lang="en-US" sz="269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Prediction Page:</a:t>
            </a:r>
            <a:r>
              <a:rPr lang="en-US" sz="26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Interactive form for users to input planetary parameters and receive instant predictions.</a:t>
            </a:r>
          </a:p>
          <a:p>
            <a:pPr marL="581988" lvl="1" indent="-290994" algn="l">
              <a:lnSpc>
                <a:spcPts val="3531"/>
              </a:lnSpc>
              <a:buFont typeface="Arial"/>
              <a:buChar char="•"/>
            </a:pPr>
            <a:r>
              <a:rPr lang="en-US" sz="26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🏆 </a:t>
            </a:r>
            <a:r>
              <a:rPr lang="en-US" sz="269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Rankings Page:</a:t>
            </a:r>
            <a:r>
              <a:rPr lang="en-US" sz="26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 searchable table showing confirmed exoplanets ranked by their habitability score.</a:t>
            </a:r>
          </a:p>
          <a:p>
            <a:pPr marL="581988" lvl="1" indent="-290994" algn="l">
              <a:lnSpc>
                <a:spcPts val="3531"/>
              </a:lnSpc>
              <a:buFont typeface="Arial"/>
              <a:buChar char="•"/>
            </a:pPr>
            <a:r>
              <a:rPr lang="en-US" sz="26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📊 </a:t>
            </a:r>
            <a:r>
              <a:rPr lang="en-US" sz="269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Dashboard: </a:t>
            </a:r>
            <a:r>
              <a:rPr lang="en-US" sz="26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Dynamic charts showing:</a:t>
            </a:r>
          </a:p>
          <a:p>
            <a:pPr marL="581988" lvl="1" indent="-290994" algn="l">
              <a:lnSpc>
                <a:spcPts val="3531"/>
              </a:lnSpc>
              <a:buFont typeface="Arial"/>
              <a:buChar char="•"/>
            </a:pPr>
            <a:r>
              <a:rPr lang="en-US" sz="26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Habitability Score Distribution</a:t>
            </a:r>
          </a:p>
          <a:p>
            <a:pPr marL="581988" lvl="1" indent="-290994" algn="l">
              <a:lnSpc>
                <a:spcPts val="3531"/>
              </a:lnSpc>
              <a:buFont typeface="Arial"/>
              <a:buChar char="•"/>
            </a:pPr>
            <a:r>
              <a:rPr lang="en-US" sz="26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Feature Importance (which parameters matter most)</a:t>
            </a:r>
          </a:p>
          <a:p>
            <a:pPr marL="581988" lvl="1" indent="-290994" algn="l">
              <a:lnSpc>
                <a:spcPts val="3531"/>
              </a:lnSpc>
              <a:buFont typeface="Arial"/>
              <a:buChar char="•"/>
            </a:pPr>
            <a:r>
              <a:rPr lang="en-US" sz="26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Star Temperature vs. Habitability Score</a:t>
            </a:r>
          </a:p>
          <a:p>
            <a:pPr marL="581988" lvl="1" indent="-290994" algn="l">
              <a:lnSpc>
                <a:spcPts val="3531"/>
              </a:lnSpc>
              <a:buFont typeface="Arial"/>
              <a:buChar char="•"/>
            </a:pPr>
            <a:r>
              <a:rPr lang="en-US" sz="26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🚀</a:t>
            </a:r>
            <a:r>
              <a:rPr lang="en-US" sz="269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REST API:</a:t>
            </a:r>
            <a:r>
              <a:rPr lang="en-US" sz="26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Endpoints for single and batch predictions (up to 100 planets).</a:t>
            </a:r>
          </a:p>
          <a:p>
            <a:pPr algn="l">
              <a:lnSpc>
                <a:spcPts val="3531"/>
              </a:lnSpc>
            </a:pPr>
            <a:endParaRPr lang="en-US" sz="2695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1390623" y="669689"/>
            <a:ext cx="6347079" cy="8229600"/>
          </a:xfrm>
          <a:custGeom>
            <a:avLst/>
            <a:gdLst/>
            <a:ahLst/>
            <a:cxnLst/>
            <a:rect l="l" t="t" r="r" b="b"/>
            <a:pathLst>
              <a:path w="6347079" h="8229600">
                <a:moveTo>
                  <a:pt x="0" y="0"/>
                </a:moveTo>
                <a:lnTo>
                  <a:pt x="6347079" y="0"/>
                </a:lnTo>
                <a:lnTo>
                  <a:pt x="634707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4552094" y="1070964"/>
            <a:ext cx="8146610" cy="954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2"/>
              </a:lnSpc>
            </a:pPr>
            <a:r>
              <a:rPr lang="en-US" sz="72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PROJECT MILESTONES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2425045" y="2610544"/>
            <a:ext cx="3020923" cy="3020923"/>
            <a:chOff x="0" y="0"/>
            <a:chExt cx="14840029" cy="14840029"/>
          </a:xfrm>
        </p:grpSpPr>
        <p:sp>
          <p:nvSpPr>
            <p:cNvPr id="5" name="Freeform 5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C5B8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3"/>
              <a:stretch>
                <a:fillRect l="-38492" r="-384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6123077" y="2610544"/>
            <a:ext cx="3020923" cy="3020923"/>
            <a:chOff x="0" y="0"/>
            <a:chExt cx="14840029" cy="14840029"/>
          </a:xfrm>
        </p:grpSpPr>
        <p:sp>
          <p:nvSpPr>
            <p:cNvPr id="9" name="Freeform 9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C5B8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38426" r="-3842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9650598" y="2610544"/>
            <a:ext cx="3020923" cy="3020923"/>
            <a:chOff x="0" y="0"/>
            <a:chExt cx="14840029" cy="14840029"/>
          </a:xfrm>
        </p:grpSpPr>
        <p:sp>
          <p:nvSpPr>
            <p:cNvPr id="13" name="Freeform 13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C5B8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/>
              <a:stretch>
                <a:fillRect l="-38492" r="-384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3263622" y="2610544"/>
            <a:ext cx="3020923" cy="3020923"/>
            <a:chOff x="0" y="0"/>
            <a:chExt cx="14840029" cy="14840029"/>
          </a:xfrm>
        </p:grpSpPr>
        <p:sp>
          <p:nvSpPr>
            <p:cNvPr id="17" name="Freeform 17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C5B8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6"/>
              <a:stretch>
                <a:fillRect l="-24665" r="-2466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425045" y="5916598"/>
            <a:ext cx="2710875" cy="299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0"/>
              </a:lnSpc>
              <a:spcBef>
                <a:spcPct val="0"/>
              </a:spcBef>
            </a:pPr>
            <a:r>
              <a:rPr lang="en-US" sz="214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MILESTONE 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68560" y="5916598"/>
            <a:ext cx="2400828" cy="299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0"/>
              </a:lnSpc>
              <a:spcBef>
                <a:spcPct val="0"/>
              </a:spcBef>
            </a:pPr>
            <a:r>
              <a:rPr lang="en-US" sz="214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MILESTONE 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60645" y="5916598"/>
            <a:ext cx="2400828" cy="299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0"/>
              </a:lnSpc>
              <a:spcBef>
                <a:spcPct val="0"/>
              </a:spcBef>
            </a:pPr>
            <a:r>
              <a:rPr lang="en-US" sz="214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MILESTONE 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19220" y="5916598"/>
            <a:ext cx="2509726" cy="299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0"/>
              </a:lnSpc>
              <a:spcBef>
                <a:spcPct val="0"/>
              </a:spcBef>
            </a:pPr>
            <a:r>
              <a:rPr lang="en-US" sz="214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MILESTONE 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78667" y="6838996"/>
            <a:ext cx="3667301" cy="1074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7"/>
              </a:lnSpc>
            </a:pPr>
            <a:r>
              <a:rPr lang="en-US" sz="22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exploration and statistical analysis of planetary trends.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87496" y="6838996"/>
            <a:ext cx="3492086" cy="143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7"/>
              </a:lnSpc>
            </a:pPr>
            <a:r>
              <a:rPr lang="en-US" sz="22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Preprocessing, handling missing values, and feature scaling.</a:t>
            </a:r>
          </a:p>
          <a:p>
            <a:pPr algn="ctr">
              <a:lnSpc>
                <a:spcPts val="2887"/>
              </a:lnSpc>
            </a:pPr>
            <a:endParaRPr lang="en-US" sz="2204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836301" y="6838996"/>
            <a:ext cx="2835219" cy="143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7"/>
              </a:lnSpc>
            </a:pPr>
            <a:r>
              <a:rPr lang="en-US" sz="22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 building, training, and performance evaluation.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263622" y="6838996"/>
            <a:ext cx="3563636" cy="1798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7"/>
              </a:lnSpc>
            </a:pPr>
            <a:r>
              <a:rPr lang="en-US" sz="22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Interactive dashboard creation and Flask web ,Deployment to cloud platforms.</a:t>
            </a:r>
          </a:p>
          <a:p>
            <a:pPr algn="ctr">
              <a:lnSpc>
                <a:spcPts val="2887"/>
              </a:lnSpc>
            </a:pPr>
            <a:endParaRPr lang="en-US" sz="2204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265160" y="732405"/>
            <a:ext cx="5896296" cy="1035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sz="72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81217" y="1969210"/>
            <a:ext cx="10478083" cy="7878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5904" lvl="1" indent="-287952" algn="l">
              <a:lnSpc>
                <a:spcPts val="3494"/>
              </a:lnSpc>
              <a:buFont typeface="Arial"/>
              <a:buChar char="•"/>
            </a:pPr>
            <a:r>
              <a:rPr lang="en-US" sz="26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Scientific Insight: ExoHabit-AI bridges the gap between raw astronomical data and actionable insights by analyzing over 5,600 confirmed planets to identify those with the highest potential to support life.</a:t>
            </a:r>
          </a:p>
          <a:p>
            <a:pPr marL="575904" lvl="1" indent="-287952" algn="l">
              <a:lnSpc>
                <a:spcPts val="3494"/>
              </a:lnSpc>
              <a:buFont typeface="Arial"/>
              <a:buChar char="•"/>
            </a:pPr>
            <a:r>
              <a:rPr lang="en-US" sz="26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Technical Excellence: The project demonstrates a robust end-to-end implementation of the Random Forest algorithm, achieving high-accuracy habitability predictions through advanced feature engineering and data processing.</a:t>
            </a:r>
          </a:p>
          <a:p>
            <a:pPr marL="575904" lvl="1" indent="-287952" algn="l">
              <a:lnSpc>
                <a:spcPts val="3494"/>
              </a:lnSpc>
              <a:buFont typeface="Arial"/>
              <a:buChar char="•"/>
            </a:pPr>
            <a:r>
              <a:rPr lang="en-US" sz="26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Interactive Innovation: By integrating a Flask backend with a 3D Three.js frontend, the application provides an immersive and educational experience that makes complex planetary science accessible to everyone.</a:t>
            </a:r>
          </a:p>
          <a:p>
            <a:pPr marL="575904" lvl="1" indent="-287952" algn="l">
              <a:lnSpc>
                <a:spcPts val="3494"/>
              </a:lnSpc>
              <a:buFont typeface="Arial"/>
              <a:buChar char="•"/>
            </a:pPr>
            <a:r>
              <a:rPr lang="en-US" sz="26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Future Readiness: With a roadmap focused on real-time data integration and advanced atmospheric analysis, ExoHabit-AI is positioned to grow alongside the next generation of space exploration missions.</a:t>
            </a:r>
          </a:p>
          <a:p>
            <a:pPr algn="l">
              <a:lnSpc>
                <a:spcPts val="3494"/>
              </a:lnSpc>
            </a:pPr>
            <a:endParaRPr lang="en-US" sz="266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92149" y="1997785"/>
            <a:ext cx="6291429" cy="6291429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9FCD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3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-1552859" y="3031865"/>
            <a:ext cx="4223270" cy="4223270"/>
            <a:chOff x="0" y="0"/>
            <a:chExt cx="14840029" cy="14840029"/>
          </a:xfrm>
        </p:grpSpPr>
        <p:sp>
          <p:nvSpPr>
            <p:cNvPr id="10" name="Freeform 10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9FCD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24712" r="-2471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3792557" y="4152070"/>
            <a:ext cx="11973504" cy="2240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0"/>
              </a:lnSpc>
            </a:pPr>
            <a:r>
              <a:rPr lang="en-US" sz="16684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672</Words>
  <Application>Microsoft Office PowerPoint</Application>
  <PresentationFormat>Custom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Montserrat Bold</vt:lpstr>
      <vt:lpstr>Calibri</vt:lpstr>
      <vt:lpstr>Gagalin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Green Modern Outer Space Presentation</dc:title>
  <cp:lastModifiedBy>Supraja Mutyala</cp:lastModifiedBy>
  <cp:revision>1</cp:revision>
  <dcterms:created xsi:type="dcterms:W3CDTF">2006-08-16T00:00:00Z</dcterms:created>
  <dcterms:modified xsi:type="dcterms:W3CDTF">2026-02-20T17:43:46Z</dcterms:modified>
  <dc:identifier>DAHB4KDVqic</dc:identifier>
</cp:coreProperties>
</file>