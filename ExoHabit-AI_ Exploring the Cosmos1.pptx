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embeddedFontLst>
    <p:embeddedFont>
      <p:font typeface="微软雅黑" panose="020B0503020204020204" pitchFamily="34" charset="-122"/>
      <p:regular r:id="rId28"/>
      <p:bold r:id="rId29"/>
    </p:embeddedFont>
    <p:embeddedFont>
      <p:font typeface="MiSans" panose="020B0604020202020204" charset="-122"/>
      <p:regular r:id="rId30"/>
    </p:embeddedFont>
    <p:embeddedFont>
      <p:font typeface="Liter" panose="020B0604020202020204" charset="0"/>
      <p:regular r:id="rId31"/>
    </p:embeddedFont>
    <p:embeddedFont>
      <p:font typeface="Oranienbaum" panose="020F0502020204030204" pitchFamily="2" charset="0"/>
      <p:regular r:id="rId32"/>
    </p:embeddedFont>
    <p:embeddedFont>
      <p:font typeface="Quattrocento Sans" panose="020F0502020204030204" pitchFamily="3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69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pringboardmentor1234r/ExoHabit-AI/tree/Nived.K.S" TargetMode="External"/><Relationship Id="rId4" Type="http://schemas.openxmlformats.org/officeDocument/2006/relationships/hyperlink" Target="exohabit-ai-3ni1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4kwallpapers.com/ebaf9d56ba21cefd8e54886cc72e07efdae567cb.jp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B0F19">
                  <a:alpha val="90000"/>
                </a:srgbClr>
              </a:gs>
              <a:gs pos="50000">
                <a:srgbClr val="0B0F19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505902"/>
            <a:ext cx="4217670" cy="426720"/>
          </a:xfrm>
          <a:custGeom>
            <a:avLst/>
            <a:gdLst/>
            <a:ahLst/>
            <a:cxnLst/>
            <a:rect l="l" t="t" r="r" b="b"/>
            <a:pathLst>
              <a:path w="4217670" h="426720">
                <a:moveTo>
                  <a:pt x="213360" y="0"/>
                </a:moveTo>
                <a:lnTo>
                  <a:pt x="4004310" y="0"/>
                </a:lnTo>
                <a:cubicBezTo>
                  <a:pt x="4122145" y="0"/>
                  <a:pt x="4217670" y="95525"/>
                  <a:pt x="4217670" y="213360"/>
                </a:cubicBezTo>
                <a:lnTo>
                  <a:pt x="4217670" y="213360"/>
                </a:lnTo>
                <a:cubicBezTo>
                  <a:pt x="4217670" y="331195"/>
                  <a:pt x="4122145" y="426720"/>
                  <a:pt x="40043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2932" y="16335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907733" y="1604963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FOR SPACE EXPLORATION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546033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kern="0" spc="-18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ExoHabit-AI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689033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50000">
                <a:srgbClr val="8B5C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1000" y="4050983"/>
            <a:ext cx="8705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E2E8F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Exploring the Cosmos, One Exoplanet at a Time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719" y="512730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5089207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36990" y="512730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1965603" y="5089207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Discovery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60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6096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ExoHabit-AI?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99210"/>
            <a:ext cx="5608320" cy="1693545"/>
          </a:xfrm>
          <a:custGeom>
            <a:avLst/>
            <a:gdLst/>
            <a:ahLst/>
            <a:cxnLst/>
            <a:rect l="l" t="t" r="r" b="b"/>
            <a:pathLst>
              <a:path w="5608320" h="1693545">
                <a:moveTo>
                  <a:pt x="152402" y="0"/>
                </a:moveTo>
                <a:lnTo>
                  <a:pt x="5455918" y="0"/>
                </a:lnTo>
                <a:cubicBezTo>
                  <a:pt x="5540087" y="0"/>
                  <a:pt x="5608320" y="68233"/>
                  <a:pt x="5608320" y="152402"/>
                </a:cubicBezTo>
                <a:lnTo>
                  <a:pt x="5608320" y="1541143"/>
                </a:lnTo>
                <a:cubicBezTo>
                  <a:pt x="5608320" y="1625312"/>
                  <a:pt x="5540087" y="1693545"/>
                  <a:pt x="5455918" y="1693545"/>
                </a:cubicBezTo>
                <a:lnTo>
                  <a:pt x="152402" y="1693545"/>
                </a:lnTo>
                <a:cubicBezTo>
                  <a:pt x="68233" y="1693545"/>
                  <a:pt x="0" y="1625312"/>
                  <a:pt x="0" y="154114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4935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2470" y="16268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49352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Prediction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874401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intelligent web application that predicts exoplanet habitability using advanced machine learning algorithms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2487811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8170" y="26287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07720" y="2605921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10 key planetary and stellar parameters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5060" y="1299210"/>
            <a:ext cx="5608320" cy="1693545"/>
          </a:xfrm>
          <a:custGeom>
            <a:avLst/>
            <a:gdLst/>
            <a:ahLst/>
            <a:cxnLst/>
            <a:rect l="l" t="t" r="r" b="b"/>
            <a:pathLst>
              <a:path w="5608320" h="1693545">
                <a:moveTo>
                  <a:pt x="152402" y="0"/>
                </a:moveTo>
                <a:lnTo>
                  <a:pt x="5455918" y="0"/>
                </a:lnTo>
                <a:cubicBezTo>
                  <a:pt x="5540087" y="0"/>
                  <a:pt x="5608320" y="68233"/>
                  <a:pt x="5608320" y="152402"/>
                </a:cubicBezTo>
                <a:lnTo>
                  <a:pt x="5608320" y="1541143"/>
                </a:lnTo>
                <a:cubicBezTo>
                  <a:pt x="5608320" y="1625312"/>
                  <a:pt x="5540087" y="1693545"/>
                  <a:pt x="5455918" y="1693545"/>
                </a:cubicBezTo>
                <a:lnTo>
                  <a:pt x="152402" y="1693545"/>
                </a:lnTo>
                <a:cubicBezTo>
                  <a:pt x="68233" y="1693545"/>
                  <a:pt x="0" y="1625312"/>
                  <a:pt x="0" y="154114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9370" y="14935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34626" y="16268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998970" y="149352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Predictions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8970" y="1874401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instant habitability predictions through an interactive, user-friendly web interface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89370" y="2487811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08420" y="262878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617970" y="2605921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RESTful API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810" y="3188852"/>
            <a:ext cx="5608320" cy="1693545"/>
          </a:xfrm>
          <a:custGeom>
            <a:avLst/>
            <a:gdLst/>
            <a:ahLst/>
            <a:cxnLst/>
            <a:rect l="l" t="t" r="r" b="b"/>
            <a:pathLst>
              <a:path w="5608320" h="1693545">
                <a:moveTo>
                  <a:pt x="152402" y="0"/>
                </a:moveTo>
                <a:lnTo>
                  <a:pt x="5455918" y="0"/>
                </a:lnTo>
                <a:cubicBezTo>
                  <a:pt x="5540087" y="0"/>
                  <a:pt x="5608320" y="68233"/>
                  <a:pt x="5608320" y="152402"/>
                </a:cubicBezTo>
                <a:lnTo>
                  <a:pt x="5608320" y="1541143"/>
                </a:lnTo>
                <a:cubicBezTo>
                  <a:pt x="5608320" y="1625312"/>
                  <a:pt x="5540087" y="1693545"/>
                  <a:pt x="5455918" y="1693545"/>
                </a:cubicBezTo>
                <a:lnTo>
                  <a:pt x="152402" y="1693545"/>
                </a:lnTo>
                <a:cubicBezTo>
                  <a:pt x="68233" y="1693545"/>
                  <a:pt x="0" y="1625312"/>
                  <a:pt x="0" y="154114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120" y="3383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0564" y="351651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383161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Platform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76404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famous exoplanets and discovery methods for learning and exploration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9120" y="4377452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8170" y="45184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807720" y="449556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astronomical content and visualizations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5060" y="3188852"/>
            <a:ext cx="5608320" cy="1693545"/>
          </a:xfrm>
          <a:custGeom>
            <a:avLst/>
            <a:gdLst/>
            <a:ahLst/>
            <a:cxnLst/>
            <a:rect l="l" t="t" r="r" b="b"/>
            <a:pathLst>
              <a:path w="5608320" h="1693545">
                <a:moveTo>
                  <a:pt x="152402" y="0"/>
                </a:moveTo>
                <a:lnTo>
                  <a:pt x="5455918" y="0"/>
                </a:lnTo>
                <a:cubicBezTo>
                  <a:pt x="5540087" y="0"/>
                  <a:pt x="5608320" y="68233"/>
                  <a:pt x="5608320" y="152402"/>
                </a:cubicBezTo>
                <a:lnTo>
                  <a:pt x="5608320" y="1541143"/>
                </a:lnTo>
                <a:cubicBezTo>
                  <a:pt x="5608320" y="1625312"/>
                  <a:pt x="5540087" y="1693545"/>
                  <a:pt x="5455918" y="1693545"/>
                </a:cubicBezTo>
                <a:lnTo>
                  <a:pt x="152402" y="1693545"/>
                </a:lnTo>
                <a:cubicBezTo>
                  <a:pt x="68233" y="1693545"/>
                  <a:pt x="0" y="1625312"/>
                  <a:pt x="0" y="154114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9370" y="33831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22720" y="35165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998970" y="3383161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Immersive 3D Experience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8970" y="376404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Flask backend and immersive Three.js frontend for stunning visualizations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9370" y="4377452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08420" y="451842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617970" y="4495562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starfield and planetary models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4810" y="5078492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655324"/>
                </a:lnTo>
                <a:cubicBezTo>
                  <a:pt x="11418570" y="718448"/>
                  <a:pt x="11367398" y="769620"/>
                  <a:pt x="1130427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9120" y="532042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1050608" y="5234703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Application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50608" y="5425203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exohabit-ai-3ni1.onrender.com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797660" y="5291853"/>
            <a:ext cx="857250" cy="342900"/>
          </a:xfrm>
          <a:custGeom>
            <a:avLst/>
            <a:gdLst/>
            <a:ahLst/>
            <a:cxnLst/>
            <a:rect l="l" t="t" r="r" b="b"/>
            <a:pathLst>
              <a:path w="857250" h="342900">
                <a:moveTo>
                  <a:pt x="76199" y="0"/>
                </a:moveTo>
                <a:lnTo>
                  <a:pt x="781051" y="0"/>
                </a:lnTo>
                <a:cubicBezTo>
                  <a:pt x="823134" y="0"/>
                  <a:pt x="857250" y="34116"/>
                  <a:pt x="857250" y="76199"/>
                </a:cubicBezTo>
                <a:lnTo>
                  <a:pt x="857250" y="266701"/>
                </a:lnTo>
                <a:cubicBezTo>
                  <a:pt x="857250" y="308784"/>
                  <a:pt x="823134" y="342900"/>
                  <a:pt x="7810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950060" y="5415678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1121510" y="5368053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2059"/>
                </a:moveTo>
                <a:lnTo>
                  <a:pt x="76200" y="134124"/>
                </a:lnTo>
                <a:lnTo>
                  <a:pt x="76349" y="134064"/>
                </a:lnTo>
                <a:cubicBezTo>
                  <a:pt x="92601" y="127308"/>
                  <a:pt x="110044" y="123825"/>
                  <a:pt x="127635" y="123825"/>
                </a:cubicBezTo>
                <a:lnTo>
                  <a:pt x="133350" y="123825"/>
                </a:lnTo>
                <a:lnTo>
                  <a:pt x="133350" y="28575"/>
                </a:lnTo>
                <a:lnTo>
                  <a:pt x="127635" y="28575"/>
                </a:lnTo>
                <a:cubicBezTo>
                  <a:pt x="115074" y="28575"/>
                  <a:pt x="102602" y="31075"/>
                  <a:pt x="90994" y="35897"/>
                </a:cubicBezTo>
                <a:cubicBezTo>
                  <a:pt x="85993" y="37981"/>
                  <a:pt x="81052" y="40035"/>
                  <a:pt x="76200" y="42059"/>
                </a:cubicBezTo>
                <a:close/>
                <a:moveTo>
                  <a:pt x="68729" y="18306"/>
                </a:moveTo>
                <a:lnTo>
                  <a:pt x="76200" y="21431"/>
                </a:lnTo>
                <a:lnTo>
                  <a:pt x="83671" y="18306"/>
                </a:lnTo>
                <a:cubicBezTo>
                  <a:pt x="97601" y="12502"/>
                  <a:pt x="112544" y="9525"/>
                  <a:pt x="127635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128588"/>
                </a:lnTo>
                <a:cubicBezTo>
                  <a:pt x="152400" y="136475"/>
                  <a:pt x="146000" y="142875"/>
                  <a:pt x="138113" y="142875"/>
                </a:cubicBezTo>
                <a:lnTo>
                  <a:pt x="127635" y="142875"/>
                </a:lnTo>
                <a:cubicBezTo>
                  <a:pt x="112544" y="142875"/>
                  <a:pt x="97601" y="145852"/>
                  <a:pt x="83671" y="151656"/>
                </a:cubicBezTo>
                <a:lnTo>
                  <a:pt x="79861" y="153233"/>
                </a:lnTo>
                <a:cubicBezTo>
                  <a:pt x="77510" y="154216"/>
                  <a:pt x="74890" y="154216"/>
                  <a:pt x="72539" y="153233"/>
                </a:cubicBezTo>
                <a:lnTo>
                  <a:pt x="68729" y="151656"/>
                </a:lnTo>
                <a:cubicBezTo>
                  <a:pt x="54799" y="145852"/>
                  <a:pt x="39856" y="142875"/>
                  <a:pt x="24765" y="142875"/>
                </a:cubicBezTo>
                <a:lnTo>
                  <a:pt x="14288" y="142875"/>
                </a:lnTo>
                <a:cubicBezTo>
                  <a:pt x="6400" y="142875"/>
                  <a:pt x="0" y="136475"/>
                  <a:pt x="0" y="128588"/>
                </a:cubicBezTo>
                <a:lnTo>
                  <a:pt x="0" y="23813"/>
                </a:lnTo>
                <a:cubicBezTo>
                  <a:pt x="0" y="15925"/>
                  <a:pt x="6400" y="9525"/>
                  <a:pt x="14288" y="9525"/>
                </a:cubicBezTo>
                <a:lnTo>
                  <a:pt x="24765" y="9525"/>
                </a:lnTo>
                <a:cubicBezTo>
                  <a:pt x="39856" y="9525"/>
                  <a:pt x="54799" y="12502"/>
                  <a:pt x="68729" y="1830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Exoplanets?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27810"/>
            <a:ext cx="6789420" cy="1684020"/>
          </a:xfrm>
          <a:custGeom>
            <a:avLst/>
            <a:gdLst/>
            <a:ahLst/>
            <a:cxnLst/>
            <a:rect l="l" t="t" r="r" b="b"/>
            <a:pathLst>
              <a:path w="6789420" h="1684020">
                <a:moveTo>
                  <a:pt x="114294" y="0"/>
                </a:moveTo>
                <a:lnTo>
                  <a:pt x="6675126" y="0"/>
                </a:lnTo>
                <a:cubicBezTo>
                  <a:pt x="6738249" y="0"/>
                  <a:pt x="6789420" y="51171"/>
                  <a:pt x="6789420" y="114294"/>
                </a:cubicBezTo>
                <a:lnTo>
                  <a:pt x="6789420" y="1569726"/>
                </a:lnTo>
                <a:cubicBezTo>
                  <a:pt x="6789420" y="1632849"/>
                  <a:pt x="6738249" y="1684020"/>
                  <a:pt x="667512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932" y="1760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17245" y="1722120"/>
            <a:ext cx="62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103120"/>
            <a:ext cx="647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Planets that orbit stars beyond our Solar System. These worlds range from gas giants larger than Jupiter to rocky planets similar to Earth.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2712720"/>
            <a:ext cx="1285875" cy="304800"/>
          </a:xfrm>
          <a:custGeom>
            <a:avLst/>
            <a:gdLst/>
            <a:ahLst/>
            <a:cxnLst/>
            <a:rect l="l" t="t" r="r" b="b"/>
            <a:pathLst>
              <a:path w="1285875" h="304800">
                <a:moveTo>
                  <a:pt x="76200" y="0"/>
                </a:moveTo>
                <a:lnTo>
                  <a:pt x="1209675" y="0"/>
                </a:lnTo>
                <a:cubicBezTo>
                  <a:pt x="1251731" y="0"/>
                  <a:pt x="1285875" y="34144"/>
                  <a:pt x="1285875" y="76200"/>
                </a:cubicBezTo>
                <a:lnTo>
                  <a:pt x="1285875" y="228600"/>
                </a:lnTo>
                <a:cubicBezTo>
                  <a:pt x="1285875" y="270656"/>
                  <a:pt x="1251731" y="304800"/>
                  <a:pt x="12096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9120" y="2712720"/>
            <a:ext cx="13525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5,600+ Confirmed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82391" y="2712720"/>
            <a:ext cx="990600" cy="304800"/>
          </a:xfrm>
          <a:custGeom>
            <a:avLst/>
            <a:gdLst/>
            <a:ahLst/>
            <a:cxnLst/>
            <a:rect l="l" t="t" r="r" b="b"/>
            <a:pathLst>
              <a:path w="990600" h="304800">
                <a:moveTo>
                  <a:pt x="76200" y="0"/>
                </a:moveTo>
                <a:lnTo>
                  <a:pt x="914400" y="0"/>
                </a:lnTo>
                <a:cubicBezTo>
                  <a:pt x="956456" y="0"/>
                  <a:pt x="990600" y="34144"/>
                  <a:pt x="990600" y="76200"/>
                </a:cubicBezTo>
                <a:lnTo>
                  <a:pt x="990600" y="228600"/>
                </a:lnTo>
                <a:cubicBezTo>
                  <a:pt x="990600" y="270656"/>
                  <a:pt x="956456" y="304800"/>
                  <a:pt x="9144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82391" y="2712720"/>
            <a:ext cx="10572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Counting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371850"/>
            <a:ext cx="6789420" cy="1341120"/>
          </a:xfrm>
          <a:custGeom>
            <a:avLst/>
            <a:gdLst/>
            <a:ahLst/>
            <a:cxnLst/>
            <a:rect l="l" t="t" r="r" b="b"/>
            <a:pathLst>
              <a:path w="6789420" h="1341120">
                <a:moveTo>
                  <a:pt x="114304" y="0"/>
                </a:moveTo>
                <a:lnTo>
                  <a:pt x="6675116" y="0"/>
                </a:lnTo>
                <a:cubicBezTo>
                  <a:pt x="6738245" y="0"/>
                  <a:pt x="6789420" y="51175"/>
                  <a:pt x="6789420" y="114304"/>
                </a:cubicBezTo>
                <a:lnTo>
                  <a:pt x="6789420" y="1226816"/>
                </a:lnTo>
                <a:cubicBezTo>
                  <a:pt x="6789420" y="1289945"/>
                  <a:pt x="6738245" y="1341120"/>
                  <a:pt x="6675116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2932" y="36042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17245" y="3566160"/>
            <a:ext cx="62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Methods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40233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4716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 Method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36670" y="40233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989070" y="394716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Radial Velocity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120" y="43662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006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Imaging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36670" y="43662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989070" y="42900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Microlensing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34250" y="1527810"/>
            <a:ext cx="4474845" cy="3188970"/>
          </a:xfrm>
          <a:custGeom>
            <a:avLst/>
            <a:gdLst/>
            <a:ahLst/>
            <a:cxnLst/>
            <a:rect l="l" t="t" r="r" b="b"/>
            <a:pathLst>
              <a:path w="4474845" h="3188970">
                <a:moveTo>
                  <a:pt x="114293" y="0"/>
                </a:moveTo>
                <a:lnTo>
                  <a:pt x="4360552" y="0"/>
                </a:lnTo>
                <a:cubicBezTo>
                  <a:pt x="4423674" y="0"/>
                  <a:pt x="4474845" y="51171"/>
                  <a:pt x="4474845" y="114293"/>
                </a:cubicBezTo>
                <a:lnTo>
                  <a:pt x="4474845" y="3074677"/>
                </a:lnTo>
                <a:cubicBezTo>
                  <a:pt x="4474845" y="3137799"/>
                  <a:pt x="4423674" y="3188970"/>
                  <a:pt x="4360552" y="3188970"/>
                </a:cubicBezTo>
                <a:lnTo>
                  <a:pt x="114293" y="3188970"/>
                </a:lnTo>
                <a:cubicBezTo>
                  <a:pt x="51171" y="3188970"/>
                  <a:pt x="0" y="3137799"/>
                  <a:pt x="0" y="30746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13545" y="1986915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59127" y="-9019"/>
                </a:moveTo>
                <a:cubicBezTo>
                  <a:pt x="165735" y="-11787"/>
                  <a:pt x="173236" y="-10984"/>
                  <a:pt x="179219" y="-7054"/>
                </a:cubicBezTo>
                <a:lnTo>
                  <a:pt x="257621" y="44916"/>
                </a:lnTo>
                <a:lnTo>
                  <a:pt x="336024" y="-7054"/>
                </a:lnTo>
                <a:cubicBezTo>
                  <a:pt x="342007" y="-10984"/>
                  <a:pt x="349508" y="-11698"/>
                  <a:pt x="356116" y="-9019"/>
                </a:cubicBezTo>
                <a:cubicBezTo>
                  <a:pt x="362724" y="-6340"/>
                  <a:pt x="367367" y="-446"/>
                  <a:pt x="368796" y="6519"/>
                </a:cubicBezTo>
                <a:lnTo>
                  <a:pt x="387459" y="98673"/>
                </a:lnTo>
                <a:lnTo>
                  <a:pt x="479614" y="117336"/>
                </a:lnTo>
                <a:cubicBezTo>
                  <a:pt x="486579" y="118765"/>
                  <a:pt x="492472" y="123587"/>
                  <a:pt x="495151" y="130106"/>
                </a:cubicBezTo>
                <a:cubicBezTo>
                  <a:pt x="497830" y="136624"/>
                  <a:pt x="497116" y="144214"/>
                  <a:pt x="493187" y="150197"/>
                </a:cubicBezTo>
                <a:lnTo>
                  <a:pt x="441216" y="228600"/>
                </a:lnTo>
                <a:lnTo>
                  <a:pt x="493187" y="307003"/>
                </a:lnTo>
                <a:cubicBezTo>
                  <a:pt x="497116" y="312986"/>
                  <a:pt x="497830" y="320486"/>
                  <a:pt x="495151" y="327094"/>
                </a:cubicBezTo>
                <a:cubicBezTo>
                  <a:pt x="492472" y="333702"/>
                  <a:pt x="486579" y="338524"/>
                  <a:pt x="479614" y="339864"/>
                </a:cubicBezTo>
                <a:lnTo>
                  <a:pt x="387370" y="358438"/>
                </a:lnTo>
                <a:lnTo>
                  <a:pt x="368796" y="450681"/>
                </a:lnTo>
                <a:cubicBezTo>
                  <a:pt x="367367" y="457646"/>
                  <a:pt x="362545" y="463540"/>
                  <a:pt x="356027" y="466219"/>
                </a:cubicBezTo>
                <a:cubicBezTo>
                  <a:pt x="349508" y="468898"/>
                  <a:pt x="341918" y="468184"/>
                  <a:pt x="335935" y="464254"/>
                </a:cubicBezTo>
                <a:lnTo>
                  <a:pt x="257532" y="412284"/>
                </a:lnTo>
                <a:lnTo>
                  <a:pt x="179130" y="464254"/>
                </a:lnTo>
                <a:cubicBezTo>
                  <a:pt x="173147" y="468184"/>
                  <a:pt x="165646" y="468898"/>
                  <a:pt x="159038" y="466219"/>
                </a:cubicBezTo>
                <a:cubicBezTo>
                  <a:pt x="152430" y="463540"/>
                  <a:pt x="147608" y="457646"/>
                  <a:pt x="146268" y="450681"/>
                </a:cubicBezTo>
                <a:lnTo>
                  <a:pt x="127695" y="358438"/>
                </a:lnTo>
                <a:lnTo>
                  <a:pt x="35451" y="339775"/>
                </a:lnTo>
                <a:cubicBezTo>
                  <a:pt x="28486" y="338346"/>
                  <a:pt x="22592" y="333524"/>
                  <a:pt x="19913" y="327005"/>
                </a:cubicBezTo>
                <a:cubicBezTo>
                  <a:pt x="17234" y="320486"/>
                  <a:pt x="17949" y="312896"/>
                  <a:pt x="21878" y="306913"/>
                </a:cubicBezTo>
                <a:lnTo>
                  <a:pt x="73849" y="228600"/>
                </a:lnTo>
                <a:lnTo>
                  <a:pt x="21878" y="150197"/>
                </a:lnTo>
                <a:cubicBezTo>
                  <a:pt x="17949" y="144214"/>
                  <a:pt x="17234" y="136714"/>
                  <a:pt x="19913" y="130106"/>
                </a:cubicBezTo>
                <a:cubicBezTo>
                  <a:pt x="22592" y="123498"/>
                  <a:pt x="28486" y="118676"/>
                  <a:pt x="35451" y="117336"/>
                </a:cubicBezTo>
                <a:lnTo>
                  <a:pt x="127695" y="98762"/>
                </a:lnTo>
                <a:lnTo>
                  <a:pt x="146358" y="6519"/>
                </a:lnTo>
                <a:cubicBezTo>
                  <a:pt x="147786" y="-446"/>
                  <a:pt x="152608" y="-6340"/>
                  <a:pt x="159127" y="-9019"/>
                </a:cubicBezTo>
                <a:close/>
                <a:moveTo>
                  <a:pt x="185380" y="228600"/>
                </a:moveTo>
                <a:cubicBezTo>
                  <a:pt x="185380" y="202950"/>
                  <a:pt x="199064" y="179249"/>
                  <a:pt x="221278" y="166424"/>
                </a:cubicBezTo>
                <a:cubicBezTo>
                  <a:pt x="243491" y="153599"/>
                  <a:pt x="270859" y="153599"/>
                  <a:pt x="293072" y="166424"/>
                </a:cubicBezTo>
                <a:cubicBezTo>
                  <a:pt x="315286" y="179249"/>
                  <a:pt x="328970" y="202950"/>
                  <a:pt x="328970" y="228600"/>
                </a:cubicBezTo>
                <a:cubicBezTo>
                  <a:pt x="328970" y="268225"/>
                  <a:pt x="296800" y="300395"/>
                  <a:pt x="257175" y="300395"/>
                </a:cubicBezTo>
                <a:cubicBezTo>
                  <a:pt x="217550" y="300395"/>
                  <a:pt x="185380" y="268225"/>
                  <a:pt x="185380" y="228600"/>
                </a:cubicBezTo>
                <a:close/>
                <a:moveTo>
                  <a:pt x="371832" y="228600"/>
                </a:moveTo>
                <a:cubicBezTo>
                  <a:pt x="371832" y="165319"/>
                  <a:pt x="320456" y="113943"/>
                  <a:pt x="257175" y="113943"/>
                </a:cubicBezTo>
                <a:cubicBezTo>
                  <a:pt x="193894" y="113943"/>
                  <a:pt x="142518" y="165319"/>
                  <a:pt x="142518" y="228600"/>
                </a:cubicBezTo>
                <a:cubicBezTo>
                  <a:pt x="142518" y="269563"/>
                  <a:pt x="164371" y="307415"/>
                  <a:pt x="199846" y="327896"/>
                </a:cubicBezTo>
                <a:cubicBezTo>
                  <a:pt x="235321" y="348378"/>
                  <a:pt x="279029" y="348378"/>
                  <a:pt x="314504" y="327896"/>
                </a:cubicBezTo>
                <a:cubicBezTo>
                  <a:pt x="349979" y="307415"/>
                  <a:pt x="371832" y="269563"/>
                  <a:pt x="371832" y="2286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7471410" y="2558415"/>
            <a:ext cx="420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Habitable Zone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0460" y="3015496"/>
            <a:ext cx="4162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Also known as the </a:t>
            </a: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"Goldilocks Zone"</a:t>
            </a: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—the region around a star where conditions are just right for liquid water to exist on a planet's surface.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42829" y="3910846"/>
            <a:ext cx="2457450" cy="342900"/>
          </a:xfrm>
          <a:custGeom>
            <a:avLst/>
            <a:gdLst/>
            <a:ahLst/>
            <a:cxnLst/>
            <a:rect l="l" t="t" r="r" b="b"/>
            <a:pathLst>
              <a:path w="2457450" h="342900">
                <a:moveTo>
                  <a:pt x="76199" y="0"/>
                </a:moveTo>
                <a:lnTo>
                  <a:pt x="2381251" y="0"/>
                </a:lnTo>
                <a:cubicBezTo>
                  <a:pt x="2423334" y="0"/>
                  <a:pt x="2457450" y="34116"/>
                  <a:pt x="2457450" y="76199"/>
                </a:cubicBezTo>
                <a:lnTo>
                  <a:pt x="2457450" y="266701"/>
                </a:lnTo>
                <a:cubicBezTo>
                  <a:pt x="2457450" y="308784"/>
                  <a:pt x="2423334" y="342900"/>
                  <a:pt x="23812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42854" y="4006096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7625" y="0"/>
                </a:moveTo>
                <a:cubicBezTo>
                  <a:pt x="31849" y="0"/>
                  <a:pt x="19050" y="12799"/>
                  <a:pt x="19050" y="28575"/>
                </a:cubicBezTo>
                <a:lnTo>
                  <a:pt x="19050" y="77599"/>
                </a:lnTo>
                <a:cubicBezTo>
                  <a:pt x="10269" y="85427"/>
                  <a:pt x="4763" y="96857"/>
                  <a:pt x="4763" y="109537"/>
                </a:cubicBezTo>
                <a:cubicBezTo>
                  <a:pt x="4763" y="133201"/>
                  <a:pt x="23961" y="152400"/>
                  <a:pt x="47625" y="152400"/>
                </a:cubicBezTo>
                <a:cubicBezTo>
                  <a:pt x="71289" y="152400"/>
                  <a:pt x="90488" y="133201"/>
                  <a:pt x="90488" y="109537"/>
                </a:cubicBezTo>
                <a:cubicBezTo>
                  <a:pt x="90488" y="96857"/>
                  <a:pt x="84981" y="85427"/>
                  <a:pt x="76200" y="77599"/>
                </a:cubicBezTo>
                <a:lnTo>
                  <a:pt x="76200" y="28575"/>
                </a:lnTo>
                <a:cubicBezTo>
                  <a:pt x="76200" y="12799"/>
                  <a:pt x="63401" y="0"/>
                  <a:pt x="47625" y="0"/>
                </a:cubicBezTo>
                <a:close/>
                <a:moveTo>
                  <a:pt x="66675" y="109537"/>
                </a:moveTo>
                <a:cubicBezTo>
                  <a:pt x="66675" y="120045"/>
                  <a:pt x="58132" y="128588"/>
                  <a:pt x="47625" y="128588"/>
                </a:cubicBezTo>
                <a:cubicBezTo>
                  <a:pt x="37118" y="128588"/>
                  <a:pt x="28575" y="120045"/>
                  <a:pt x="28575" y="109537"/>
                </a:cubicBezTo>
                <a:cubicBezTo>
                  <a:pt x="28575" y="101531"/>
                  <a:pt x="33486" y="94684"/>
                  <a:pt x="40481" y="91886"/>
                </a:cubicBezTo>
                <a:lnTo>
                  <a:pt x="40481" y="64294"/>
                </a:lnTo>
                <a:cubicBezTo>
                  <a:pt x="40481" y="60335"/>
                  <a:pt x="43666" y="57150"/>
                  <a:pt x="47625" y="57150"/>
                </a:cubicBezTo>
                <a:cubicBezTo>
                  <a:pt x="51584" y="57150"/>
                  <a:pt x="54769" y="60335"/>
                  <a:pt x="54769" y="64294"/>
                </a:cubicBezTo>
                <a:lnTo>
                  <a:pt x="54769" y="91886"/>
                </a:lnTo>
                <a:cubicBezTo>
                  <a:pt x="61764" y="94714"/>
                  <a:pt x="66675" y="101560"/>
                  <a:pt x="66675" y="10953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761929" y="3987046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180K - 320K Temperature Range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4810" y="4949190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807717"/>
                </a:lnTo>
                <a:cubicBezTo>
                  <a:pt x="11418570" y="870845"/>
                  <a:pt x="11367395" y="922020"/>
                  <a:pt x="113042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9120" y="51435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529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1264920" y="5181600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Kepler Mission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64920" y="537210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Revolutionized Discovery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12356" y="5181600"/>
            <a:ext cx="7620" cy="457200"/>
          </a:xfrm>
          <a:custGeom>
            <a:avLst/>
            <a:gdLst/>
            <a:ahLst/>
            <a:cxnLst/>
            <a:rect l="l" t="t" r="r" b="b"/>
            <a:pathLst>
              <a:path w="7620" h="457200">
                <a:moveTo>
                  <a:pt x="0" y="0"/>
                </a:moveTo>
                <a:lnTo>
                  <a:pt x="7620" y="0"/>
                </a:lnTo>
                <a:lnTo>
                  <a:pt x="762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44766" y="5181600"/>
            <a:ext cx="623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Launched in 2009, Kepler discovered thousands of exoplanets using the transit method. TESS continues this mission today, scanning 85% of the sky.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14504" y="5143500"/>
            <a:ext cx="121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2,600+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52604" y="54864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Kepler Discoveries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406" y="335406"/>
            <a:ext cx="335406" cy="335406"/>
          </a:xfrm>
          <a:custGeom>
            <a:avLst/>
            <a:gdLst/>
            <a:ahLst/>
            <a:cxnLst/>
            <a:rect l="l" t="t" r="r" b="b"/>
            <a:pathLst>
              <a:path w="335406" h="335406">
                <a:moveTo>
                  <a:pt x="67081" y="0"/>
                </a:moveTo>
                <a:lnTo>
                  <a:pt x="268325" y="0"/>
                </a:lnTo>
                <a:cubicBezTo>
                  <a:pt x="305373" y="0"/>
                  <a:pt x="335406" y="30033"/>
                  <a:pt x="335406" y="67081"/>
                </a:cubicBezTo>
                <a:lnTo>
                  <a:pt x="335406" y="268325"/>
                </a:lnTo>
                <a:cubicBezTo>
                  <a:pt x="335406" y="305373"/>
                  <a:pt x="305373" y="335406"/>
                  <a:pt x="268325" y="335406"/>
                </a:cubicBezTo>
                <a:lnTo>
                  <a:pt x="67081" y="335406"/>
                </a:lnTo>
                <a:cubicBezTo>
                  <a:pt x="30033" y="335406"/>
                  <a:pt x="0" y="305373"/>
                  <a:pt x="0" y="268325"/>
                </a:cubicBezTo>
                <a:lnTo>
                  <a:pt x="0" y="67081"/>
                </a:lnTo>
                <a:cubicBezTo>
                  <a:pt x="0" y="30058"/>
                  <a:pt x="30058" y="0"/>
                  <a:pt x="6708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7642" y="436028"/>
            <a:ext cx="150933" cy="134162"/>
          </a:xfrm>
          <a:custGeom>
            <a:avLst/>
            <a:gdLst/>
            <a:ahLst/>
            <a:cxnLst/>
            <a:rect l="l" t="t" r="r" b="b"/>
            <a:pathLst>
              <a:path w="150933" h="134162">
                <a:moveTo>
                  <a:pt x="75466" y="16770"/>
                </a:moveTo>
                <a:cubicBezTo>
                  <a:pt x="103242" y="16770"/>
                  <a:pt x="125777" y="39305"/>
                  <a:pt x="125777" y="67081"/>
                </a:cubicBezTo>
                <a:cubicBezTo>
                  <a:pt x="125777" y="94857"/>
                  <a:pt x="103242" y="117392"/>
                  <a:pt x="75466" y="117392"/>
                </a:cubicBezTo>
                <a:cubicBezTo>
                  <a:pt x="58382" y="117392"/>
                  <a:pt x="43262" y="108876"/>
                  <a:pt x="34169" y="95826"/>
                </a:cubicBezTo>
                <a:cubicBezTo>
                  <a:pt x="31523" y="92027"/>
                  <a:pt x="26282" y="91110"/>
                  <a:pt x="22483" y="93756"/>
                </a:cubicBezTo>
                <a:cubicBezTo>
                  <a:pt x="18683" y="96403"/>
                  <a:pt x="17766" y="101644"/>
                  <a:pt x="20413" y="105443"/>
                </a:cubicBezTo>
                <a:cubicBezTo>
                  <a:pt x="32519" y="122790"/>
                  <a:pt x="52669" y="134162"/>
                  <a:pt x="75466" y="134162"/>
                </a:cubicBezTo>
                <a:cubicBezTo>
                  <a:pt x="112518" y="134162"/>
                  <a:pt x="142547" y="104133"/>
                  <a:pt x="142547" y="67081"/>
                </a:cubicBezTo>
                <a:cubicBezTo>
                  <a:pt x="142547" y="30029"/>
                  <a:pt x="112518" y="0"/>
                  <a:pt x="75466" y="0"/>
                </a:cubicBezTo>
                <a:cubicBezTo>
                  <a:pt x="53010" y="0"/>
                  <a:pt x="33148" y="11032"/>
                  <a:pt x="20963" y="27959"/>
                </a:cubicBezTo>
                <a:lnTo>
                  <a:pt x="20963" y="20963"/>
                </a:lnTo>
                <a:cubicBezTo>
                  <a:pt x="20963" y="16325"/>
                  <a:pt x="17216" y="12578"/>
                  <a:pt x="12578" y="12578"/>
                </a:cubicBezTo>
                <a:cubicBezTo>
                  <a:pt x="7940" y="12578"/>
                  <a:pt x="4193" y="16325"/>
                  <a:pt x="4193" y="20963"/>
                </a:cubicBezTo>
                <a:lnTo>
                  <a:pt x="4193" y="50311"/>
                </a:lnTo>
                <a:cubicBezTo>
                  <a:pt x="4193" y="54949"/>
                  <a:pt x="7940" y="58696"/>
                  <a:pt x="12578" y="58696"/>
                </a:cubicBezTo>
                <a:lnTo>
                  <a:pt x="19024" y="58696"/>
                </a:lnTo>
                <a:cubicBezTo>
                  <a:pt x="19155" y="58696"/>
                  <a:pt x="19286" y="58696"/>
                  <a:pt x="19417" y="58696"/>
                </a:cubicBezTo>
                <a:lnTo>
                  <a:pt x="41952" y="58696"/>
                </a:lnTo>
                <a:cubicBezTo>
                  <a:pt x="46590" y="58696"/>
                  <a:pt x="50337" y="54949"/>
                  <a:pt x="50337" y="50311"/>
                </a:cubicBezTo>
                <a:cubicBezTo>
                  <a:pt x="50337" y="45673"/>
                  <a:pt x="46590" y="41926"/>
                  <a:pt x="41952" y="41926"/>
                </a:cubicBezTo>
                <a:lnTo>
                  <a:pt x="31916" y="41926"/>
                </a:lnTo>
                <a:cubicBezTo>
                  <a:pt x="40589" y="26885"/>
                  <a:pt x="56862" y="16770"/>
                  <a:pt x="75466" y="16770"/>
                </a:cubicBezTo>
                <a:close/>
                <a:moveTo>
                  <a:pt x="81755" y="39829"/>
                </a:moveTo>
                <a:cubicBezTo>
                  <a:pt x="81755" y="36344"/>
                  <a:pt x="78951" y="33541"/>
                  <a:pt x="75466" y="33541"/>
                </a:cubicBezTo>
                <a:cubicBezTo>
                  <a:pt x="71981" y="33541"/>
                  <a:pt x="69177" y="36344"/>
                  <a:pt x="69177" y="39829"/>
                </a:cubicBezTo>
                <a:lnTo>
                  <a:pt x="69177" y="67081"/>
                </a:lnTo>
                <a:cubicBezTo>
                  <a:pt x="69177" y="68758"/>
                  <a:pt x="69833" y="70357"/>
                  <a:pt x="71012" y="71536"/>
                </a:cubicBezTo>
                <a:lnTo>
                  <a:pt x="89878" y="90402"/>
                </a:lnTo>
                <a:cubicBezTo>
                  <a:pt x="92341" y="92865"/>
                  <a:pt x="96324" y="92865"/>
                  <a:pt x="98761" y="90402"/>
                </a:cubicBezTo>
                <a:cubicBezTo>
                  <a:pt x="101198" y="87939"/>
                  <a:pt x="101224" y="83956"/>
                  <a:pt x="98761" y="81519"/>
                </a:cubicBezTo>
                <a:lnTo>
                  <a:pt x="81729" y="64487"/>
                </a:lnTo>
                <a:lnTo>
                  <a:pt x="81729" y="39829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71433" y="419257"/>
            <a:ext cx="788204" cy="167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4" b="1" kern="0" spc="46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5406" y="737893"/>
            <a:ext cx="11722432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Timeline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730" y="1341623"/>
            <a:ext cx="33541" cy="5182019"/>
          </a:xfrm>
          <a:custGeom>
            <a:avLst/>
            <a:gdLst/>
            <a:ahLst/>
            <a:cxnLst/>
            <a:rect l="l" t="t" r="r" b="b"/>
            <a:pathLst>
              <a:path w="33541" h="5182019">
                <a:moveTo>
                  <a:pt x="0" y="0"/>
                </a:moveTo>
                <a:lnTo>
                  <a:pt x="33541" y="0"/>
                </a:lnTo>
                <a:lnTo>
                  <a:pt x="33541" y="5182019"/>
                </a:lnTo>
                <a:lnTo>
                  <a:pt x="0" y="518201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0">
                <a:srgbClr val="FFFFFF"/>
              </a:gs>
              <a:gs pos="50000">
                <a:srgbClr val="8B5CF6"/>
              </a:gs>
              <a:gs pos="100000">
                <a:srgbClr val="10B981"/>
              </a:gs>
            </a:gsLst>
            <a:lin ang="54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1076653" y="1344977"/>
            <a:ext cx="10781619" cy="744601"/>
          </a:xfrm>
          <a:custGeom>
            <a:avLst/>
            <a:gdLst/>
            <a:ahLst/>
            <a:cxnLst/>
            <a:rect l="l" t="t" r="r" b="b"/>
            <a:pathLst>
              <a:path w="10781619" h="744601">
                <a:moveTo>
                  <a:pt x="100625" y="0"/>
                </a:moveTo>
                <a:lnTo>
                  <a:pt x="10680993" y="0"/>
                </a:lnTo>
                <a:cubicBezTo>
                  <a:pt x="10736567" y="0"/>
                  <a:pt x="10781619" y="45052"/>
                  <a:pt x="10781619" y="100625"/>
                </a:cubicBezTo>
                <a:lnTo>
                  <a:pt x="10781619" y="643975"/>
                </a:lnTo>
                <a:cubicBezTo>
                  <a:pt x="10781619" y="699549"/>
                  <a:pt x="10736567" y="744601"/>
                  <a:pt x="10680993" y="744601"/>
                </a:cubicBezTo>
                <a:lnTo>
                  <a:pt x="100625" y="744601"/>
                </a:lnTo>
                <a:cubicBezTo>
                  <a:pt x="45052" y="744601"/>
                  <a:pt x="0" y="699549"/>
                  <a:pt x="0" y="643975"/>
                </a:cubicBezTo>
                <a:lnTo>
                  <a:pt x="0" y="100625"/>
                </a:lnTo>
                <a:cubicBezTo>
                  <a:pt x="0" y="45052"/>
                  <a:pt x="45052" y="0"/>
                  <a:pt x="10062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4169" y="1482494"/>
            <a:ext cx="105904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Exoplanets Discovered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4169" y="1750819"/>
            <a:ext cx="1057366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planets orbiting pulsar PSR B1257+12—remnants of a supernova explosion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6653" y="2230449"/>
            <a:ext cx="10781619" cy="744601"/>
          </a:xfrm>
          <a:custGeom>
            <a:avLst/>
            <a:gdLst/>
            <a:ahLst/>
            <a:cxnLst/>
            <a:rect l="l" t="t" r="r" b="b"/>
            <a:pathLst>
              <a:path w="10781619" h="744601">
                <a:moveTo>
                  <a:pt x="100625" y="0"/>
                </a:moveTo>
                <a:lnTo>
                  <a:pt x="10680993" y="0"/>
                </a:lnTo>
                <a:cubicBezTo>
                  <a:pt x="10736567" y="0"/>
                  <a:pt x="10781619" y="45052"/>
                  <a:pt x="10781619" y="100625"/>
                </a:cubicBezTo>
                <a:lnTo>
                  <a:pt x="10781619" y="643975"/>
                </a:lnTo>
                <a:cubicBezTo>
                  <a:pt x="10781619" y="699549"/>
                  <a:pt x="10736567" y="744601"/>
                  <a:pt x="10680993" y="744601"/>
                </a:cubicBezTo>
                <a:lnTo>
                  <a:pt x="100625" y="744601"/>
                </a:lnTo>
                <a:cubicBezTo>
                  <a:pt x="45052" y="744601"/>
                  <a:pt x="0" y="699549"/>
                  <a:pt x="0" y="643975"/>
                </a:cubicBezTo>
                <a:lnTo>
                  <a:pt x="0" y="100625"/>
                </a:lnTo>
                <a:cubicBezTo>
                  <a:pt x="0" y="45052"/>
                  <a:pt x="45052" y="0"/>
                  <a:pt x="10062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4169" y="2367966"/>
            <a:ext cx="105904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 Pegasi b — "Hot Jupiter"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4169" y="2636291"/>
            <a:ext cx="1057366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exoplanet discovered around a sun-like star, revolutionizing our understanding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6653" y="3115919"/>
            <a:ext cx="10781619" cy="744601"/>
          </a:xfrm>
          <a:custGeom>
            <a:avLst/>
            <a:gdLst/>
            <a:ahLst/>
            <a:cxnLst/>
            <a:rect l="l" t="t" r="r" b="b"/>
            <a:pathLst>
              <a:path w="10781619" h="744601">
                <a:moveTo>
                  <a:pt x="100625" y="0"/>
                </a:moveTo>
                <a:lnTo>
                  <a:pt x="10680993" y="0"/>
                </a:lnTo>
                <a:cubicBezTo>
                  <a:pt x="10736567" y="0"/>
                  <a:pt x="10781619" y="45052"/>
                  <a:pt x="10781619" y="100625"/>
                </a:cubicBezTo>
                <a:lnTo>
                  <a:pt x="10781619" y="643975"/>
                </a:lnTo>
                <a:cubicBezTo>
                  <a:pt x="10781619" y="699549"/>
                  <a:pt x="10736567" y="744601"/>
                  <a:pt x="10680993" y="744601"/>
                </a:cubicBezTo>
                <a:lnTo>
                  <a:pt x="100625" y="744601"/>
                </a:lnTo>
                <a:cubicBezTo>
                  <a:pt x="45052" y="744601"/>
                  <a:pt x="0" y="699549"/>
                  <a:pt x="0" y="643975"/>
                </a:cubicBezTo>
                <a:lnTo>
                  <a:pt x="0" y="100625"/>
                </a:lnTo>
                <a:cubicBezTo>
                  <a:pt x="0" y="45052"/>
                  <a:pt x="45052" y="0"/>
                  <a:pt x="10062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4169" y="3253436"/>
            <a:ext cx="105904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Kepler Space Telescope Launch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4169" y="3521761"/>
            <a:ext cx="1057366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NASA's Kepler mission begins, discovering thousands of planets using the transit method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6653" y="4001391"/>
            <a:ext cx="10781619" cy="744601"/>
          </a:xfrm>
          <a:custGeom>
            <a:avLst/>
            <a:gdLst/>
            <a:ahLst/>
            <a:cxnLst/>
            <a:rect l="l" t="t" r="r" b="b"/>
            <a:pathLst>
              <a:path w="10781619" h="744601">
                <a:moveTo>
                  <a:pt x="100625" y="0"/>
                </a:moveTo>
                <a:lnTo>
                  <a:pt x="10680993" y="0"/>
                </a:lnTo>
                <a:cubicBezTo>
                  <a:pt x="10736567" y="0"/>
                  <a:pt x="10781619" y="45052"/>
                  <a:pt x="10781619" y="100625"/>
                </a:cubicBezTo>
                <a:lnTo>
                  <a:pt x="10781619" y="643975"/>
                </a:lnTo>
                <a:cubicBezTo>
                  <a:pt x="10781619" y="699549"/>
                  <a:pt x="10736567" y="744601"/>
                  <a:pt x="10680993" y="744601"/>
                </a:cubicBezTo>
                <a:lnTo>
                  <a:pt x="100625" y="744601"/>
                </a:lnTo>
                <a:cubicBezTo>
                  <a:pt x="45052" y="744601"/>
                  <a:pt x="0" y="699549"/>
                  <a:pt x="0" y="643975"/>
                </a:cubicBezTo>
                <a:lnTo>
                  <a:pt x="0" y="100625"/>
                </a:lnTo>
                <a:cubicBezTo>
                  <a:pt x="0" y="45052"/>
                  <a:pt x="45052" y="0"/>
                  <a:pt x="10062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4169" y="4138908"/>
            <a:ext cx="105904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TRAPPIST-1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4169" y="4407233"/>
            <a:ext cx="1057366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Seven Earth-sized planets discovered, three in the habitable zone of an ultra-cool dwarf star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6653" y="4886863"/>
            <a:ext cx="10781619" cy="744601"/>
          </a:xfrm>
          <a:custGeom>
            <a:avLst/>
            <a:gdLst/>
            <a:ahLst/>
            <a:cxnLst/>
            <a:rect l="l" t="t" r="r" b="b"/>
            <a:pathLst>
              <a:path w="10781619" h="744601">
                <a:moveTo>
                  <a:pt x="100625" y="0"/>
                </a:moveTo>
                <a:lnTo>
                  <a:pt x="10680993" y="0"/>
                </a:lnTo>
                <a:cubicBezTo>
                  <a:pt x="10736567" y="0"/>
                  <a:pt x="10781619" y="45052"/>
                  <a:pt x="10781619" y="100625"/>
                </a:cubicBezTo>
                <a:lnTo>
                  <a:pt x="10781619" y="643975"/>
                </a:lnTo>
                <a:cubicBezTo>
                  <a:pt x="10781619" y="699549"/>
                  <a:pt x="10736567" y="744601"/>
                  <a:pt x="10680993" y="744601"/>
                </a:cubicBezTo>
                <a:lnTo>
                  <a:pt x="100625" y="744601"/>
                </a:lnTo>
                <a:cubicBezTo>
                  <a:pt x="45052" y="744601"/>
                  <a:pt x="0" y="699549"/>
                  <a:pt x="0" y="643975"/>
                </a:cubicBezTo>
                <a:lnTo>
                  <a:pt x="0" y="100625"/>
                </a:lnTo>
                <a:cubicBezTo>
                  <a:pt x="0" y="45052"/>
                  <a:pt x="45052" y="0"/>
                  <a:pt x="10062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4169" y="5024378"/>
            <a:ext cx="105904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TESS Mission Continues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4169" y="5292703"/>
            <a:ext cx="1057366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Transiting Exoplanet Survey Satellite scans 85% of the sky, finding nearby exoplanet candidates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6653" y="5772333"/>
            <a:ext cx="10781619" cy="744601"/>
          </a:xfrm>
          <a:custGeom>
            <a:avLst/>
            <a:gdLst/>
            <a:ahLst/>
            <a:cxnLst/>
            <a:rect l="l" t="t" r="r" b="b"/>
            <a:pathLst>
              <a:path w="10781619" h="744601">
                <a:moveTo>
                  <a:pt x="100625" y="0"/>
                </a:moveTo>
                <a:lnTo>
                  <a:pt x="10680993" y="0"/>
                </a:lnTo>
                <a:cubicBezTo>
                  <a:pt x="10736567" y="0"/>
                  <a:pt x="10781619" y="45052"/>
                  <a:pt x="10781619" y="100625"/>
                </a:cubicBezTo>
                <a:lnTo>
                  <a:pt x="10781619" y="643975"/>
                </a:lnTo>
                <a:cubicBezTo>
                  <a:pt x="10781619" y="699549"/>
                  <a:pt x="10736567" y="744601"/>
                  <a:pt x="10680993" y="744601"/>
                </a:cubicBezTo>
                <a:lnTo>
                  <a:pt x="100625" y="744601"/>
                </a:lnTo>
                <a:cubicBezTo>
                  <a:pt x="45052" y="744601"/>
                  <a:pt x="0" y="699549"/>
                  <a:pt x="0" y="643975"/>
                </a:cubicBezTo>
                <a:lnTo>
                  <a:pt x="0" y="100625"/>
                </a:lnTo>
                <a:cubicBezTo>
                  <a:pt x="0" y="45052"/>
                  <a:pt x="45052" y="0"/>
                  <a:pt x="10062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4169" y="5909850"/>
            <a:ext cx="10590437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James Webb Space Telescope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4169" y="6178175"/>
            <a:ext cx="10573667" cy="20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6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JWST begins detailed atmospheric analysis, searching for biosignatures in exoplanet atmospheres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2176" y="1358393"/>
            <a:ext cx="503109" cy="503109"/>
          </a:xfrm>
          <a:custGeom>
            <a:avLst/>
            <a:gdLst/>
            <a:ahLst/>
            <a:cxnLst/>
            <a:rect l="l" t="t" r="r" b="b"/>
            <a:pathLst>
              <a:path w="503109" h="503109">
                <a:moveTo>
                  <a:pt x="251554" y="0"/>
                </a:moveTo>
                <a:lnTo>
                  <a:pt x="251554" y="0"/>
                </a:lnTo>
                <a:cubicBezTo>
                  <a:pt x="390484" y="0"/>
                  <a:pt x="503109" y="112625"/>
                  <a:pt x="503109" y="251554"/>
                </a:cubicBezTo>
                <a:lnTo>
                  <a:pt x="503109" y="251554"/>
                </a:lnTo>
                <a:cubicBezTo>
                  <a:pt x="503109" y="390484"/>
                  <a:pt x="390484" y="503109"/>
                  <a:pt x="251554" y="503109"/>
                </a:cubicBezTo>
                <a:lnTo>
                  <a:pt x="251554" y="503109"/>
                </a:lnTo>
                <a:cubicBezTo>
                  <a:pt x="112625" y="503109"/>
                  <a:pt x="0" y="390484"/>
                  <a:pt x="0" y="251554"/>
                </a:cubicBezTo>
                <a:lnTo>
                  <a:pt x="0" y="251554"/>
                </a:lnTo>
                <a:cubicBezTo>
                  <a:pt x="0" y="112625"/>
                  <a:pt x="112625" y="0"/>
                  <a:pt x="251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2700000" scaled="1"/>
          </a:gradFill>
          <a:ln w="50800">
            <a:solidFill>
              <a:srgbClr val="0B0F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1144" y="1492556"/>
            <a:ext cx="452798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2176" y="2243865"/>
            <a:ext cx="503109" cy="503109"/>
          </a:xfrm>
          <a:custGeom>
            <a:avLst/>
            <a:gdLst/>
            <a:ahLst/>
            <a:cxnLst/>
            <a:rect l="l" t="t" r="r" b="b"/>
            <a:pathLst>
              <a:path w="503109" h="503109">
                <a:moveTo>
                  <a:pt x="251554" y="0"/>
                </a:moveTo>
                <a:lnTo>
                  <a:pt x="251554" y="0"/>
                </a:lnTo>
                <a:cubicBezTo>
                  <a:pt x="390484" y="0"/>
                  <a:pt x="503109" y="112625"/>
                  <a:pt x="503109" y="251554"/>
                </a:cubicBezTo>
                <a:lnTo>
                  <a:pt x="503109" y="251554"/>
                </a:lnTo>
                <a:cubicBezTo>
                  <a:pt x="503109" y="390484"/>
                  <a:pt x="390484" y="503109"/>
                  <a:pt x="251554" y="503109"/>
                </a:cubicBezTo>
                <a:lnTo>
                  <a:pt x="251554" y="503109"/>
                </a:lnTo>
                <a:cubicBezTo>
                  <a:pt x="112625" y="503109"/>
                  <a:pt x="0" y="390484"/>
                  <a:pt x="0" y="251554"/>
                </a:cubicBezTo>
                <a:lnTo>
                  <a:pt x="0" y="251554"/>
                </a:lnTo>
                <a:cubicBezTo>
                  <a:pt x="0" y="112625"/>
                  <a:pt x="112625" y="0"/>
                  <a:pt x="251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10B981"/>
              </a:gs>
            </a:gsLst>
            <a:lin ang="2700000" scaled="1"/>
          </a:gradFill>
          <a:ln w="50800">
            <a:solidFill>
              <a:srgbClr val="0B0F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1563" y="2378028"/>
            <a:ext cx="444413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2176" y="3129335"/>
            <a:ext cx="503109" cy="503109"/>
          </a:xfrm>
          <a:custGeom>
            <a:avLst/>
            <a:gdLst/>
            <a:ahLst/>
            <a:cxnLst/>
            <a:rect l="l" t="t" r="r" b="b"/>
            <a:pathLst>
              <a:path w="503109" h="503109">
                <a:moveTo>
                  <a:pt x="251554" y="0"/>
                </a:moveTo>
                <a:lnTo>
                  <a:pt x="251554" y="0"/>
                </a:lnTo>
                <a:cubicBezTo>
                  <a:pt x="390484" y="0"/>
                  <a:pt x="503109" y="112625"/>
                  <a:pt x="503109" y="251554"/>
                </a:cubicBezTo>
                <a:lnTo>
                  <a:pt x="503109" y="251554"/>
                </a:lnTo>
                <a:cubicBezTo>
                  <a:pt x="503109" y="390484"/>
                  <a:pt x="390484" y="503109"/>
                  <a:pt x="251554" y="503109"/>
                </a:cubicBezTo>
                <a:lnTo>
                  <a:pt x="251554" y="503109"/>
                </a:lnTo>
                <a:cubicBezTo>
                  <a:pt x="112625" y="503109"/>
                  <a:pt x="0" y="390484"/>
                  <a:pt x="0" y="251554"/>
                </a:cubicBezTo>
                <a:lnTo>
                  <a:pt x="0" y="251554"/>
                </a:lnTo>
                <a:cubicBezTo>
                  <a:pt x="0" y="112625"/>
                  <a:pt x="112625" y="0"/>
                  <a:pt x="251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2700000" scaled="1"/>
          </a:gradFill>
          <a:ln w="50800">
            <a:solidFill>
              <a:srgbClr val="0B0F1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875" y="3263498"/>
            <a:ext cx="494724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2009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2176" y="4014808"/>
            <a:ext cx="503109" cy="503109"/>
          </a:xfrm>
          <a:custGeom>
            <a:avLst/>
            <a:gdLst/>
            <a:ahLst/>
            <a:cxnLst/>
            <a:rect l="l" t="t" r="r" b="b"/>
            <a:pathLst>
              <a:path w="503109" h="503109">
                <a:moveTo>
                  <a:pt x="251554" y="0"/>
                </a:moveTo>
                <a:lnTo>
                  <a:pt x="251554" y="0"/>
                </a:lnTo>
                <a:cubicBezTo>
                  <a:pt x="390484" y="0"/>
                  <a:pt x="503109" y="112625"/>
                  <a:pt x="503109" y="251554"/>
                </a:cubicBezTo>
                <a:lnTo>
                  <a:pt x="503109" y="251554"/>
                </a:lnTo>
                <a:cubicBezTo>
                  <a:pt x="503109" y="390484"/>
                  <a:pt x="390484" y="503109"/>
                  <a:pt x="251554" y="503109"/>
                </a:cubicBezTo>
                <a:lnTo>
                  <a:pt x="251554" y="503109"/>
                </a:lnTo>
                <a:cubicBezTo>
                  <a:pt x="112625" y="503109"/>
                  <a:pt x="0" y="390484"/>
                  <a:pt x="0" y="251554"/>
                </a:cubicBezTo>
                <a:lnTo>
                  <a:pt x="0" y="251554"/>
                </a:lnTo>
                <a:cubicBezTo>
                  <a:pt x="0" y="112625"/>
                  <a:pt x="112625" y="0"/>
                  <a:pt x="251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8B5CF6"/>
              </a:gs>
            </a:gsLst>
            <a:lin ang="2700000" scaled="1"/>
          </a:gradFill>
          <a:ln w="50800">
            <a:solidFill>
              <a:srgbClr val="0B0F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019" y="4148970"/>
            <a:ext cx="41087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2176" y="4900280"/>
            <a:ext cx="503109" cy="503109"/>
          </a:xfrm>
          <a:custGeom>
            <a:avLst/>
            <a:gdLst/>
            <a:ahLst/>
            <a:cxnLst/>
            <a:rect l="l" t="t" r="r" b="b"/>
            <a:pathLst>
              <a:path w="503109" h="503109">
                <a:moveTo>
                  <a:pt x="251554" y="0"/>
                </a:moveTo>
                <a:lnTo>
                  <a:pt x="251554" y="0"/>
                </a:lnTo>
                <a:cubicBezTo>
                  <a:pt x="390484" y="0"/>
                  <a:pt x="503109" y="112625"/>
                  <a:pt x="503109" y="251554"/>
                </a:cubicBezTo>
                <a:lnTo>
                  <a:pt x="503109" y="251554"/>
                </a:lnTo>
                <a:cubicBezTo>
                  <a:pt x="503109" y="390484"/>
                  <a:pt x="390484" y="503109"/>
                  <a:pt x="251554" y="503109"/>
                </a:cubicBezTo>
                <a:lnTo>
                  <a:pt x="251554" y="503109"/>
                </a:lnTo>
                <a:cubicBezTo>
                  <a:pt x="112625" y="503109"/>
                  <a:pt x="0" y="390484"/>
                  <a:pt x="0" y="251554"/>
                </a:cubicBezTo>
                <a:lnTo>
                  <a:pt x="0" y="251554"/>
                </a:lnTo>
                <a:cubicBezTo>
                  <a:pt x="0" y="112625"/>
                  <a:pt x="112625" y="0"/>
                  <a:pt x="251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10B981"/>
              </a:gs>
            </a:gsLst>
            <a:lin ang="2700000" scaled="1"/>
          </a:gradFill>
          <a:ln w="50800">
            <a:solidFill>
              <a:srgbClr val="0B0F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189" y="5034442"/>
            <a:ext cx="41087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2018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2176" y="5785750"/>
            <a:ext cx="503109" cy="503109"/>
          </a:xfrm>
          <a:custGeom>
            <a:avLst/>
            <a:gdLst/>
            <a:ahLst/>
            <a:cxnLst/>
            <a:rect l="l" t="t" r="r" b="b"/>
            <a:pathLst>
              <a:path w="503109" h="503109">
                <a:moveTo>
                  <a:pt x="251554" y="0"/>
                </a:moveTo>
                <a:lnTo>
                  <a:pt x="251554" y="0"/>
                </a:lnTo>
                <a:cubicBezTo>
                  <a:pt x="390484" y="0"/>
                  <a:pt x="503109" y="112625"/>
                  <a:pt x="503109" y="251554"/>
                </a:cubicBezTo>
                <a:lnTo>
                  <a:pt x="503109" y="251554"/>
                </a:lnTo>
                <a:cubicBezTo>
                  <a:pt x="503109" y="390484"/>
                  <a:pt x="390484" y="503109"/>
                  <a:pt x="251554" y="503109"/>
                </a:cubicBezTo>
                <a:lnTo>
                  <a:pt x="251554" y="503109"/>
                </a:lnTo>
                <a:cubicBezTo>
                  <a:pt x="112625" y="503109"/>
                  <a:pt x="0" y="390484"/>
                  <a:pt x="0" y="251554"/>
                </a:cubicBezTo>
                <a:lnTo>
                  <a:pt x="0" y="251554"/>
                </a:lnTo>
                <a:cubicBezTo>
                  <a:pt x="0" y="112625"/>
                  <a:pt x="112625" y="0"/>
                  <a:pt x="25155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3B82F6"/>
              </a:gs>
            </a:gsLst>
            <a:lin ang="2700000" scaled="1"/>
          </a:gradFill>
          <a:ln w="50800">
            <a:solidFill>
              <a:srgbClr val="0B0F1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705" y="5919912"/>
            <a:ext cx="410872" cy="234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7229" y="367229"/>
            <a:ext cx="367229" cy="367229"/>
          </a:xfrm>
          <a:custGeom>
            <a:avLst/>
            <a:gdLst/>
            <a:ahLst/>
            <a:cxnLst/>
            <a:rect l="l" t="t" r="r" b="b"/>
            <a:pathLst>
              <a:path w="367229" h="367229">
                <a:moveTo>
                  <a:pt x="73446" y="0"/>
                </a:moveTo>
                <a:lnTo>
                  <a:pt x="293783" y="0"/>
                </a:lnTo>
                <a:cubicBezTo>
                  <a:pt x="334346" y="0"/>
                  <a:pt x="367229" y="32883"/>
                  <a:pt x="367229" y="73446"/>
                </a:cubicBezTo>
                <a:lnTo>
                  <a:pt x="367229" y="293783"/>
                </a:lnTo>
                <a:cubicBezTo>
                  <a:pt x="367229" y="334346"/>
                  <a:pt x="334346" y="367229"/>
                  <a:pt x="293783" y="367229"/>
                </a:cubicBezTo>
                <a:lnTo>
                  <a:pt x="73446" y="367229"/>
                </a:lnTo>
                <a:cubicBezTo>
                  <a:pt x="32883" y="367229"/>
                  <a:pt x="0" y="334346"/>
                  <a:pt x="0" y="293783"/>
                </a:cubicBezTo>
                <a:lnTo>
                  <a:pt x="0" y="73446"/>
                </a:lnTo>
                <a:cubicBezTo>
                  <a:pt x="0" y="32910"/>
                  <a:pt x="32910" y="0"/>
                  <a:pt x="73446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8217" y="477398"/>
            <a:ext cx="165253" cy="146892"/>
          </a:xfrm>
          <a:custGeom>
            <a:avLst/>
            <a:gdLst/>
            <a:ahLst/>
            <a:cxnLst/>
            <a:rect l="l" t="t" r="r" b="b"/>
            <a:pathLst>
              <a:path w="165253" h="146892">
                <a:moveTo>
                  <a:pt x="88795" y="-5422"/>
                </a:moveTo>
                <a:cubicBezTo>
                  <a:pt x="87619" y="-7718"/>
                  <a:pt x="85237" y="-9181"/>
                  <a:pt x="82655" y="-9181"/>
                </a:cubicBezTo>
                <a:cubicBezTo>
                  <a:pt x="80073" y="-9181"/>
                  <a:pt x="77692" y="-7718"/>
                  <a:pt x="76516" y="-5422"/>
                </a:cubicBezTo>
                <a:lnTo>
                  <a:pt x="55400" y="35948"/>
                </a:lnTo>
                <a:lnTo>
                  <a:pt x="9525" y="43235"/>
                </a:lnTo>
                <a:cubicBezTo>
                  <a:pt x="6972" y="43637"/>
                  <a:pt x="4849" y="45445"/>
                  <a:pt x="4045" y="47912"/>
                </a:cubicBezTo>
                <a:cubicBezTo>
                  <a:pt x="3242" y="50379"/>
                  <a:pt x="3902" y="53076"/>
                  <a:pt x="5709" y="54912"/>
                </a:cubicBezTo>
                <a:lnTo>
                  <a:pt x="38530" y="87762"/>
                </a:lnTo>
                <a:lnTo>
                  <a:pt x="31301" y="133637"/>
                </a:lnTo>
                <a:cubicBezTo>
                  <a:pt x="30899" y="136190"/>
                  <a:pt x="31960" y="138772"/>
                  <a:pt x="34055" y="140293"/>
                </a:cubicBezTo>
                <a:cubicBezTo>
                  <a:pt x="36149" y="141813"/>
                  <a:pt x="38903" y="142043"/>
                  <a:pt x="41227" y="140867"/>
                </a:cubicBezTo>
                <a:lnTo>
                  <a:pt x="82655" y="119808"/>
                </a:lnTo>
                <a:lnTo>
                  <a:pt x="124055" y="140867"/>
                </a:lnTo>
                <a:cubicBezTo>
                  <a:pt x="126350" y="142043"/>
                  <a:pt x="129133" y="141813"/>
                  <a:pt x="131227" y="140293"/>
                </a:cubicBezTo>
                <a:cubicBezTo>
                  <a:pt x="133321" y="138772"/>
                  <a:pt x="134383" y="136219"/>
                  <a:pt x="133981" y="133637"/>
                </a:cubicBezTo>
                <a:lnTo>
                  <a:pt x="126723" y="87762"/>
                </a:lnTo>
                <a:lnTo>
                  <a:pt x="159544" y="54912"/>
                </a:lnTo>
                <a:cubicBezTo>
                  <a:pt x="161380" y="53076"/>
                  <a:pt x="162011" y="50379"/>
                  <a:pt x="161208" y="47912"/>
                </a:cubicBezTo>
                <a:cubicBezTo>
                  <a:pt x="160404" y="45445"/>
                  <a:pt x="158310" y="43637"/>
                  <a:pt x="155728" y="43235"/>
                </a:cubicBezTo>
                <a:lnTo>
                  <a:pt x="109882" y="35948"/>
                </a:lnTo>
                <a:lnTo>
                  <a:pt x="88795" y="-542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44627" y="459036"/>
            <a:ext cx="89971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kern="0" spc="5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7229" y="807904"/>
            <a:ext cx="11677880" cy="440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0901" y="1472588"/>
            <a:ext cx="3716357" cy="2412694"/>
          </a:xfrm>
          <a:custGeom>
            <a:avLst/>
            <a:gdLst/>
            <a:ahLst/>
            <a:cxnLst/>
            <a:rect l="l" t="t" r="r" b="b"/>
            <a:pathLst>
              <a:path w="3716357" h="2412694">
                <a:moveTo>
                  <a:pt x="110164" y="0"/>
                </a:moveTo>
                <a:lnTo>
                  <a:pt x="3606193" y="0"/>
                </a:lnTo>
                <a:cubicBezTo>
                  <a:pt x="3667035" y="0"/>
                  <a:pt x="3716357" y="49322"/>
                  <a:pt x="3716357" y="110164"/>
                </a:cubicBezTo>
                <a:lnTo>
                  <a:pt x="3716357" y="2302530"/>
                </a:lnTo>
                <a:cubicBezTo>
                  <a:pt x="3716357" y="2363372"/>
                  <a:pt x="3667035" y="2412694"/>
                  <a:pt x="3606193" y="2412694"/>
                </a:cubicBezTo>
                <a:lnTo>
                  <a:pt x="110164" y="2412694"/>
                </a:lnTo>
                <a:cubicBezTo>
                  <a:pt x="49322" y="2412694"/>
                  <a:pt x="0" y="2363372"/>
                  <a:pt x="0" y="2302530"/>
                </a:cubicBezTo>
                <a:lnTo>
                  <a:pt x="0" y="110164"/>
                </a:lnTo>
                <a:cubicBezTo>
                  <a:pt x="0" y="49322"/>
                  <a:pt x="49322" y="0"/>
                  <a:pt x="11016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8188" y="1659875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5080" y="1806767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51642" y="24099"/>
                </a:moveTo>
                <a:cubicBezTo>
                  <a:pt x="51642" y="10802"/>
                  <a:pt x="62443" y="0"/>
                  <a:pt x="75741" y="0"/>
                </a:cubicBezTo>
                <a:lnTo>
                  <a:pt x="86069" y="0"/>
                </a:lnTo>
                <a:cubicBezTo>
                  <a:pt x="93686" y="0"/>
                  <a:pt x="99840" y="6154"/>
                  <a:pt x="99840" y="13771"/>
                </a:cubicBezTo>
                <a:lnTo>
                  <a:pt x="99840" y="206566"/>
                </a:lnTo>
                <a:cubicBezTo>
                  <a:pt x="99840" y="214183"/>
                  <a:pt x="93686" y="220337"/>
                  <a:pt x="86069" y="220337"/>
                </a:cubicBezTo>
                <a:lnTo>
                  <a:pt x="72298" y="220337"/>
                </a:lnTo>
                <a:cubicBezTo>
                  <a:pt x="59474" y="220337"/>
                  <a:pt x="48672" y="211558"/>
                  <a:pt x="45617" y="199681"/>
                </a:cubicBezTo>
                <a:cubicBezTo>
                  <a:pt x="45315" y="199681"/>
                  <a:pt x="45057" y="199681"/>
                  <a:pt x="44756" y="199681"/>
                </a:cubicBezTo>
                <a:cubicBezTo>
                  <a:pt x="25735" y="199681"/>
                  <a:pt x="10328" y="184274"/>
                  <a:pt x="10328" y="165253"/>
                </a:cubicBezTo>
                <a:cubicBezTo>
                  <a:pt x="10328" y="157507"/>
                  <a:pt x="12910" y="150363"/>
                  <a:pt x="17214" y="144596"/>
                </a:cubicBezTo>
                <a:cubicBezTo>
                  <a:pt x="8865" y="138313"/>
                  <a:pt x="3443" y="128329"/>
                  <a:pt x="3443" y="117054"/>
                </a:cubicBezTo>
                <a:cubicBezTo>
                  <a:pt x="3443" y="103757"/>
                  <a:pt x="11017" y="92180"/>
                  <a:pt x="22034" y="86457"/>
                </a:cubicBezTo>
                <a:cubicBezTo>
                  <a:pt x="18978" y="81292"/>
                  <a:pt x="17214" y="75268"/>
                  <a:pt x="17214" y="68855"/>
                </a:cubicBezTo>
                <a:cubicBezTo>
                  <a:pt x="17214" y="49834"/>
                  <a:pt x="32620" y="34428"/>
                  <a:pt x="51642" y="34428"/>
                </a:cubicBezTo>
                <a:lnTo>
                  <a:pt x="51642" y="24099"/>
                </a:lnTo>
                <a:close/>
                <a:moveTo>
                  <a:pt x="168696" y="24099"/>
                </a:moveTo>
                <a:lnTo>
                  <a:pt x="168696" y="34428"/>
                </a:lnTo>
                <a:cubicBezTo>
                  <a:pt x="187717" y="34428"/>
                  <a:pt x="203123" y="49834"/>
                  <a:pt x="203123" y="68855"/>
                </a:cubicBezTo>
                <a:cubicBezTo>
                  <a:pt x="203123" y="75311"/>
                  <a:pt x="201359" y="81335"/>
                  <a:pt x="198304" y="86457"/>
                </a:cubicBezTo>
                <a:cubicBezTo>
                  <a:pt x="209364" y="92180"/>
                  <a:pt x="216895" y="103713"/>
                  <a:pt x="216895" y="117054"/>
                </a:cubicBezTo>
                <a:cubicBezTo>
                  <a:pt x="216895" y="128329"/>
                  <a:pt x="211472" y="138313"/>
                  <a:pt x="203123" y="144596"/>
                </a:cubicBezTo>
                <a:cubicBezTo>
                  <a:pt x="207427" y="150363"/>
                  <a:pt x="210009" y="157507"/>
                  <a:pt x="210009" y="165253"/>
                </a:cubicBezTo>
                <a:cubicBezTo>
                  <a:pt x="210009" y="184274"/>
                  <a:pt x="194603" y="199681"/>
                  <a:pt x="175581" y="199681"/>
                </a:cubicBezTo>
                <a:cubicBezTo>
                  <a:pt x="175280" y="199681"/>
                  <a:pt x="175022" y="199681"/>
                  <a:pt x="174721" y="199681"/>
                </a:cubicBezTo>
                <a:cubicBezTo>
                  <a:pt x="171665" y="211558"/>
                  <a:pt x="160863" y="220337"/>
                  <a:pt x="148039" y="220337"/>
                </a:cubicBezTo>
                <a:lnTo>
                  <a:pt x="134268" y="220337"/>
                </a:lnTo>
                <a:cubicBezTo>
                  <a:pt x="126651" y="220337"/>
                  <a:pt x="120497" y="214183"/>
                  <a:pt x="120497" y="206566"/>
                </a:cubicBezTo>
                <a:lnTo>
                  <a:pt x="120497" y="13771"/>
                </a:lnTo>
                <a:cubicBezTo>
                  <a:pt x="120497" y="6154"/>
                  <a:pt x="126651" y="0"/>
                  <a:pt x="134268" y="0"/>
                </a:cubicBezTo>
                <a:lnTo>
                  <a:pt x="144596" y="0"/>
                </a:lnTo>
                <a:cubicBezTo>
                  <a:pt x="157894" y="0"/>
                  <a:pt x="168696" y="10802"/>
                  <a:pt x="168696" y="2409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58188" y="2284164"/>
            <a:ext cx="343359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8188" y="2614670"/>
            <a:ext cx="3415229" cy="71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Random Forest model predicts habitability with high accuracy using 10 key parameters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188" y="3440935"/>
            <a:ext cx="1184313" cy="257060"/>
          </a:xfrm>
          <a:custGeom>
            <a:avLst/>
            <a:gdLst/>
            <a:ahLst/>
            <a:cxnLst/>
            <a:rect l="l" t="t" r="r" b="b"/>
            <a:pathLst>
              <a:path w="1184313" h="257060">
                <a:moveTo>
                  <a:pt x="73445" y="0"/>
                </a:moveTo>
                <a:lnTo>
                  <a:pt x="1110869" y="0"/>
                </a:lnTo>
                <a:cubicBezTo>
                  <a:pt x="1151431" y="0"/>
                  <a:pt x="1184313" y="32882"/>
                  <a:pt x="1184313" y="73445"/>
                </a:cubicBezTo>
                <a:lnTo>
                  <a:pt x="1184313" y="183616"/>
                </a:lnTo>
                <a:cubicBezTo>
                  <a:pt x="1184313" y="224178"/>
                  <a:pt x="1151431" y="257060"/>
                  <a:pt x="1110869" y="257060"/>
                </a:cubicBezTo>
                <a:lnTo>
                  <a:pt x="73445" y="257060"/>
                </a:lnTo>
                <a:cubicBezTo>
                  <a:pt x="32909" y="257060"/>
                  <a:pt x="0" y="224151"/>
                  <a:pt x="0" y="183616"/>
                </a:cubicBezTo>
                <a:lnTo>
                  <a:pt x="0" y="73445"/>
                </a:lnTo>
                <a:cubicBezTo>
                  <a:pt x="0" y="32882"/>
                  <a:pt x="32882" y="0"/>
                  <a:pt x="7344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8188" y="3440935"/>
            <a:ext cx="1248578" cy="257060"/>
          </a:xfrm>
          <a:prstGeom prst="rect">
            <a:avLst/>
          </a:prstGeom>
          <a:noFill/>
          <a:ln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99.97% Accuracy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38969" y="1472588"/>
            <a:ext cx="3716357" cy="2412694"/>
          </a:xfrm>
          <a:custGeom>
            <a:avLst/>
            <a:gdLst/>
            <a:ahLst/>
            <a:cxnLst/>
            <a:rect l="l" t="t" r="r" b="b"/>
            <a:pathLst>
              <a:path w="3716357" h="2412694">
                <a:moveTo>
                  <a:pt x="110164" y="0"/>
                </a:moveTo>
                <a:lnTo>
                  <a:pt x="3606193" y="0"/>
                </a:lnTo>
                <a:cubicBezTo>
                  <a:pt x="3667035" y="0"/>
                  <a:pt x="3716357" y="49322"/>
                  <a:pt x="3716357" y="110164"/>
                </a:cubicBezTo>
                <a:lnTo>
                  <a:pt x="3716357" y="2302530"/>
                </a:lnTo>
                <a:cubicBezTo>
                  <a:pt x="3716357" y="2363372"/>
                  <a:pt x="3667035" y="2412694"/>
                  <a:pt x="3606193" y="2412694"/>
                </a:cubicBezTo>
                <a:lnTo>
                  <a:pt x="110164" y="2412694"/>
                </a:lnTo>
                <a:cubicBezTo>
                  <a:pt x="49322" y="2412694"/>
                  <a:pt x="0" y="2363372"/>
                  <a:pt x="0" y="2302530"/>
                </a:cubicBezTo>
                <a:lnTo>
                  <a:pt x="0" y="110164"/>
                </a:lnTo>
                <a:cubicBezTo>
                  <a:pt x="0" y="49322"/>
                  <a:pt x="49322" y="0"/>
                  <a:pt x="110164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6256" y="1659875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3148" y="1806767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96527" y="-1076"/>
                </a:moveTo>
                <a:cubicBezTo>
                  <a:pt x="105048" y="-5982"/>
                  <a:pt x="115548" y="-5982"/>
                  <a:pt x="124069" y="-1076"/>
                </a:cubicBezTo>
                <a:lnTo>
                  <a:pt x="199767" y="42604"/>
                </a:lnTo>
                <a:cubicBezTo>
                  <a:pt x="208288" y="47510"/>
                  <a:pt x="213538" y="56634"/>
                  <a:pt x="213538" y="66445"/>
                </a:cubicBezTo>
                <a:lnTo>
                  <a:pt x="213538" y="153806"/>
                </a:lnTo>
                <a:cubicBezTo>
                  <a:pt x="213538" y="163661"/>
                  <a:pt x="208288" y="172741"/>
                  <a:pt x="199767" y="177647"/>
                </a:cubicBezTo>
                <a:lnTo>
                  <a:pt x="124069" y="221413"/>
                </a:lnTo>
                <a:cubicBezTo>
                  <a:pt x="115548" y="226319"/>
                  <a:pt x="105048" y="226319"/>
                  <a:pt x="96527" y="221413"/>
                </a:cubicBezTo>
                <a:lnTo>
                  <a:pt x="20872" y="177733"/>
                </a:lnTo>
                <a:cubicBezTo>
                  <a:pt x="12351" y="172827"/>
                  <a:pt x="7101" y="163704"/>
                  <a:pt x="7101" y="153892"/>
                </a:cubicBezTo>
                <a:lnTo>
                  <a:pt x="7101" y="66532"/>
                </a:lnTo>
                <a:cubicBezTo>
                  <a:pt x="7101" y="56677"/>
                  <a:pt x="12351" y="47596"/>
                  <a:pt x="20872" y="42690"/>
                </a:cubicBezTo>
                <a:lnTo>
                  <a:pt x="96527" y="-1076"/>
                </a:lnTo>
                <a:close/>
                <a:moveTo>
                  <a:pt x="185953" y="153849"/>
                </a:moveTo>
                <a:lnTo>
                  <a:pt x="185953" y="82368"/>
                </a:lnTo>
                <a:lnTo>
                  <a:pt x="124069" y="118087"/>
                </a:lnTo>
                <a:lnTo>
                  <a:pt x="124069" y="189568"/>
                </a:lnTo>
                <a:lnTo>
                  <a:pt x="185953" y="153849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426256" y="2284164"/>
            <a:ext cx="343359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Visualization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26256" y="2614670"/>
            <a:ext cx="3415229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3D starfield using Three.js technology creates immersive space exploration experience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26256" y="3202237"/>
            <a:ext cx="1175133" cy="257060"/>
          </a:xfrm>
          <a:custGeom>
            <a:avLst/>
            <a:gdLst/>
            <a:ahLst/>
            <a:cxnLst/>
            <a:rect l="l" t="t" r="r" b="b"/>
            <a:pathLst>
              <a:path w="1175133" h="257060">
                <a:moveTo>
                  <a:pt x="73445" y="0"/>
                </a:moveTo>
                <a:lnTo>
                  <a:pt x="1101688" y="0"/>
                </a:lnTo>
                <a:cubicBezTo>
                  <a:pt x="1142250" y="0"/>
                  <a:pt x="1175133" y="32882"/>
                  <a:pt x="1175133" y="73445"/>
                </a:cubicBezTo>
                <a:lnTo>
                  <a:pt x="1175133" y="183616"/>
                </a:lnTo>
                <a:cubicBezTo>
                  <a:pt x="1175133" y="224178"/>
                  <a:pt x="1142250" y="257060"/>
                  <a:pt x="1101688" y="257060"/>
                </a:cubicBezTo>
                <a:lnTo>
                  <a:pt x="73445" y="257060"/>
                </a:lnTo>
                <a:cubicBezTo>
                  <a:pt x="32909" y="257060"/>
                  <a:pt x="0" y="224151"/>
                  <a:pt x="0" y="183616"/>
                </a:cubicBezTo>
                <a:lnTo>
                  <a:pt x="0" y="73445"/>
                </a:lnTo>
                <a:cubicBezTo>
                  <a:pt x="0" y="32882"/>
                  <a:pt x="32882" y="0"/>
                  <a:pt x="7344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26256" y="3202237"/>
            <a:ext cx="1239398" cy="257060"/>
          </a:xfrm>
          <a:prstGeom prst="rect">
            <a:avLst/>
          </a:prstGeom>
          <a:noFill/>
          <a:ln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WebGL Powered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7152" y="1472588"/>
            <a:ext cx="3716357" cy="2412694"/>
          </a:xfrm>
          <a:custGeom>
            <a:avLst/>
            <a:gdLst/>
            <a:ahLst/>
            <a:cxnLst/>
            <a:rect l="l" t="t" r="r" b="b"/>
            <a:pathLst>
              <a:path w="3716357" h="2412694">
                <a:moveTo>
                  <a:pt x="110164" y="0"/>
                </a:moveTo>
                <a:lnTo>
                  <a:pt x="3606193" y="0"/>
                </a:lnTo>
                <a:cubicBezTo>
                  <a:pt x="3667035" y="0"/>
                  <a:pt x="3716357" y="49322"/>
                  <a:pt x="3716357" y="110164"/>
                </a:cubicBezTo>
                <a:lnTo>
                  <a:pt x="3716357" y="2302530"/>
                </a:lnTo>
                <a:cubicBezTo>
                  <a:pt x="3716357" y="2363372"/>
                  <a:pt x="3667035" y="2412694"/>
                  <a:pt x="3606193" y="2412694"/>
                </a:cubicBezTo>
                <a:lnTo>
                  <a:pt x="110164" y="2412694"/>
                </a:lnTo>
                <a:cubicBezTo>
                  <a:pt x="49322" y="2412694"/>
                  <a:pt x="0" y="2363372"/>
                  <a:pt x="0" y="2302530"/>
                </a:cubicBezTo>
                <a:lnTo>
                  <a:pt x="0" y="110164"/>
                </a:lnTo>
                <a:cubicBezTo>
                  <a:pt x="0" y="49322"/>
                  <a:pt x="49322" y="0"/>
                  <a:pt x="11016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4439" y="1659875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455102" y="1806767"/>
            <a:ext cx="192795" cy="220337"/>
          </a:xfrm>
          <a:custGeom>
            <a:avLst/>
            <a:gdLst/>
            <a:ahLst/>
            <a:cxnLst/>
            <a:rect l="l" t="t" r="r" b="b"/>
            <a:pathLst>
              <a:path w="192795" h="220337">
                <a:moveTo>
                  <a:pt x="145801" y="-4260"/>
                </a:moveTo>
                <a:cubicBezTo>
                  <a:pt x="150922" y="-559"/>
                  <a:pt x="152816" y="6154"/>
                  <a:pt x="150492" y="12007"/>
                </a:cubicBezTo>
                <a:lnTo>
                  <a:pt x="116753" y="96398"/>
                </a:lnTo>
                <a:lnTo>
                  <a:pt x="179024" y="96398"/>
                </a:lnTo>
                <a:cubicBezTo>
                  <a:pt x="184834" y="96398"/>
                  <a:pt x="189998" y="100013"/>
                  <a:pt x="191978" y="105478"/>
                </a:cubicBezTo>
                <a:cubicBezTo>
                  <a:pt x="193957" y="110943"/>
                  <a:pt x="192279" y="117054"/>
                  <a:pt x="187846" y="120755"/>
                </a:cubicBezTo>
                <a:lnTo>
                  <a:pt x="63906" y="224038"/>
                </a:lnTo>
                <a:cubicBezTo>
                  <a:pt x="59044" y="228084"/>
                  <a:pt x="52115" y="228299"/>
                  <a:pt x="46994" y="224598"/>
                </a:cubicBezTo>
                <a:cubicBezTo>
                  <a:pt x="41873" y="220897"/>
                  <a:pt x="39979" y="214183"/>
                  <a:pt x="42303" y="208331"/>
                </a:cubicBezTo>
                <a:lnTo>
                  <a:pt x="76042" y="123940"/>
                </a:lnTo>
                <a:lnTo>
                  <a:pt x="13771" y="123940"/>
                </a:lnTo>
                <a:cubicBezTo>
                  <a:pt x="7961" y="123940"/>
                  <a:pt x="2797" y="120325"/>
                  <a:pt x="818" y="114859"/>
                </a:cubicBezTo>
                <a:cubicBezTo>
                  <a:pt x="-1162" y="109394"/>
                  <a:pt x="516" y="103283"/>
                  <a:pt x="4949" y="99582"/>
                </a:cubicBezTo>
                <a:lnTo>
                  <a:pt x="128889" y="-3701"/>
                </a:lnTo>
                <a:cubicBezTo>
                  <a:pt x="133752" y="-7746"/>
                  <a:pt x="140680" y="-7961"/>
                  <a:pt x="145801" y="-426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94439" y="2284164"/>
            <a:ext cx="343359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94439" y="2614670"/>
            <a:ext cx="3415229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 for instant and batch predictions, supporting up to 100 planets per request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94439" y="3202237"/>
            <a:ext cx="1221036" cy="257060"/>
          </a:xfrm>
          <a:custGeom>
            <a:avLst/>
            <a:gdLst/>
            <a:ahLst/>
            <a:cxnLst/>
            <a:rect l="l" t="t" r="r" b="b"/>
            <a:pathLst>
              <a:path w="1221036" h="257060">
                <a:moveTo>
                  <a:pt x="73445" y="0"/>
                </a:moveTo>
                <a:lnTo>
                  <a:pt x="1147591" y="0"/>
                </a:lnTo>
                <a:cubicBezTo>
                  <a:pt x="1188154" y="0"/>
                  <a:pt x="1221036" y="32882"/>
                  <a:pt x="1221036" y="73445"/>
                </a:cubicBezTo>
                <a:lnTo>
                  <a:pt x="1221036" y="183616"/>
                </a:lnTo>
                <a:cubicBezTo>
                  <a:pt x="1221036" y="224178"/>
                  <a:pt x="1188154" y="257060"/>
                  <a:pt x="1147591" y="257060"/>
                </a:cubicBezTo>
                <a:lnTo>
                  <a:pt x="73445" y="257060"/>
                </a:lnTo>
                <a:cubicBezTo>
                  <a:pt x="32909" y="257060"/>
                  <a:pt x="0" y="224151"/>
                  <a:pt x="0" y="183616"/>
                </a:cubicBezTo>
                <a:lnTo>
                  <a:pt x="0" y="73445"/>
                </a:lnTo>
                <a:cubicBezTo>
                  <a:pt x="0" y="32882"/>
                  <a:pt x="32882" y="0"/>
                  <a:pt x="7344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94439" y="3202237"/>
            <a:ext cx="1285301" cy="257060"/>
          </a:xfrm>
          <a:prstGeom prst="rect">
            <a:avLst/>
          </a:prstGeom>
          <a:noFill/>
          <a:ln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&lt;100ms Response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0901" y="4076242"/>
            <a:ext cx="3716357" cy="2173995"/>
          </a:xfrm>
          <a:custGeom>
            <a:avLst/>
            <a:gdLst/>
            <a:ahLst/>
            <a:cxnLst/>
            <a:rect l="l" t="t" r="r" b="b"/>
            <a:pathLst>
              <a:path w="3716357" h="2173995">
                <a:moveTo>
                  <a:pt x="110178" y="0"/>
                </a:moveTo>
                <a:lnTo>
                  <a:pt x="3606179" y="0"/>
                </a:lnTo>
                <a:cubicBezTo>
                  <a:pt x="3667028" y="0"/>
                  <a:pt x="3716357" y="49328"/>
                  <a:pt x="3716357" y="110178"/>
                </a:cubicBezTo>
                <a:lnTo>
                  <a:pt x="3716357" y="2063817"/>
                </a:lnTo>
                <a:cubicBezTo>
                  <a:pt x="3716357" y="2124667"/>
                  <a:pt x="3667028" y="2173995"/>
                  <a:pt x="3606179" y="2173995"/>
                </a:cubicBezTo>
                <a:lnTo>
                  <a:pt x="110178" y="2173995"/>
                </a:lnTo>
                <a:cubicBezTo>
                  <a:pt x="49328" y="2173995"/>
                  <a:pt x="0" y="2124667"/>
                  <a:pt x="0" y="2063817"/>
                </a:cubicBezTo>
                <a:lnTo>
                  <a:pt x="0" y="110178"/>
                </a:lnTo>
                <a:cubicBezTo>
                  <a:pt x="0" y="49328"/>
                  <a:pt x="49328" y="0"/>
                  <a:pt x="110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8188" y="4263529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91308" y="4410421"/>
            <a:ext cx="247880" cy="220337"/>
          </a:xfrm>
          <a:custGeom>
            <a:avLst/>
            <a:gdLst/>
            <a:ahLst/>
            <a:cxnLst/>
            <a:rect l="l" t="t" r="r" b="b"/>
            <a:pathLst>
              <a:path w="247880" h="220337">
                <a:moveTo>
                  <a:pt x="20657" y="84262"/>
                </a:moveTo>
                <a:lnTo>
                  <a:pt x="110685" y="121315"/>
                </a:lnTo>
                <a:cubicBezTo>
                  <a:pt x="114902" y="123036"/>
                  <a:pt x="119378" y="123940"/>
                  <a:pt x="123940" y="123940"/>
                </a:cubicBezTo>
                <a:cubicBezTo>
                  <a:pt x="128501" y="123940"/>
                  <a:pt x="132977" y="123036"/>
                  <a:pt x="137194" y="121315"/>
                </a:cubicBezTo>
                <a:lnTo>
                  <a:pt x="241510" y="78366"/>
                </a:lnTo>
                <a:cubicBezTo>
                  <a:pt x="245384" y="76774"/>
                  <a:pt x="247880" y="73030"/>
                  <a:pt x="247880" y="68855"/>
                </a:cubicBezTo>
                <a:cubicBezTo>
                  <a:pt x="247880" y="64681"/>
                  <a:pt x="245384" y="60937"/>
                  <a:pt x="241510" y="59345"/>
                </a:cubicBezTo>
                <a:lnTo>
                  <a:pt x="137194" y="16396"/>
                </a:lnTo>
                <a:cubicBezTo>
                  <a:pt x="132977" y="14675"/>
                  <a:pt x="128501" y="13771"/>
                  <a:pt x="123940" y="13771"/>
                </a:cubicBezTo>
                <a:cubicBezTo>
                  <a:pt x="119378" y="13771"/>
                  <a:pt x="114902" y="14675"/>
                  <a:pt x="110685" y="16396"/>
                </a:cubicBezTo>
                <a:lnTo>
                  <a:pt x="6369" y="59345"/>
                </a:lnTo>
                <a:cubicBezTo>
                  <a:pt x="2496" y="60937"/>
                  <a:pt x="0" y="64681"/>
                  <a:pt x="0" y="68855"/>
                </a:cubicBezTo>
                <a:lnTo>
                  <a:pt x="0" y="196238"/>
                </a:lnTo>
                <a:cubicBezTo>
                  <a:pt x="0" y="201962"/>
                  <a:pt x="4605" y="206566"/>
                  <a:pt x="10328" y="206566"/>
                </a:cubicBezTo>
                <a:cubicBezTo>
                  <a:pt x="16052" y="206566"/>
                  <a:pt x="20657" y="201962"/>
                  <a:pt x="20657" y="196238"/>
                </a:cubicBezTo>
                <a:lnTo>
                  <a:pt x="20657" y="84262"/>
                </a:lnTo>
                <a:close/>
                <a:moveTo>
                  <a:pt x="41313" y="115118"/>
                </a:moveTo>
                <a:lnTo>
                  <a:pt x="41313" y="165253"/>
                </a:lnTo>
                <a:cubicBezTo>
                  <a:pt x="41313" y="188061"/>
                  <a:pt x="78323" y="206566"/>
                  <a:pt x="123940" y="206566"/>
                </a:cubicBezTo>
                <a:cubicBezTo>
                  <a:pt x="169556" y="206566"/>
                  <a:pt x="206566" y="188061"/>
                  <a:pt x="206566" y="165253"/>
                </a:cubicBezTo>
                <a:lnTo>
                  <a:pt x="206566" y="115075"/>
                </a:lnTo>
                <a:lnTo>
                  <a:pt x="145070" y="140422"/>
                </a:lnTo>
                <a:cubicBezTo>
                  <a:pt x="138356" y="143176"/>
                  <a:pt x="131213" y="144596"/>
                  <a:pt x="123940" y="144596"/>
                </a:cubicBezTo>
                <a:cubicBezTo>
                  <a:pt x="116667" y="144596"/>
                  <a:pt x="109523" y="143176"/>
                  <a:pt x="102810" y="140422"/>
                </a:cubicBezTo>
                <a:lnTo>
                  <a:pt x="41313" y="1150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58188" y="4887818"/>
            <a:ext cx="343359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Content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8188" y="5218324"/>
            <a:ext cx="3415229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about famous exoplanets, discovery methods, and the science behind habitability assessment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8188" y="5805891"/>
            <a:ext cx="936434" cy="257060"/>
          </a:xfrm>
          <a:custGeom>
            <a:avLst/>
            <a:gdLst/>
            <a:ahLst/>
            <a:cxnLst/>
            <a:rect l="l" t="t" r="r" b="b"/>
            <a:pathLst>
              <a:path w="936434" h="257060">
                <a:moveTo>
                  <a:pt x="73445" y="0"/>
                </a:moveTo>
                <a:lnTo>
                  <a:pt x="862989" y="0"/>
                </a:lnTo>
                <a:cubicBezTo>
                  <a:pt x="903551" y="0"/>
                  <a:pt x="936434" y="32882"/>
                  <a:pt x="936434" y="73445"/>
                </a:cubicBezTo>
                <a:lnTo>
                  <a:pt x="936434" y="183616"/>
                </a:lnTo>
                <a:cubicBezTo>
                  <a:pt x="936434" y="224178"/>
                  <a:pt x="903551" y="257060"/>
                  <a:pt x="862989" y="257060"/>
                </a:cubicBezTo>
                <a:lnTo>
                  <a:pt x="73445" y="257060"/>
                </a:lnTo>
                <a:cubicBezTo>
                  <a:pt x="32909" y="257060"/>
                  <a:pt x="0" y="224151"/>
                  <a:pt x="0" y="183616"/>
                </a:cubicBezTo>
                <a:lnTo>
                  <a:pt x="0" y="73445"/>
                </a:lnTo>
                <a:cubicBezTo>
                  <a:pt x="0" y="32882"/>
                  <a:pt x="32882" y="0"/>
                  <a:pt x="7344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58188" y="5805891"/>
            <a:ext cx="1000699" cy="257060"/>
          </a:xfrm>
          <a:prstGeom prst="rect">
            <a:avLst/>
          </a:prstGeom>
          <a:noFill/>
          <a:ln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Rich Content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38969" y="4076242"/>
            <a:ext cx="3716357" cy="2173995"/>
          </a:xfrm>
          <a:custGeom>
            <a:avLst/>
            <a:gdLst/>
            <a:ahLst/>
            <a:cxnLst/>
            <a:rect l="l" t="t" r="r" b="b"/>
            <a:pathLst>
              <a:path w="3716357" h="2173995">
                <a:moveTo>
                  <a:pt x="110178" y="0"/>
                </a:moveTo>
                <a:lnTo>
                  <a:pt x="3606179" y="0"/>
                </a:lnTo>
                <a:cubicBezTo>
                  <a:pt x="3667028" y="0"/>
                  <a:pt x="3716357" y="49328"/>
                  <a:pt x="3716357" y="110178"/>
                </a:cubicBezTo>
                <a:lnTo>
                  <a:pt x="3716357" y="2063817"/>
                </a:lnTo>
                <a:cubicBezTo>
                  <a:pt x="3716357" y="2124667"/>
                  <a:pt x="3667028" y="2173995"/>
                  <a:pt x="3606179" y="2173995"/>
                </a:cubicBezTo>
                <a:lnTo>
                  <a:pt x="110178" y="2173995"/>
                </a:lnTo>
                <a:cubicBezTo>
                  <a:pt x="49328" y="2173995"/>
                  <a:pt x="0" y="2124667"/>
                  <a:pt x="0" y="2063817"/>
                </a:cubicBezTo>
                <a:lnTo>
                  <a:pt x="0" y="110178"/>
                </a:lnTo>
                <a:cubicBezTo>
                  <a:pt x="0" y="49328"/>
                  <a:pt x="49328" y="0"/>
                  <a:pt x="110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26256" y="4263529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690" y="4410421"/>
            <a:ext cx="165253" cy="220337"/>
          </a:xfrm>
          <a:custGeom>
            <a:avLst/>
            <a:gdLst/>
            <a:ahLst/>
            <a:cxnLst/>
            <a:rect l="l" t="t" r="r" b="b"/>
            <a:pathLst>
              <a:path w="165253" h="220337">
                <a:moveTo>
                  <a:pt x="6886" y="27542"/>
                </a:moveTo>
                <a:cubicBezTo>
                  <a:pt x="6886" y="12351"/>
                  <a:pt x="19236" y="0"/>
                  <a:pt x="34428" y="0"/>
                </a:cubicBezTo>
                <a:lnTo>
                  <a:pt x="130825" y="0"/>
                </a:lnTo>
                <a:cubicBezTo>
                  <a:pt x="146017" y="0"/>
                  <a:pt x="158367" y="12351"/>
                  <a:pt x="158367" y="27542"/>
                </a:cubicBezTo>
                <a:lnTo>
                  <a:pt x="158367" y="192795"/>
                </a:lnTo>
                <a:cubicBezTo>
                  <a:pt x="158367" y="207986"/>
                  <a:pt x="146017" y="220337"/>
                  <a:pt x="130825" y="220337"/>
                </a:cubicBezTo>
                <a:lnTo>
                  <a:pt x="34428" y="220337"/>
                </a:lnTo>
                <a:cubicBezTo>
                  <a:pt x="19236" y="220337"/>
                  <a:pt x="6886" y="207986"/>
                  <a:pt x="6886" y="192795"/>
                </a:cubicBezTo>
                <a:lnTo>
                  <a:pt x="6886" y="27542"/>
                </a:lnTo>
                <a:close/>
                <a:moveTo>
                  <a:pt x="34428" y="27542"/>
                </a:moveTo>
                <a:lnTo>
                  <a:pt x="34428" y="158367"/>
                </a:lnTo>
                <a:lnTo>
                  <a:pt x="130825" y="158367"/>
                </a:lnTo>
                <a:lnTo>
                  <a:pt x="130825" y="27542"/>
                </a:lnTo>
                <a:lnTo>
                  <a:pt x="34428" y="27542"/>
                </a:lnTo>
                <a:close/>
                <a:moveTo>
                  <a:pt x="82627" y="203123"/>
                </a:moveTo>
                <a:cubicBezTo>
                  <a:pt x="90244" y="203123"/>
                  <a:pt x="96398" y="196970"/>
                  <a:pt x="96398" y="189352"/>
                </a:cubicBezTo>
                <a:cubicBezTo>
                  <a:pt x="96398" y="181735"/>
                  <a:pt x="90244" y="175581"/>
                  <a:pt x="82627" y="175581"/>
                </a:cubicBezTo>
                <a:cubicBezTo>
                  <a:pt x="75009" y="175581"/>
                  <a:pt x="68855" y="181735"/>
                  <a:pt x="68855" y="189352"/>
                </a:cubicBezTo>
                <a:cubicBezTo>
                  <a:pt x="68855" y="196970"/>
                  <a:pt x="75009" y="203123"/>
                  <a:pt x="82627" y="20312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4426256" y="4887818"/>
            <a:ext cx="343359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26256" y="5218324"/>
            <a:ext cx="3415229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Mobile-friendly interface with beautiful GSAP animations works seamlessly across all devices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26256" y="5805891"/>
            <a:ext cx="835446" cy="257060"/>
          </a:xfrm>
          <a:custGeom>
            <a:avLst/>
            <a:gdLst/>
            <a:ahLst/>
            <a:cxnLst/>
            <a:rect l="l" t="t" r="r" b="b"/>
            <a:pathLst>
              <a:path w="835446" h="257060">
                <a:moveTo>
                  <a:pt x="73445" y="0"/>
                </a:moveTo>
                <a:lnTo>
                  <a:pt x="762001" y="0"/>
                </a:lnTo>
                <a:cubicBezTo>
                  <a:pt x="802536" y="0"/>
                  <a:pt x="835446" y="32909"/>
                  <a:pt x="835446" y="73445"/>
                </a:cubicBezTo>
                <a:lnTo>
                  <a:pt x="835446" y="183616"/>
                </a:lnTo>
                <a:cubicBezTo>
                  <a:pt x="835446" y="224151"/>
                  <a:pt x="802536" y="257060"/>
                  <a:pt x="762001" y="257060"/>
                </a:cubicBezTo>
                <a:lnTo>
                  <a:pt x="73445" y="257060"/>
                </a:lnTo>
                <a:cubicBezTo>
                  <a:pt x="32909" y="257060"/>
                  <a:pt x="0" y="224151"/>
                  <a:pt x="0" y="183616"/>
                </a:cubicBezTo>
                <a:lnTo>
                  <a:pt x="0" y="73445"/>
                </a:lnTo>
                <a:cubicBezTo>
                  <a:pt x="0" y="32882"/>
                  <a:pt x="32882" y="0"/>
                  <a:pt x="7344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426256" y="5805891"/>
            <a:ext cx="899711" cy="257060"/>
          </a:xfrm>
          <a:prstGeom prst="rect">
            <a:avLst/>
          </a:prstGeom>
          <a:noFill/>
          <a:ln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Devices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7152" y="4076242"/>
            <a:ext cx="3716357" cy="2173995"/>
          </a:xfrm>
          <a:custGeom>
            <a:avLst/>
            <a:gdLst/>
            <a:ahLst/>
            <a:cxnLst/>
            <a:rect l="l" t="t" r="r" b="b"/>
            <a:pathLst>
              <a:path w="3716357" h="2173995">
                <a:moveTo>
                  <a:pt x="110178" y="0"/>
                </a:moveTo>
                <a:lnTo>
                  <a:pt x="3606179" y="0"/>
                </a:lnTo>
                <a:cubicBezTo>
                  <a:pt x="3667028" y="0"/>
                  <a:pt x="3716357" y="49328"/>
                  <a:pt x="3716357" y="110178"/>
                </a:cubicBezTo>
                <a:lnTo>
                  <a:pt x="3716357" y="2063817"/>
                </a:lnTo>
                <a:cubicBezTo>
                  <a:pt x="3716357" y="2124667"/>
                  <a:pt x="3667028" y="2173995"/>
                  <a:pt x="3606179" y="2173995"/>
                </a:cubicBezTo>
                <a:lnTo>
                  <a:pt x="110178" y="2173995"/>
                </a:lnTo>
                <a:cubicBezTo>
                  <a:pt x="49328" y="2173995"/>
                  <a:pt x="0" y="2124667"/>
                  <a:pt x="0" y="2063817"/>
                </a:cubicBezTo>
                <a:lnTo>
                  <a:pt x="0" y="110178"/>
                </a:lnTo>
                <a:cubicBezTo>
                  <a:pt x="0" y="49328"/>
                  <a:pt x="49328" y="0"/>
                  <a:pt x="11017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4439" y="4263529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41331" y="4410421"/>
            <a:ext cx="220337" cy="220337"/>
          </a:xfrm>
          <a:custGeom>
            <a:avLst/>
            <a:gdLst/>
            <a:ahLst/>
            <a:cxnLst/>
            <a:rect l="l" t="t" r="r" b="b"/>
            <a:pathLst>
              <a:path w="220337" h="220337">
                <a:moveTo>
                  <a:pt x="13771" y="13771"/>
                </a:moveTo>
                <a:cubicBezTo>
                  <a:pt x="21388" y="13771"/>
                  <a:pt x="27542" y="19925"/>
                  <a:pt x="27542" y="27542"/>
                </a:cubicBezTo>
                <a:lnTo>
                  <a:pt x="27542" y="172139"/>
                </a:lnTo>
                <a:cubicBezTo>
                  <a:pt x="27542" y="175926"/>
                  <a:pt x="30641" y="179024"/>
                  <a:pt x="34428" y="179024"/>
                </a:cubicBezTo>
                <a:lnTo>
                  <a:pt x="206566" y="179024"/>
                </a:lnTo>
                <a:cubicBezTo>
                  <a:pt x="214183" y="179024"/>
                  <a:pt x="220337" y="185178"/>
                  <a:pt x="220337" y="192795"/>
                </a:cubicBezTo>
                <a:cubicBezTo>
                  <a:pt x="220337" y="200412"/>
                  <a:pt x="214183" y="206566"/>
                  <a:pt x="206566" y="206566"/>
                </a:cubicBezTo>
                <a:lnTo>
                  <a:pt x="34428" y="206566"/>
                </a:lnTo>
                <a:cubicBezTo>
                  <a:pt x="15406" y="206566"/>
                  <a:pt x="0" y="191160"/>
                  <a:pt x="0" y="172139"/>
                </a:cubicBezTo>
                <a:lnTo>
                  <a:pt x="0" y="27542"/>
                </a:lnTo>
                <a:cubicBezTo>
                  <a:pt x="0" y="19925"/>
                  <a:pt x="6154" y="13771"/>
                  <a:pt x="13771" y="13771"/>
                </a:cubicBezTo>
                <a:close/>
                <a:moveTo>
                  <a:pt x="55084" y="41313"/>
                </a:moveTo>
                <a:cubicBezTo>
                  <a:pt x="55084" y="33696"/>
                  <a:pt x="61238" y="27542"/>
                  <a:pt x="68855" y="27542"/>
                </a:cubicBezTo>
                <a:lnTo>
                  <a:pt x="151482" y="27542"/>
                </a:lnTo>
                <a:cubicBezTo>
                  <a:pt x="159099" y="27542"/>
                  <a:pt x="165253" y="33696"/>
                  <a:pt x="165253" y="41313"/>
                </a:cubicBezTo>
                <a:cubicBezTo>
                  <a:pt x="165253" y="48930"/>
                  <a:pt x="159099" y="55084"/>
                  <a:pt x="151482" y="55084"/>
                </a:cubicBezTo>
                <a:lnTo>
                  <a:pt x="68855" y="55084"/>
                </a:lnTo>
                <a:cubicBezTo>
                  <a:pt x="61238" y="55084"/>
                  <a:pt x="55084" y="48930"/>
                  <a:pt x="55084" y="41313"/>
                </a:cubicBezTo>
                <a:close/>
                <a:moveTo>
                  <a:pt x="68855" y="75741"/>
                </a:moveTo>
                <a:lnTo>
                  <a:pt x="123940" y="75741"/>
                </a:lnTo>
                <a:cubicBezTo>
                  <a:pt x="131557" y="75741"/>
                  <a:pt x="137711" y="81895"/>
                  <a:pt x="137711" y="89512"/>
                </a:cubicBezTo>
                <a:cubicBezTo>
                  <a:pt x="137711" y="97129"/>
                  <a:pt x="131557" y="103283"/>
                  <a:pt x="123940" y="103283"/>
                </a:cubicBezTo>
                <a:lnTo>
                  <a:pt x="68855" y="103283"/>
                </a:lnTo>
                <a:cubicBezTo>
                  <a:pt x="61238" y="103283"/>
                  <a:pt x="55084" y="97129"/>
                  <a:pt x="55084" y="89512"/>
                </a:cubicBezTo>
                <a:cubicBezTo>
                  <a:pt x="55084" y="81895"/>
                  <a:pt x="61238" y="75741"/>
                  <a:pt x="68855" y="75741"/>
                </a:cubicBezTo>
                <a:close/>
                <a:moveTo>
                  <a:pt x="68855" y="123940"/>
                </a:moveTo>
                <a:lnTo>
                  <a:pt x="179024" y="123940"/>
                </a:lnTo>
                <a:cubicBezTo>
                  <a:pt x="186641" y="123940"/>
                  <a:pt x="192795" y="130094"/>
                  <a:pt x="192795" y="137711"/>
                </a:cubicBezTo>
                <a:cubicBezTo>
                  <a:pt x="192795" y="145328"/>
                  <a:pt x="186641" y="151482"/>
                  <a:pt x="179024" y="151482"/>
                </a:cubicBezTo>
                <a:lnTo>
                  <a:pt x="68855" y="151482"/>
                </a:lnTo>
                <a:cubicBezTo>
                  <a:pt x="61238" y="151482"/>
                  <a:pt x="55084" y="145328"/>
                  <a:pt x="55084" y="137711"/>
                </a:cubicBezTo>
                <a:cubicBezTo>
                  <a:pt x="55084" y="130094"/>
                  <a:pt x="61238" y="123940"/>
                  <a:pt x="68855" y="12394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294439" y="4887818"/>
            <a:ext cx="3433590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Visualization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94439" y="5218324"/>
            <a:ext cx="3415229" cy="477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showing planetary data, statistics, and habitability distributions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94439" y="5805891"/>
            <a:ext cx="642651" cy="257060"/>
          </a:xfrm>
          <a:custGeom>
            <a:avLst/>
            <a:gdLst/>
            <a:ahLst/>
            <a:cxnLst/>
            <a:rect l="l" t="t" r="r" b="b"/>
            <a:pathLst>
              <a:path w="642651" h="257060">
                <a:moveTo>
                  <a:pt x="73445" y="0"/>
                </a:moveTo>
                <a:lnTo>
                  <a:pt x="569206" y="0"/>
                </a:lnTo>
                <a:cubicBezTo>
                  <a:pt x="609741" y="0"/>
                  <a:pt x="642651" y="32909"/>
                  <a:pt x="642651" y="73445"/>
                </a:cubicBezTo>
                <a:lnTo>
                  <a:pt x="642651" y="183616"/>
                </a:lnTo>
                <a:cubicBezTo>
                  <a:pt x="642651" y="224151"/>
                  <a:pt x="609741" y="257060"/>
                  <a:pt x="569206" y="257060"/>
                </a:cubicBezTo>
                <a:lnTo>
                  <a:pt x="73445" y="257060"/>
                </a:lnTo>
                <a:cubicBezTo>
                  <a:pt x="32909" y="257060"/>
                  <a:pt x="0" y="224151"/>
                  <a:pt x="0" y="183616"/>
                </a:cubicBezTo>
                <a:lnTo>
                  <a:pt x="0" y="73445"/>
                </a:lnTo>
                <a:cubicBezTo>
                  <a:pt x="0" y="32882"/>
                  <a:pt x="32882" y="0"/>
                  <a:pt x="7344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94439" y="5805891"/>
            <a:ext cx="706916" cy="257060"/>
          </a:xfrm>
          <a:prstGeom prst="rect">
            <a:avLst/>
          </a:prstGeom>
          <a:noFill/>
          <a:ln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527810"/>
            <a:ext cx="5608320" cy="3055620"/>
          </a:xfrm>
          <a:custGeom>
            <a:avLst/>
            <a:gdLst/>
            <a:ahLst/>
            <a:cxnLst/>
            <a:rect l="l" t="t" r="r" b="b"/>
            <a:pathLst>
              <a:path w="5608320" h="3055620">
                <a:moveTo>
                  <a:pt x="114311" y="0"/>
                </a:moveTo>
                <a:lnTo>
                  <a:pt x="5494009" y="0"/>
                </a:lnTo>
                <a:cubicBezTo>
                  <a:pt x="5557141" y="0"/>
                  <a:pt x="5608320" y="51179"/>
                  <a:pt x="5608320" y="114311"/>
                </a:cubicBezTo>
                <a:lnTo>
                  <a:pt x="5608320" y="2941309"/>
                </a:lnTo>
                <a:cubicBezTo>
                  <a:pt x="5608320" y="3004441"/>
                  <a:pt x="5557141" y="3055620"/>
                  <a:pt x="5494009" y="3055620"/>
                </a:cubicBezTo>
                <a:lnTo>
                  <a:pt x="114311" y="3055620"/>
                </a:lnTo>
                <a:cubicBezTo>
                  <a:pt x="51179" y="3055620"/>
                  <a:pt x="0" y="3004441"/>
                  <a:pt x="0" y="2941309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7221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07708" y="18364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50620" y="1798323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7695" y="23698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83920" y="2331723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3.8+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7695" y="26746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83920" y="2636523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Framework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8170" y="29794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83920" y="2941323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 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7695" y="32842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-9525"/>
                </a:moveTo>
                <a:cubicBezTo>
                  <a:pt x="68759" y="-9525"/>
                  <a:pt x="70753" y="-8602"/>
                  <a:pt x="72122" y="-6995"/>
                </a:cubicBezTo>
                <a:lnTo>
                  <a:pt x="112603" y="40630"/>
                </a:lnTo>
                <a:cubicBezTo>
                  <a:pt x="114419" y="42743"/>
                  <a:pt x="114806" y="45720"/>
                  <a:pt x="113645" y="48250"/>
                </a:cubicBezTo>
                <a:cubicBezTo>
                  <a:pt x="112484" y="50780"/>
                  <a:pt x="109954" y="52388"/>
                  <a:pt x="107156" y="52388"/>
                </a:cubicBezTo>
                <a:lnTo>
                  <a:pt x="99745" y="52388"/>
                </a:lnTo>
                <a:lnTo>
                  <a:pt x="122128" y="78730"/>
                </a:lnTo>
                <a:cubicBezTo>
                  <a:pt x="123944" y="80843"/>
                  <a:pt x="124331" y="83820"/>
                  <a:pt x="123170" y="86350"/>
                </a:cubicBezTo>
                <a:cubicBezTo>
                  <a:pt x="122009" y="88880"/>
                  <a:pt x="119479" y="90488"/>
                  <a:pt x="116681" y="90488"/>
                </a:cubicBezTo>
                <a:lnTo>
                  <a:pt x="105221" y="90488"/>
                </a:lnTo>
                <a:lnTo>
                  <a:pt x="131653" y="121593"/>
                </a:lnTo>
                <a:cubicBezTo>
                  <a:pt x="133469" y="123706"/>
                  <a:pt x="133856" y="126683"/>
                  <a:pt x="132695" y="129213"/>
                </a:cubicBezTo>
                <a:cubicBezTo>
                  <a:pt x="131534" y="131743"/>
                  <a:pt x="129004" y="133350"/>
                  <a:pt x="126206" y="133350"/>
                </a:cubicBezTo>
                <a:lnTo>
                  <a:pt x="76200" y="133350"/>
                </a:lnTo>
                <a:lnTo>
                  <a:pt x="76200" y="152400"/>
                </a:lnTo>
                <a:cubicBezTo>
                  <a:pt x="76200" y="157669"/>
                  <a:pt x="71944" y="161925"/>
                  <a:pt x="66675" y="161925"/>
                </a:cubicBezTo>
                <a:cubicBezTo>
                  <a:pt x="61406" y="161925"/>
                  <a:pt x="57150" y="157669"/>
                  <a:pt x="57150" y="152400"/>
                </a:cubicBezTo>
                <a:lnTo>
                  <a:pt x="57150" y="133350"/>
                </a:lnTo>
                <a:lnTo>
                  <a:pt x="7144" y="133350"/>
                </a:lnTo>
                <a:cubicBezTo>
                  <a:pt x="4346" y="133350"/>
                  <a:pt x="1816" y="131743"/>
                  <a:pt x="655" y="129213"/>
                </a:cubicBezTo>
                <a:cubicBezTo>
                  <a:pt x="-506" y="126683"/>
                  <a:pt x="-119" y="123706"/>
                  <a:pt x="1697" y="121593"/>
                </a:cubicBezTo>
                <a:lnTo>
                  <a:pt x="28129" y="90488"/>
                </a:lnTo>
                <a:lnTo>
                  <a:pt x="16669" y="90488"/>
                </a:lnTo>
                <a:cubicBezTo>
                  <a:pt x="13871" y="90488"/>
                  <a:pt x="11341" y="88880"/>
                  <a:pt x="10180" y="86350"/>
                </a:cubicBezTo>
                <a:cubicBezTo>
                  <a:pt x="9019" y="83820"/>
                  <a:pt x="9406" y="80843"/>
                  <a:pt x="11222" y="78730"/>
                </a:cubicBezTo>
                <a:lnTo>
                  <a:pt x="33605" y="52388"/>
                </a:lnTo>
                <a:lnTo>
                  <a:pt x="26194" y="52388"/>
                </a:lnTo>
                <a:cubicBezTo>
                  <a:pt x="23396" y="52388"/>
                  <a:pt x="20866" y="50780"/>
                  <a:pt x="19705" y="48250"/>
                </a:cubicBezTo>
                <a:cubicBezTo>
                  <a:pt x="18544" y="45720"/>
                  <a:pt x="18931" y="42743"/>
                  <a:pt x="20747" y="40630"/>
                </a:cubicBezTo>
                <a:lnTo>
                  <a:pt x="61228" y="-6995"/>
                </a:lnTo>
                <a:cubicBezTo>
                  <a:pt x="62597" y="-8602"/>
                  <a:pt x="64591" y="-9525"/>
                  <a:pt x="66675" y="-95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20" y="3246123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7695" y="35890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51584"/>
                </a:lnTo>
                <a:cubicBezTo>
                  <a:pt x="133350" y="46524"/>
                  <a:pt x="131356" y="41672"/>
                  <a:pt x="127784" y="38100"/>
                </a:cubicBezTo>
                <a:lnTo>
                  <a:pt x="104775" y="15091"/>
                </a:lnTo>
                <a:cubicBezTo>
                  <a:pt x="101203" y="11519"/>
                  <a:pt x="96351" y="9525"/>
                  <a:pt x="91291" y="9525"/>
                </a:cubicBezTo>
                <a:lnTo>
                  <a:pt x="19050" y="9525"/>
                </a:lnTo>
                <a:close/>
                <a:moveTo>
                  <a:pt x="28575" y="38100"/>
                </a:moveTo>
                <a:cubicBezTo>
                  <a:pt x="28575" y="32831"/>
                  <a:pt x="32831" y="28575"/>
                  <a:pt x="38100" y="28575"/>
                </a:cubicBezTo>
                <a:lnTo>
                  <a:pt x="85725" y="28575"/>
                </a:lnTo>
                <a:cubicBezTo>
                  <a:pt x="90994" y="28575"/>
                  <a:pt x="95250" y="32831"/>
                  <a:pt x="95250" y="38100"/>
                </a:cubicBezTo>
                <a:lnTo>
                  <a:pt x="95250" y="57150"/>
                </a:lnTo>
                <a:cubicBezTo>
                  <a:pt x="95250" y="62419"/>
                  <a:pt x="90994" y="66675"/>
                  <a:pt x="85725" y="66675"/>
                </a:cubicBezTo>
                <a:lnTo>
                  <a:pt x="38100" y="66675"/>
                </a:lnTo>
                <a:cubicBezTo>
                  <a:pt x="32831" y="66675"/>
                  <a:pt x="28575" y="62419"/>
                  <a:pt x="28575" y="57150"/>
                </a:cubicBezTo>
                <a:lnTo>
                  <a:pt x="28575" y="38100"/>
                </a:lnTo>
                <a:close/>
                <a:moveTo>
                  <a:pt x="66675" y="85725"/>
                </a:moveTo>
                <a:cubicBezTo>
                  <a:pt x="77189" y="85725"/>
                  <a:pt x="85725" y="94261"/>
                  <a:pt x="85725" y="104775"/>
                </a:cubicBezTo>
                <a:cubicBezTo>
                  <a:pt x="85725" y="115289"/>
                  <a:pt x="77189" y="123825"/>
                  <a:pt x="66675" y="123825"/>
                </a:cubicBezTo>
                <a:cubicBezTo>
                  <a:pt x="56161" y="123825"/>
                  <a:pt x="47625" y="115289"/>
                  <a:pt x="47625" y="104775"/>
                </a:cubicBezTo>
                <a:cubicBezTo>
                  <a:pt x="47625" y="94261"/>
                  <a:pt x="56161" y="85725"/>
                  <a:pt x="66675" y="85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83920" y="3550923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Joblib Serialization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7695" y="38938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83920" y="3855723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/ NumPy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8170" y="4198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83920" y="4160523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Flask-CORS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5060" y="1527810"/>
            <a:ext cx="5608320" cy="3055620"/>
          </a:xfrm>
          <a:custGeom>
            <a:avLst/>
            <a:gdLst/>
            <a:ahLst/>
            <a:cxnLst/>
            <a:rect l="l" t="t" r="r" b="b"/>
            <a:pathLst>
              <a:path w="5608320" h="3055620">
                <a:moveTo>
                  <a:pt x="114311" y="0"/>
                </a:moveTo>
                <a:lnTo>
                  <a:pt x="5494009" y="0"/>
                </a:lnTo>
                <a:cubicBezTo>
                  <a:pt x="5557141" y="0"/>
                  <a:pt x="5608320" y="51179"/>
                  <a:pt x="5608320" y="114311"/>
                </a:cubicBezTo>
                <a:lnTo>
                  <a:pt x="5608320" y="2941309"/>
                </a:lnTo>
                <a:cubicBezTo>
                  <a:pt x="5608320" y="3004441"/>
                  <a:pt x="5557141" y="3055620"/>
                  <a:pt x="5494009" y="3055620"/>
                </a:cubicBezTo>
                <a:lnTo>
                  <a:pt x="114311" y="3055620"/>
                </a:lnTo>
                <a:cubicBezTo>
                  <a:pt x="51179" y="3055620"/>
                  <a:pt x="0" y="3004441"/>
                  <a:pt x="0" y="2941309"/>
                </a:cubicBezTo>
                <a:lnTo>
                  <a:pt x="0" y="114311"/>
                </a:lnTo>
                <a:cubicBezTo>
                  <a:pt x="0" y="51221"/>
                  <a:pt x="51221" y="0"/>
                  <a:pt x="114311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9370" y="17221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03670" y="18364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960870" y="1798323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7470" y="23698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9525"/>
                </a:moveTo>
                <a:lnTo>
                  <a:pt x="10388" y="127337"/>
                </a:lnTo>
                <a:lnTo>
                  <a:pt x="57001" y="142875"/>
                </a:lnTo>
                <a:lnTo>
                  <a:pt x="103912" y="127337"/>
                </a:lnTo>
                <a:lnTo>
                  <a:pt x="114300" y="9525"/>
                </a:lnTo>
                <a:lnTo>
                  <a:pt x="0" y="9525"/>
                </a:lnTo>
                <a:close/>
                <a:moveTo>
                  <a:pt x="91738" y="47595"/>
                </a:moveTo>
                <a:lnTo>
                  <a:pt x="37028" y="47595"/>
                </a:lnTo>
                <a:lnTo>
                  <a:pt x="38249" y="62299"/>
                </a:lnTo>
                <a:lnTo>
                  <a:pt x="90517" y="62299"/>
                </a:lnTo>
                <a:lnTo>
                  <a:pt x="86469" y="106472"/>
                </a:lnTo>
                <a:lnTo>
                  <a:pt x="57329" y="114508"/>
                </a:lnTo>
                <a:lnTo>
                  <a:pt x="57329" y="114598"/>
                </a:lnTo>
                <a:lnTo>
                  <a:pt x="57001" y="114598"/>
                </a:lnTo>
                <a:lnTo>
                  <a:pt x="27622" y="106472"/>
                </a:lnTo>
                <a:lnTo>
                  <a:pt x="25837" y="83909"/>
                </a:lnTo>
                <a:lnTo>
                  <a:pt x="40035" y="83909"/>
                </a:lnTo>
                <a:lnTo>
                  <a:pt x="41077" y="95250"/>
                </a:lnTo>
                <a:lnTo>
                  <a:pt x="57001" y="99566"/>
                </a:lnTo>
                <a:lnTo>
                  <a:pt x="72985" y="95250"/>
                </a:lnTo>
                <a:lnTo>
                  <a:pt x="74771" y="76736"/>
                </a:lnTo>
                <a:lnTo>
                  <a:pt x="25092" y="76736"/>
                </a:lnTo>
                <a:lnTo>
                  <a:pt x="21282" y="33397"/>
                </a:lnTo>
                <a:lnTo>
                  <a:pt x="93047" y="33397"/>
                </a:lnTo>
                <a:lnTo>
                  <a:pt x="91738" y="4759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694170" y="2331723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 / CSS3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7945" y="267462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9525"/>
                </a:moveTo>
                <a:lnTo>
                  <a:pt x="0" y="142875"/>
                </a:lnTo>
                <a:lnTo>
                  <a:pt x="133350" y="142875"/>
                </a:lnTo>
                <a:lnTo>
                  <a:pt x="133350" y="9525"/>
                </a:lnTo>
                <a:lnTo>
                  <a:pt x="0" y="9525"/>
                </a:lnTo>
                <a:close/>
                <a:moveTo>
                  <a:pt x="72569" y="113526"/>
                </a:moveTo>
                <a:cubicBezTo>
                  <a:pt x="72569" y="126504"/>
                  <a:pt x="64949" y="132427"/>
                  <a:pt x="53846" y="132427"/>
                </a:cubicBezTo>
                <a:cubicBezTo>
                  <a:pt x="43815" y="132427"/>
                  <a:pt x="38011" y="127248"/>
                  <a:pt x="35034" y="120967"/>
                </a:cubicBezTo>
                <a:lnTo>
                  <a:pt x="45244" y="114806"/>
                </a:lnTo>
                <a:cubicBezTo>
                  <a:pt x="47208" y="118289"/>
                  <a:pt x="48994" y="121235"/>
                  <a:pt x="53310" y="121235"/>
                </a:cubicBezTo>
                <a:cubicBezTo>
                  <a:pt x="57418" y="121235"/>
                  <a:pt x="60037" y="119628"/>
                  <a:pt x="60037" y="113348"/>
                </a:cubicBezTo>
                <a:lnTo>
                  <a:pt x="60037" y="70753"/>
                </a:lnTo>
                <a:lnTo>
                  <a:pt x="72569" y="70753"/>
                </a:lnTo>
                <a:lnTo>
                  <a:pt x="72569" y="113526"/>
                </a:lnTo>
                <a:close/>
                <a:moveTo>
                  <a:pt x="102215" y="132427"/>
                </a:moveTo>
                <a:cubicBezTo>
                  <a:pt x="90577" y="132427"/>
                  <a:pt x="83046" y="126891"/>
                  <a:pt x="79385" y="119628"/>
                </a:cubicBezTo>
                <a:lnTo>
                  <a:pt x="89595" y="113734"/>
                </a:lnTo>
                <a:cubicBezTo>
                  <a:pt x="92273" y="118110"/>
                  <a:pt x="95786" y="121354"/>
                  <a:pt x="101947" y="121354"/>
                </a:cubicBezTo>
                <a:cubicBezTo>
                  <a:pt x="107126" y="121354"/>
                  <a:pt x="110460" y="118765"/>
                  <a:pt x="110460" y="115163"/>
                </a:cubicBezTo>
                <a:cubicBezTo>
                  <a:pt x="110460" y="110877"/>
                  <a:pt x="107067" y="109359"/>
                  <a:pt x="101322" y="106829"/>
                </a:cubicBezTo>
                <a:lnTo>
                  <a:pt x="98197" y="105489"/>
                </a:lnTo>
                <a:cubicBezTo>
                  <a:pt x="89148" y="101650"/>
                  <a:pt x="83165" y="96798"/>
                  <a:pt x="83165" y="86588"/>
                </a:cubicBezTo>
                <a:cubicBezTo>
                  <a:pt x="83165" y="77182"/>
                  <a:pt x="90339" y="70039"/>
                  <a:pt x="101501" y="70039"/>
                </a:cubicBezTo>
                <a:cubicBezTo>
                  <a:pt x="109478" y="70039"/>
                  <a:pt x="115193" y="72807"/>
                  <a:pt x="119301" y="80070"/>
                </a:cubicBezTo>
                <a:lnTo>
                  <a:pt x="109537" y="86320"/>
                </a:lnTo>
                <a:cubicBezTo>
                  <a:pt x="107394" y="82481"/>
                  <a:pt x="105073" y="80962"/>
                  <a:pt x="101471" y="80962"/>
                </a:cubicBezTo>
                <a:cubicBezTo>
                  <a:pt x="97810" y="80962"/>
                  <a:pt x="95488" y="83284"/>
                  <a:pt x="95488" y="86320"/>
                </a:cubicBezTo>
                <a:cubicBezTo>
                  <a:pt x="95488" y="90071"/>
                  <a:pt x="97810" y="91589"/>
                  <a:pt x="103197" y="93940"/>
                </a:cubicBezTo>
                <a:lnTo>
                  <a:pt x="106323" y="95280"/>
                </a:lnTo>
                <a:cubicBezTo>
                  <a:pt x="116979" y="99834"/>
                  <a:pt x="122962" y="104507"/>
                  <a:pt x="122962" y="114985"/>
                </a:cubicBezTo>
                <a:cubicBezTo>
                  <a:pt x="122962" y="126236"/>
                  <a:pt x="114092" y="132427"/>
                  <a:pt x="102215" y="132427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694170" y="2636523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ES6+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8420" y="29794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694170" y="2941323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Three.js 3D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8420" y="32842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6694170" y="3246123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Chart.js Charts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8420" y="35890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6694170" y="3550923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GSAP Animations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7470" y="389382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6694170" y="3855723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8420" y="4198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4862" y="15091"/>
                </a:moveTo>
                <a:cubicBezTo>
                  <a:pt x="83314" y="11698"/>
                  <a:pt x="79921" y="9525"/>
                  <a:pt x="76200" y="9525"/>
                </a:cubicBezTo>
                <a:cubicBezTo>
                  <a:pt x="72479" y="9525"/>
                  <a:pt x="69086" y="11698"/>
                  <a:pt x="67538" y="15091"/>
                </a:cubicBezTo>
                <a:lnTo>
                  <a:pt x="17711" y="123825"/>
                </a:lnTo>
                <a:lnTo>
                  <a:pt x="14288" y="123825"/>
                </a:lnTo>
                <a:cubicBezTo>
                  <a:pt x="9019" y="123825"/>
                  <a:pt x="4763" y="128081"/>
                  <a:pt x="4763" y="133350"/>
                </a:cubicBezTo>
                <a:cubicBezTo>
                  <a:pt x="4763" y="138619"/>
                  <a:pt x="9019" y="142875"/>
                  <a:pt x="14288" y="142875"/>
                </a:cubicBezTo>
                <a:lnTo>
                  <a:pt x="40481" y="142875"/>
                </a:lnTo>
                <a:cubicBezTo>
                  <a:pt x="45750" y="142875"/>
                  <a:pt x="50006" y="138619"/>
                  <a:pt x="50006" y="133350"/>
                </a:cubicBezTo>
                <a:cubicBezTo>
                  <a:pt x="50006" y="128081"/>
                  <a:pt x="45750" y="123825"/>
                  <a:pt x="40481" y="123825"/>
                </a:cubicBezTo>
                <a:lnTo>
                  <a:pt x="38666" y="123825"/>
                </a:lnTo>
                <a:lnTo>
                  <a:pt x="45214" y="109537"/>
                </a:lnTo>
                <a:lnTo>
                  <a:pt x="107216" y="109537"/>
                </a:lnTo>
                <a:lnTo>
                  <a:pt x="113764" y="123825"/>
                </a:lnTo>
                <a:lnTo>
                  <a:pt x="111949" y="123825"/>
                </a:lnTo>
                <a:cubicBezTo>
                  <a:pt x="106680" y="123825"/>
                  <a:pt x="102424" y="128081"/>
                  <a:pt x="102424" y="133350"/>
                </a:cubicBezTo>
                <a:cubicBezTo>
                  <a:pt x="102424" y="138619"/>
                  <a:pt x="106680" y="142875"/>
                  <a:pt x="111949" y="142875"/>
                </a:cubicBezTo>
                <a:lnTo>
                  <a:pt x="138142" y="142875"/>
                </a:lnTo>
                <a:cubicBezTo>
                  <a:pt x="143411" y="142875"/>
                  <a:pt x="147667" y="138619"/>
                  <a:pt x="147667" y="133350"/>
                </a:cubicBezTo>
                <a:cubicBezTo>
                  <a:pt x="147667" y="128081"/>
                  <a:pt x="143411" y="123825"/>
                  <a:pt x="138142" y="123825"/>
                </a:cubicBezTo>
                <a:lnTo>
                  <a:pt x="134719" y="123825"/>
                </a:lnTo>
                <a:lnTo>
                  <a:pt x="84892" y="15091"/>
                </a:lnTo>
                <a:close/>
                <a:moveTo>
                  <a:pt x="98465" y="90488"/>
                </a:moveTo>
                <a:lnTo>
                  <a:pt x="53935" y="90488"/>
                </a:lnTo>
                <a:lnTo>
                  <a:pt x="76200" y="41910"/>
                </a:lnTo>
                <a:lnTo>
                  <a:pt x="98465" y="9048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6694170" y="4160523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Orbitron / Exo 2 Fonts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4810" y="4781551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807717"/>
                </a:lnTo>
                <a:cubicBezTo>
                  <a:pt x="11418570" y="870845"/>
                  <a:pt x="11367395" y="922020"/>
                  <a:pt x="113042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9120" y="497585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7233" y="512825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1264920" y="4994909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Platform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64920" y="5185409"/>
            <a:ext cx="1476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 Cloud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860477" y="4994909"/>
            <a:ext cx="7620" cy="495300"/>
          </a:xfrm>
          <a:custGeom>
            <a:avLst/>
            <a:gdLst/>
            <a:ahLst/>
            <a:cxnLst/>
            <a:rect l="l" t="t" r="r" b="b"/>
            <a:pathLst>
              <a:path w="7620" h="495300">
                <a:moveTo>
                  <a:pt x="0" y="0"/>
                </a:moveTo>
                <a:lnTo>
                  <a:pt x="7620" y="0"/>
                </a:lnTo>
                <a:lnTo>
                  <a:pt x="762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3035737" y="4994909"/>
            <a:ext cx="2847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059549" y="5299593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from Git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26455" y="4994909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50268" y="5299593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Available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817293" y="4994909"/>
            <a:ext cx="2847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41105" y="5299593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Network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a6da74ed29195cacf872741cf03e7a159868768.jpg"/>
          <p:cNvPicPr>
            <a:picLocks noChangeAspect="1"/>
          </p:cNvPicPr>
          <p:nvPr/>
        </p:nvPicPr>
        <p:blipFill>
          <a:blip r:embed="rId3">
            <a:alphaModFix amt="5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B0F19">
                  <a:alpha val="95000"/>
                </a:srgbClr>
              </a:gs>
              <a:gs pos="50000">
                <a:srgbClr val="0B0F19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370173"/>
            <a:ext cx="2236470" cy="426720"/>
          </a:xfrm>
          <a:custGeom>
            <a:avLst/>
            <a:gdLst/>
            <a:ahLst/>
            <a:cxnLst/>
            <a:rect l="l" t="t" r="r" b="b"/>
            <a:pathLst>
              <a:path w="2236470" h="426720">
                <a:moveTo>
                  <a:pt x="213360" y="0"/>
                </a:moveTo>
                <a:lnTo>
                  <a:pt x="2023110" y="0"/>
                </a:lnTo>
                <a:cubicBezTo>
                  <a:pt x="2140945" y="0"/>
                  <a:pt x="2236470" y="95525"/>
                  <a:pt x="2236470" y="213360"/>
                </a:cubicBezTo>
                <a:lnTo>
                  <a:pt x="2236470" y="213360"/>
                </a:lnTo>
                <a:cubicBezTo>
                  <a:pt x="2236470" y="331195"/>
                  <a:pt x="2140945" y="426720"/>
                  <a:pt x="20231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 w="10160">
            <a:solidFill>
              <a:srgbClr val="8B5CF6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2932" y="14978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6" name="Text 3"/>
          <p:cNvSpPr/>
          <p:nvPr/>
        </p:nvSpPr>
        <p:spPr>
          <a:xfrm>
            <a:off x="907733" y="1469231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57904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Pipeline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01004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1000" y="4562954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E2E8F0">
                    <a:alpha val="90000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Deep dive into the machine learning pipeline that powers habitability predictions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Pipeline: Overview &amp; Dataset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11418570" cy="922020"/>
          </a:xfrm>
          <a:custGeom>
            <a:avLst/>
            <a:gdLst/>
            <a:ahLst/>
            <a:cxnLst/>
            <a:rect l="l" t="t" r="r" b="b"/>
            <a:pathLst>
              <a:path w="11418570" h="922020">
                <a:moveTo>
                  <a:pt x="114303" y="0"/>
                </a:moveTo>
                <a:lnTo>
                  <a:pt x="11304267" y="0"/>
                </a:lnTo>
                <a:cubicBezTo>
                  <a:pt x="11367395" y="0"/>
                  <a:pt x="11418570" y="51175"/>
                  <a:pt x="11418570" y="114303"/>
                </a:cubicBezTo>
                <a:lnTo>
                  <a:pt x="11418570" y="807717"/>
                </a:lnTo>
                <a:cubicBezTo>
                  <a:pt x="11418570" y="870845"/>
                  <a:pt x="11367395" y="922020"/>
                  <a:pt x="113042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607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27115" y="1722123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4920" y="1645923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4920" y="1836423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Loading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1154" y="1760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6682" y="1607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103959" y="172212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62482" y="1645923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62482" y="1836423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3252" y="1760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78899" y="1607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05225" y="172212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4699" y="1645923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64699" y="1836423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4140" y="1760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7819787" y="1607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46231" y="172212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5587" y="1645923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5587" y="1836423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Dev.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37395" y="17602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53042" y="16078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180916" y="172212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38842" y="1645923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38842" y="1836423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810" y="2533651"/>
            <a:ext cx="5608320" cy="3350895"/>
          </a:xfrm>
          <a:custGeom>
            <a:avLst/>
            <a:gdLst/>
            <a:ahLst/>
            <a:cxnLst/>
            <a:rect l="l" t="t" r="r" b="b"/>
            <a:pathLst>
              <a:path w="5608320" h="3350895">
                <a:moveTo>
                  <a:pt x="114299" y="0"/>
                </a:moveTo>
                <a:lnTo>
                  <a:pt x="5494021" y="0"/>
                </a:lnTo>
                <a:cubicBezTo>
                  <a:pt x="5557147" y="0"/>
                  <a:pt x="5608320" y="51173"/>
                  <a:pt x="5608320" y="114299"/>
                </a:cubicBezTo>
                <a:lnTo>
                  <a:pt x="5608320" y="3236596"/>
                </a:lnTo>
                <a:cubicBezTo>
                  <a:pt x="5608320" y="3299722"/>
                  <a:pt x="5557147" y="3350895"/>
                  <a:pt x="5494021" y="3350895"/>
                </a:cubicBezTo>
                <a:lnTo>
                  <a:pt x="114299" y="3350895"/>
                </a:lnTo>
                <a:cubicBezTo>
                  <a:pt x="51173" y="3350895"/>
                  <a:pt x="0" y="3299722"/>
                  <a:pt x="0" y="32365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982" y="276594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864870" y="2727959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9120" y="3569853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79120" y="3261243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83618" y="3261243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Exoplanet Archive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79120" y="4148971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79120" y="3802145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Samples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21354" y="3764161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39,212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9120" y="4651773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79120" y="4343163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Features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56453" y="4343163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289 columns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9120" y="5154691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79120" y="4846081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Selected Features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085279" y="4846081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columns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9120" y="5368054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Variable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26982" y="5349004"/>
            <a:ext cx="1371600" cy="266700"/>
          </a:xfrm>
          <a:custGeom>
            <a:avLst/>
            <a:gdLst/>
            <a:ahLst/>
            <a:cxnLst/>
            <a:rect l="l" t="t" r="r" b="b"/>
            <a:pathLst>
              <a:path w="1371600" h="266700">
                <a:moveTo>
                  <a:pt x="76199" y="0"/>
                </a:moveTo>
                <a:lnTo>
                  <a:pt x="1295401" y="0"/>
                </a:lnTo>
                <a:cubicBezTo>
                  <a:pt x="1337456" y="0"/>
                  <a:pt x="1371600" y="34144"/>
                  <a:pt x="1371600" y="76199"/>
                </a:cubicBezTo>
                <a:lnTo>
                  <a:pt x="1371600" y="190501"/>
                </a:lnTo>
                <a:cubicBezTo>
                  <a:pt x="1371600" y="232556"/>
                  <a:pt x="1337456" y="266700"/>
                  <a:pt x="12954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426982" y="5349004"/>
            <a:ext cx="14382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5060" y="2533651"/>
            <a:ext cx="5608320" cy="3350895"/>
          </a:xfrm>
          <a:custGeom>
            <a:avLst/>
            <a:gdLst/>
            <a:ahLst/>
            <a:cxnLst/>
            <a:rect l="l" t="t" r="r" b="b"/>
            <a:pathLst>
              <a:path w="5608320" h="3350895">
                <a:moveTo>
                  <a:pt x="114299" y="0"/>
                </a:moveTo>
                <a:lnTo>
                  <a:pt x="5494021" y="0"/>
                </a:lnTo>
                <a:cubicBezTo>
                  <a:pt x="5557147" y="0"/>
                  <a:pt x="5608320" y="51173"/>
                  <a:pt x="5608320" y="114299"/>
                </a:cubicBezTo>
                <a:lnTo>
                  <a:pt x="5608320" y="3236596"/>
                </a:lnTo>
                <a:cubicBezTo>
                  <a:pt x="5608320" y="3299722"/>
                  <a:pt x="5557147" y="3350895"/>
                  <a:pt x="5494021" y="3350895"/>
                </a:cubicBezTo>
                <a:lnTo>
                  <a:pt x="114299" y="3350895"/>
                </a:lnTo>
                <a:cubicBezTo>
                  <a:pt x="51173" y="3350895"/>
                  <a:pt x="0" y="3299722"/>
                  <a:pt x="0" y="32365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7945" y="276594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2727959"/>
            <a:ext cx="504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Definition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9370" y="3185043"/>
            <a:ext cx="5219700" cy="1066800"/>
          </a:xfrm>
          <a:custGeom>
            <a:avLst/>
            <a:gdLst/>
            <a:ahLst/>
            <a:cxnLst/>
            <a:rect l="l" t="t" r="r" b="b"/>
            <a:pathLst>
              <a:path w="5219700" h="10668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990598"/>
                </a:lnTo>
                <a:cubicBezTo>
                  <a:pt x="5219700" y="1032683"/>
                  <a:pt x="5185583" y="1066800"/>
                  <a:pt x="5143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541770" y="333744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planet is classified as </a:t>
            </a: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habitable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it meets these criteria: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89395" y="366129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7625" y="0"/>
                </a:moveTo>
                <a:cubicBezTo>
                  <a:pt x="31849" y="0"/>
                  <a:pt x="19050" y="12799"/>
                  <a:pt x="19050" y="28575"/>
                </a:cubicBezTo>
                <a:lnTo>
                  <a:pt x="19050" y="77599"/>
                </a:lnTo>
                <a:cubicBezTo>
                  <a:pt x="10269" y="85427"/>
                  <a:pt x="4763" y="96857"/>
                  <a:pt x="4763" y="109537"/>
                </a:cubicBezTo>
                <a:cubicBezTo>
                  <a:pt x="4763" y="133201"/>
                  <a:pt x="23961" y="152400"/>
                  <a:pt x="47625" y="152400"/>
                </a:cubicBezTo>
                <a:cubicBezTo>
                  <a:pt x="71289" y="152400"/>
                  <a:pt x="90488" y="133201"/>
                  <a:pt x="90488" y="109537"/>
                </a:cubicBezTo>
                <a:cubicBezTo>
                  <a:pt x="90488" y="96857"/>
                  <a:pt x="84981" y="85427"/>
                  <a:pt x="76200" y="77599"/>
                </a:cubicBezTo>
                <a:lnTo>
                  <a:pt x="76200" y="28575"/>
                </a:lnTo>
                <a:cubicBezTo>
                  <a:pt x="76200" y="12799"/>
                  <a:pt x="63401" y="0"/>
                  <a:pt x="47625" y="0"/>
                </a:cubicBezTo>
                <a:close/>
                <a:moveTo>
                  <a:pt x="66675" y="109537"/>
                </a:moveTo>
                <a:cubicBezTo>
                  <a:pt x="66675" y="120045"/>
                  <a:pt x="58132" y="128588"/>
                  <a:pt x="47625" y="128588"/>
                </a:cubicBezTo>
                <a:cubicBezTo>
                  <a:pt x="37118" y="128588"/>
                  <a:pt x="28575" y="120045"/>
                  <a:pt x="28575" y="109537"/>
                </a:cubicBezTo>
                <a:cubicBezTo>
                  <a:pt x="28575" y="101531"/>
                  <a:pt x="33486" y="94684"/>
                  <a:pt x="40481" y="91886"/>
                </a:cubicBezTo>
                <a:lnTo>
                  <a:pt x="40481" y="64294"/>
                </a:lnTo>
                <a:cubicBezTo>
                  <a:pt x="40481" y="60335"/>
                  <a:pt x="43666" y="57150"/>
                  <a:pt x="47625" y="57150"/>
                </a:cubicBezTo>
                <a:cubicBezTo>
                  <a:pt x="51584" y="57150"/>
                  <a:pt x="54769" y="60335"/>
                  <a:pt x="54769" y="64294"/>
                </a:cubicBezTo>
                <a:lnTo>
                  <a:pt x="54769" y="91886"/>
                </a:lnTo>
                <a:cubicBezTo>
                  <a:pt x="61764" y="94714"/>
                  <a:pt x="66675" y="101560"/>
                  <a:pt x="66675" y="1095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6846570" y="3642243"/>
            <a:ext cx="1590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Temperature: </a:t>
            </a: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180K - 320K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60820" y="39279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6846570" y="390894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Radius: </a:t>
            </a: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0.5 - 2.0 Earth radii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89370" y="4404243"/>
            <a:ext cx="2552700" cy="762000"/>
          </a:xfrm>
          <a:custGeom>
            <a:avLst/>
            <a:gdLst/>
            <a:ahLst/>
            <a:cxnLst/>
            <a:rect l="l" t="t" r="r" b="b"/>
            <a:pathLst>
              <a:path w="2552700" h="762000">
                <a:moveTo>
                  <a:pt x="76200" y="0"/>
                </a:moveTo>
                <a:lnTo>
                  <a:pt x="2476500" y="0"/>
                </a:lnTo>
                <a:cubicBezTo>
                  <a:pt x="2518556" y="0"/>
                  <a:pt x="2552700" y="34144"/>
                  <a:pt x="2552700" y="76200"/>
                </a:cubicBezTo>
                <a:lnTo>
                  <a:pt x="2552700" y="685800"/>
                </a:lnTo>
                <a:cubicBezTo>
                  <a:pt x="2552700" y="727856"/>
                  <a:pt x="2518556" y="762000"/>
                  <a:pt x="2476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32232" y="4518543"/>
            <a:ext cx="2466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470332" y="4861443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Habitable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58275" y="4404243"/>
            <a:ext cx="2552700" cy="762000"/>
          </a:xfrm>
          <a:custGeom>
            <a:avLst/>
            <a:gdLst/>
            <a:ahLst/>
            <a:cxnLst/>
            <a:rect l="l" t="t" r="r" b="b"/>
            <a:pathLst>
              <a:path w="2552700" h="762000">
                <a:moveTo>
                  <a:pt x="76200" y="0"/>
                </a:moveTo>
                <a:lnTo>
                  <a:pt x="2476500" y="0"/>
                </a:lnTo>
                <a:cubicBezTo>
                  <a:pt x="2518556" y="0"/>
                  <a:pt x="2552700" y="34144"/>
                  <a:pt x="2552700" y="76200"/>
                </a:cubicBezTo>
                <a:lnTo>
                  <a:pt x="2552700" y="685800"/>
                </a:lnTo>
                <a:cubicBezTo>
                  <a:pt x="2552700" y="727856"/>
                  <a:pt x="2518556" y="762000"/>
                  <a:pt x="2476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101138" y="4518543"/>
            <a:ext cx="2466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39,007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39238" y="4861443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Habitable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60795" y="5280543"/>
            <a:ext cx="5276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0.5% of dataset classified as potentially habitable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5775" y="495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8652" y="16252"/>
                </a:moveTo>
                <a:cubicBezTo>
                  <a:pt x="172373" y="12531"/>
                  <a:pt x="172373" y="6489"/>
                  <a:pt x="168652" y="2768"/>
                </a:cubicBezTo>
                <a:cubicBezTo>
                  <a:pt x="164931" y="-952"/>
                  <a:pt x="158889" y="-952"/>
                  <a:pt x="155168" y="2768"/>
                </a:cubicBezTo>
                <a:lnTo>
                  <a:pt x="98018" y="59918"/>
                </a:lnTo>
                <a:lnTo>
                  <a:pt x="87690" y="49590"/>
                </a:lnTo>
                <a:cubicBezTo>
                  <a:pt x="86439" y="48339"/>
                  <a:pt x="84713" y="47625"/>
                  <a:pt x="82927" y="47625"/>
                </a:cubicBezTo>
                <a:cubicBezTo>
                  <a:pt x="79206" y="47625"/>
                  <a:pt x="76200" y="50631"/>
                  <a:pt x="76200" y="54352"/>
                </a:cubicBezTo>
                <a:lnTo>
                  <a:pt x="76200" y="63014"/>
                </a:lnTo>
                <a:lnTo>
                  <a:pt x="108436" y="95250"/>
                </a:lnTo>
                <a:lnTo>
                  <a:pt x="117098" y="95250"/>
                </a:lnTo>
                <a:cubicBezTo>
                  <a:pt x="120819" y="95250"/>
                  <a:pt x="123825" y="92244"/>
                  <a:pt x="123825" y="88523"/>
                </a:cubicBezTo>
                <a:cubicBezTo>
                  <a:pt x="123825" y="86737"/>
                  <a:pt x="123111" y="85011"/>
                  <a:pt x="121860" y="83760"/>
                </a:cubicBezTo>
                <a:lnTo>
                  <a:pt x="111532" y="73432"/>
                </a:lnTo>
                <a:lnTo>
                  <a:pt x="168682" y="16282"/>
                </a:lnTo>
                <a:close/>
                <a:moveTo>
                  <a:pt x="101531" y="105192"/>
                </a:moveTo>
                <a:lnTo>
                  <a:pt x="66258" y="69919"/>
                </a:lnTo>
                <a:cubicBezTo>
                  <a:pt x="53548" y="68818"/>
                  <a:pt x="40898" y="73402"/>
                  <a:pt x="31790" y="82510"/>
                </a:cubicBezTo>
                <a:lnTo>
                  <a:pt x="29408" y="84892"/>
                </a:lnTo>
                <a:cubicBezTo>
                  <a:pt x="22771" y="91529"/>
                  <a:pt x="19050" y="100519"/>
                  <a:pt x="19050" y="109895"/>
                </a:cubicBezTo>
                <a:cubicBezTo>
                  <a:pt x="19050" y="111919"/>
                  <a:pt x="21163" y="113228"/>
                  <a:pt x="22979" y="112335"/>
                </a:cubicBezTo>
                <a:lnTo>
                  <a:pt x="38189" y="104745"/>
                </a:lnTo>
                <a:cubicBezTo>
                  <a:pt x="39678" y="104001"/>
                  <a:pt x="41017" y="105966"/>
                  <a:pt x="39797" y="107097"/>
                </a:cubicBezTo>
                <a:lnTo>
                  <a:pt x="2173" y="140910"/>
                </a:lnTo>
                <a:cubicBezTo>
                  <a:pt x="804" y="142161"/>
                  <a:pt x="0" y="143947"/>
                  <a:pt x="0" y="145822"/>
                </a:cubicBezTo>
                <a:cubicBezTo>
                  <a:pt x="0" y="149453"/>
                  <a:pt x="2947" y="152400"/>
                  <a:pt x="6578" y="152400"/>
                </a:cubicBezTo>
                <a:lnTo>
                  <a:pt x="58162" y="152400"/>
                </a:lnTo>
                <a:cubicBezTo>
                  <a:pt x="69711" y="152400"/>
                  <a:pt x="80754" y="147816"/>
                  <a:pt x="88940" y="139660"/>
                </a:cubicBezTo>
                <a:cubicBezTo>
                  <a:pt x="98048" y="130552"/>
                  <a:pt x="102602" y="117902"/>
                  <a:pt x="101531" y="10519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&amp; Cleaning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11418570" cy="2465070"/>
          </a:xfrm>
          <a:custGeom>
            <a:avLst/>
            <a:gdLst/>
            <a:ahLst/>
            <a:cxnLst/>
            <a:rect l="l" t="t" r="r" b="b"/>
            <a:pathLst>
              <a:path w="11418570" h="2465070">
                <a:moveTo>
                  <a:pt x="114305" y="0"/>
                </a:moveTo>
                <a:lnTo>
                  <a:pt x="11304265" y="0"/>
                </a:lnTo>
                <a:cubicBezTo>
                  <a:pt x="11367394" y="0"/>
                  <a:pt x="11418570" y="51176"/>
                  <a:pt x="11418570" y="114305"/>
                </a:cubicBezTo>
                <a:lnTo>
                  <a:pt x="11418570" y="2350765"/>
                </a:lnTo>
                <a:cubicBezTo>
                  <a:pt x="11418570" y="2413894"/>
                  <a:pt x="11367394" y="2465070"/>
                  <a:pt x="11304265" y="2465070"/>
                </a:cubicBezTo>
                <a:lnTo>
                  <a:pt x="114305" y="2465070"/>
                </a:lnTo>
                <a:cubicBezTo>
                  <a:pt x="51218" y="2465070"/>
                  <a:pt x="0" y="2413852"/>
                  <a:pt x="0" y="23507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832" y="16078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79145" y="1569723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Real-World Data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1988823"/>
            <a:ext cx="3600450" cy="1733550"/>
          </a:xfrm>
          <a:custGeom>
            <a:avLst/>
            <a:gdLst/>
            <a:ahLst/>
            <a:cxnLst/>
            <a:rect l="l" t="t" r="r" b="b"/>
            <a:pathLst>
              <a:path w="3600450" h="1733550">
                <a:moveTo>
                  <a:pt x="76207" y="0"/>
                </a:moveTo>
                <a:lnTo>
                  <a:pt x="3524243" y="0"/>
                </a:lnTo>
                <a:cubicBezTo>
                  <a:pt x="3566331" y="0"/>
                  <a:pt x="3600450" y="34119"/>
                  <a:pt x="3600450" y="76207"/>
                </a:cubicBezTo>
                <a:lnTo>
                  <a:pt x="3600450" y="1657343"/>
                </a:lnTo>
                <a:cubicBezTo>
                  <a:pt x="3600450" y="1699431"/>
                  <a:pt x="3566331" y="1733550"/>
                  <a:pt x="352424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3420" y="21412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7720" y="2255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198373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420" y="2636523"/>
            <a:ext cx="3362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astronomical data has significant gaps due to detection 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420" y="3131823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3171" y="3131823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Median/Mode Imputation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3420" y="3379473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4641" y="3379473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Missing Values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5061" y="1988823"/>
            <a:ext cx="3600450" cy="1733550"/>
          </a:xfrm>
          <a:custGeom>
            <a:avLst/>
            <a:gdLst/>
            <a:ahLst/>
            <a:cxnLst/>
            <a:rect l="l" t="t" r="r" b="b"/>
            <a:pathLst>
              <a:path w="3600450" h="1733550">
                <a:moveTo>
                  <a:pt x="76207" y="0"/>
                </a:moveTo>
                <a:lnTo>
                  <a:pt x="3524243" y="0"/>
                </a:lnTo>
                <a:cubicBezTo>
                  <a:pt x="3566331" y="0"/>
                  <a:pt x="3600450" y="34119"/>
                  <a:pt x="3600450" y="76207"/>
                </a:cubicBezTo>
                <a:lnTo>
                  <a:pt x="3600450" y="1657343"/>
                </a:lnTo>
                <a:cubicBezTo>
                  <a:pt x="3600450" y="1699431"/>
                  <a:pt x="3566331" y="1733550"/>
                  <a:pt x="352424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47461" y="21412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61761" y="2255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942761" y="2198373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7461" y="2636523"/>
            <a:ext cx="3362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289 raw features to 17 most relevant parameters for habitability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47461" y="3131823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7865" y="3131823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Expertise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47461" y="3379473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6031" y="3379473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Dimensionality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49220" y="1988823"/>
            <a:ext cx="3600450" cy="1733550"/>
          </a:xfrm>
          <a:custGeom>
            <a:avLst/>
            <a:gdLst/>
            <a:ahLst/>
            <a:cxnLst/>
            <a:rect l="l" t="t" r="r" b="b"/>
            <a:pathLst>
              <a:path w="3600450" h="1733550">
                <a:moveTo>
                  <a:pt x="76207" y="0"/>
                </a:moveTo>
                <a:lnTo>
                  <a:pt x="3524243" y="0"/>
                </a:lnTo>
                <a:cubicBezTo>
                  <a:pt x="3566331" y="0"/>
                  <a:pt x="3600450" y="34119"/>
                  <a:pt x="3600450" y="76207"/>
                </a:cubicBezTo>
                <a:lnTo>
                  <a:pt x="3600450" y="1657343"/>
                </a:lnTo>
                <a:cubicBezTo>
                  <a:pt x="3600450" y="1699431"/>
                  <a:pt x="3566331" y="1733550"/>
                  <a:pt x="3524243" y="1733550"/>
                </a:cubicBezTo>
                <a:lnTo>
                  <a:pt x="76207" y="1733550"/>
                </a:lnTo>
                <a:cubicBezTo>
                  <a:pt x="34119" y="1733550"/>
                  <a:pt x="0" y="1699431"/>
                  <a:pt x="0" y="1657343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01620" y="21412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15920" y="22555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696920" y="2198373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Management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01620" y="2636523"/>
            <a:ext cx="3362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values in mass, radius, and orbital periods can skew models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01620" y="3131823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62605" y="3131823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IQR-Based Capping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01620" y="3379473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572870" y="3379473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4038601"/>
            <a:ext cx="11418570" cy="1798320"/>
          </a:xfrm>
          <a:custGeom>
            <a:avLst/>
            <a:gdLst/>
            <a:ahLst/>
            <a:cxnLst/>
            <a:rect l="l" t="t" r="r" b="b"/>
            <a:pathLst>
              <a:path w="11418570" h="17983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1684019"/>
                </a:lnTo>
                <a:cubicBezTo>
                  <a:pt x="11418570" y="1747103"/>
                  <a:pt x="11367353" y="1798320"/>
                  <a:pt x="113042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739" y="423290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779145" y="4194809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 Before Imputation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1020" y="4613909"/>
            <a:ext cx="3600450" cy="1066800"/>
          </a:xfrm>
          <a:custGeom>
            <a:avLst/>
            <a:gdLst/>
            <a:ahLst/>
            <a:cxnLst/>
            <a:rect l="l" t="t" r="r" b="b"/>
            <a:pathLst>
              <a:path w="3600450" h="1066800">
                <a:moveTo>
                  <a:pt x="76202" y="0"/>
                </a:moveTo>
                <a:lnTo>
                  <a:pt x="3524248" y="0"/>
                </a:lnTo>
                <a:cubicBezTo>
                  <a:pt x="3566333" y="0"/>
                  <a:pt x="3600450" y="34117"/>
                  <a:pt x="3600450" y="76202"/>
                </a:cubicBezTo>
                <a:lnTo>
                  <a:pt x="3600450" y="990598"/>
                </a:lnTo>
                <a:cubicBezTo>
                  <a:pt x="3600450" y="1032683"/>
                  <a:pt x="3566333" y="1066800"/>
                  <a:pt x="35242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60083" y="4766309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pl_bmasse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1983" y="4994909"/>
            <a:ext cx="3438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32,137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4845" y="5375909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Mass Missing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95061" y="4613909"/>
            <a:ext cx="3600450" cy="1066800"/>
          </a:xfrm>
          <a:custGeom>
            <a:avLst/>
            <a:gdLst/>
            <a:ahLst/>
            <a:cxnLst/>
            <a:rect l="l" t="t" r="r" b="b"/>
            <a:pathLst>
              <a:path w="3600450" h="1066800">
                <a:moveTo>
                  <a:pt x="76202" y="0"/>
                </a:moveTo>
                <a:lnTo>
                  <a:pt x="3524248" y="0"/>
                </a:lnTo>
                <a:cubicBezTo>
                  <a:pt x="3566333" y="0"/>
                  <a:pt x="3600450" y="34117"/>
                  <a:pt x="3600450" y="76202"/>
                </a:cubicBezTo>
                <a:lnTo>
                  <a:pt x="3600450" y="990598"/>
                </a:lnTo>
                <a:cubicBezTo>
                  <a:pt x="3600450" y="1032683"/>
                  <a:pt x="3566333" y="1066800"/>
                  <a:pt x="35242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414123" y="4766309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pl_eqt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376023" y="4994909"/>
            <a:ext cx="3438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22,030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18886" y="5375909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Equilibrium Temp Missing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49220" y="4613909"/>
            <a:ext cx="3600450" cy="1066800"/>
          </a:xfrm>
          <a:custGeom>
            <a:avLst/>
            <a:gdLst/>
            <a:ahLst/>
            <a:cxnLst/>
            <a:rect l="l" t="t" r="r" b="b"/>
            <a:pathLst>
              <a:path w="3600450" h="1066800">
                <a:moveTo>
                  <a:pt x="76202" y="0"/>
                </a:moveTo>
                <a:lnTo>
                  <a:pt x="3524248" y="0"/>
                </a:lnTo>
                <a:cubicBezTo>
                  <a:pt x="3566333" y="0"/>
                  <a:pt x="3600450" y="34117"/>
                  <a:pt x="3600450" y="76202"/>
                </a:cubicBezTo>
                <a:lnTo>
                  <a:pt x="3600450" y="990598"/>
                </a:lnTo>
                <a:cubicBezTo>
                  <a:pt x="3600450" y="1032683"/>
                  <a:pt x="3566333" y="1066800"/>
                  <a:pt x="352424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168283" y="4766309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pl_rade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30183" y="4994909"/>
            <a:ext cx="3438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12,197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173045" y="5375909"/>
            <a:ext cx="335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Radius Missing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Detection &amp; Treatment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5608320" cy="3074670"/>
          </a:xfrm>
          <a:custGeom>
            <a:avLst/>
            <a:gdLst/>
            <a:ahLst/>
            <a:cxnLst/>
            <a:rect l="l" t="t" r="r" b="b"/>
            <a:pathLst>
              <a:path w="5608320" h="3074670">
                <a:moveTo>
                  <a:pt x="114285" y="0"/>
                </a:moveTo>
                <a:lnTo>
                  <a:pt x="5494035" y="0"/>
                </a:lnTo>
                <a:cubicBezTo>
                  <a:pt x="5557153" y="0"/>
                  <a:pt x="5608320" y="51167"/>
                  <a:pt x="5608320" y="114285"/>
                </a:cubicBezTo>
                <a:lnTo>
                  <a:pt x="5608320" y="2960385"/>
                </a:lnTo>
                <a:cubicBezTo>
                  <a:pt x="5608320" y="3023503"/>
                  <a:pt x="5557153" y="3074670"/>
                  <a:pt x="5494035" y="3074670"/>
                </a:cubicBezTo>
                <a:lnTo>
                  <a:pt x="114285" y="3074670"/>
                </a:lnTo>
                <a:cubicBezTo>
                  <a:pt x="51167" y="3074670"/>
                  <a:pt x="0" y="3023503"/>
                  <a:pt x="0" y="2960385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932" y="16459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17245" y="1607823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Box Plot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026923"/>
            <a:ext cx="5219700" cy="742950"/>
          </a:xfrm>
          <a:custGeom>
            <a:avLst/>
            <a:gdLst/>
            <a:ahLst/>
            <a:cxnLst/>
            <a:rect l="l" t="t" r="r" b="b"/>
            <a:pathLst>
              <a:path w="5219700" h="74295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666753"/>
                </a:lnTo>
                <a:cubicBezTo>
                  <a:pt x="5219700" y="708835"/>
                  <a:pt x="5185585" y="742950"/>
                  <a:pt x="5143503" y="742950"/>
                </a:cubicBezTo>
                <a:lnTo>
                  <a:pt x="76197" y="742950"/>
                </a:lnTo>
                <a:cubicBezTo>
                  <a:pt x="34115" y="742950"/>
                  <a:pt x="0" y="708835"/>
                  <a:pt x="0" y="66675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79323"/>
            <a:ext cx="4981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 plots reveal extreme values in key planetary parameters. The IQR method identifies outliers beyond 1.5× the interquartile range.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295561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07720" y="291751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identification of extreme values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326041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07720" y="3222310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boundary detection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120" y="356521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07720" y="3527110"/>
            <a:ext cx="2105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Preserves astronomical significance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5060" y="1413510"/>
            <a:ext cx="5608320" cy="3074670"/>
          </a:xfrm>
          <a:custGeom>
            <a:avLst/>
            <a:gdLst/>
            <a:ahLst/>
            <a:cxnLst/>
            <a:rect l="l" t="t" r="r" b="b"/>
            <a:pathLst>
              <a:path w="5608320" h="3074670">
                <a:moveTo>
                  <a:pt x="114285" y="0"/>
                </a:moveTo>
                <a:lnTo>
                  <a:pt x="5494035" y="0"/>
                </a:lnTo>
                <a:cubicBezTo>
                  <a:pt x="5557153" y="0"/>
                  <a:pt x="5608320" y="51167"/>
                  <a:pt x="5608320" y="114285"/>
                </a:cubicBezTo>
                <a:lnTo>
                  <a:pt x="5608320" y="2960385"/>
                </a:lnTo>
                <a:cubicBezTo>
                  <a:pt x="5608320" y="3023503"/>
                  <a:pt x="5557153" y="3074670"/>
                  <a:pt x="5494035" y="3074670"/>
                </a:cubicBezTo>
                <a:lnTo>
                  <a:pt x="114285" y="3074670"/>
                </a:lnTo>
                <a:cubicBezTo>
                  <a:pt x="51167" y="3074670"/>
                  <a:pt x="0" y="3023503"/>
                  <a:pt x="0" y="2960385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6995" y="164592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627495" y="1607823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IQR Method Formula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9370" y="2026923"/>
            <a:ext cx="5219700" cy="2000250"/>
          </a:xfrm>
          <a:custGeom>
            <a:avLst/>
            <a:gdLst/>
            <a:ahLst/>
            <a:cxnLst/>
            <a:rect l="l" t="t" r="r" b="b"/>
            <a:pathLst>
              <a:path w="5219700" h="2000250">
                <a:moveTo>
                  <a:pt x="76210" y="0"/>
                </a:moveTo>
                <a:lnTo>
                  <a:pt x="5143490" y="0"/>
                </a:lnTo>
                <a:cubicBezTo>
                  <a:pt x="5185580" y="0"/>
                  <a:pt x="5219700" y="34120"/>
                  <a:pt x="5219700" y="76210"/>
                </a:cubicBezTo>
                <a:lnTo>
                  <a:pt x="5219700" y="1924040"/>
                </a:lnTo>
                <a:cubicBezTo>
                  <a:pt x="5219700" y="1966130"/>
                  <a:pt x="5185580" y="2000250"/>
                  <a:pt x="514349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41770" y="217932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Bound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41770" y="2407923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Q1 - 1.5 × IQR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41770" y="2792733"/>
            <a:ext cx="4914900" cy="7620"/>
          </a:xfrm>
          <a:custGeom>
            <a:avLst/>
            <a:gdLst/>
            <a:ahLst/>
            <a:cxnLst/>
            <a:rect l="l" t="t" r="r" b="b"/>
            <a:pathLst>
              <a:path w="4914900" h="7620">
                <a:moveTo>
                  <a:pt x="0" y="0"/>
                </a:moveTo>
                <a:lnTo>
                  <a:pt x="4914900" y="0"/>
                </a:lnTo>
                <a:lnTo>
                  <a:pt x="4914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41770" y="2910841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 Bound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41770" y="3139441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 + 1.5 × IQR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41770" y="3524251"/>
            <a:ext cx="4914900" cy="7620"/>
          </a:xfrm>
          <a:custGeom>
            <a:avLst/>
            <a:gdLst/>
            <a:ahLst/>
            <a:cxnLst/>
            <a:rect l="l" t="t" r="r" b="b"/>
            <a:pathLst>
              <a:path w="4914900" h="7620">
                <a:moveTo>
                  <a:pt x="0" y="0"/>
                </a:moveTo>
                <a:lnTo>
                  <a:pt x="4914900" y="0"/>
                </a:lnTo>
                <a:lnTo>
                  <a:pt x="4914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41770" y="3642359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IQR = Q3 - Q1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9370" y="4137659"/>
            <a:ext cx="5276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Values beyond these bounds are clipped to boundary values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4644271"/>
            <a:ext cx="11418570" cy="1607820"/>
          </a:xfrm>
          <a:custGeom>
            <a:avLst/>
            <a:gdLst/>
            <a:ahLst/>
            <a:cxnLst/>
            <a:rect l="l" t="t" r="r" b="b"/>
            <a:pathLst>
              <a:path w="11418570" h="160782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1493520"/>
                </a:lnTo>
                <a:cubicBezTo>
                  <a:pt x="11418570" y="1556646"/>
                  <a:pt x="11367396" y="1607820"/>
                  <a:pt x="1130427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020" y="4800484"/>
            <a:ext cx="1120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Treatment by Feature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1020" y="5219584"/>
            <a:ext cx="2695575" cy="876300"/>
          </a:xfrm>
          <a:custGeom>
            <a:avLst/>
            <a:gdLst/>
            <a:ahLst/>
            <a:cxnLst/>
            <a:rect l="l" t="t" r="r" b="b"/>
            <a:pathLst>
              <a:path w="2695575" h="876300">
                <a:moveTo>
                  <a:pt x="76203" y="0"/>
                </a:moveTo>
                <a:lnTo>
                  <a:pt x="2619372" y="0"/>
                </a:lnTo>
                <a:cubicBezTo>
                  <a:pt x="2661458" y="0"/>
                  <a:pt x="2695575" y="34117"/>
                  <a:pt x="2695575" y="76203"/>
                </a:cubicBezTo>
                <a:lnTo>
                  <a:pt x="2695575" y="800097"/>
                </a:lnTo>
                <a:cubicBezTo>
                  <a:pt x="2695575" y="842183"/>
                  <a:pt x="2661458" y="876300"/>
                  <a:pt x="26193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4370" y="53529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922020" y="5333884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pl_orbper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320" y="5600584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orbital periods detected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5320" y="5829063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Capped at Q3 + 1.5×IQR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47085" y="5219584"/>
            <a:ext cx="2695575" cy="876300"/>
          </a:xfrm>
          <a:custGeom>
            <a:avLst/>
            <a:gdLst/>
            <a:ahLst/>
            <a:cxnLst/>
            <a:rect l="l" t="t" r="r" b="b"/>
            <a:pathLst>
              <a:path w="2695575" h="876300">
                <a:moveTo>
                  <a:pt x="76203" y="0"/>
                </a:moveTo>
                <a:lnTo>
                  <a:pt x="2619372" y="0"/>
                </a:lnTo>
                <a:cubicBezTo>
                  <a:pt x="2661458" y="0"/>
                  <a:pt x="2695575" y="34117"/>
                  <a:pt x="2695575" y="76203"/>
                </a:cubicBezTo>
                <a:lnTo>
                  <a:pt x="2695575" y="800097"/>
                </a:lnTo>
                <a:cubicBezTo>
                  <a:pt x="2695575" y="842183"/>
                  <a:pt x="2661458" y="876300"/>
                  <a:pt x="26193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80435" y="53529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3728085" y="5333884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pl_rade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461385" y="5600584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Super-Earths &amp; gas giants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461385" y="5829063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Capped extreme values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53150" y="5219584"/>
            <a:ext cx="2695575" cy="876300"/>
          </a:xfrm>
          <a:custGeom>
            <a:avLst/>
            <a:gdLst/>
            <a:ahLst/>
            <a:cxnLst/>
            <a:rect l="l" t="t" r="r" b="b"/>
            <a:pathLst>
              <a:path w="2695575" h="876300">
                <a:moveTo>
                  <a:pt x="76203" y="0"/>
                </a:moveTo>
                <a:lnTo>
                  <a:pt x="2619372" y="0"/>
                </a:lnTo>
                <a:cubicBezTo>
                  <a:pt x="2661458" y="0"/>
                  <a:pt x="2695575" y="34117"/>
                  <a:pt x="2695575" y="76203"/>
                </a:cubicBezTo>
                <a:lnTo>
                  <a:pt x="2695575" y="800097"/>
                </a:lnTo>
                <a:cubicBezTo>
                  <a:pt x="2695575" y="842183"/>
                  <a:pt x="2661458" y="876300"/>
                  <a:pt x="26193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535293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28575"/>
                </a:moveTo>
                <a:cubicBezTo>
                  <a:pt x="66675" y="23318"/>
                  <a:pt x="70943" y="19050"/>
                  <a:pt x="76200" y="19050"/>
                </a:cubicBezTo>
                <a:cubicBezTo>
                  <a:pt x="81457" y="19050"/>
                  <a:pt x="85725" y="23318"/>
                  <a:pt x="85725" y="28575"/>
                </a:cubicBezTo>
                <a:cubicBezTo>
                  <a:pt x="85725" y="33832"/>
                  <a:pt x="81457" y="38100"/>
                  <a:pt x="76200" y="38100"/>
                </a:cubicBezTo>
                <a:cubicBezTo>
                  <a:pt x="70943" y="38100"/>
                  <a:pt x="66675" y="33832"/>
                  <a:pt x="66675" y="28575"/>
                </a:cubicBezTo>
                <a:close/>
                <a:moveTo>
                  <a:pt x="103138" y="38100"/>
                </a:moveTo>
                <a:cubicBezTo>
                  <a:pt x="104180" y="35123"/>
                  <a:pt x="104775" y="31909"/>
                  <a:pt x="104775" y="28575"/>
                </a:cubicBezTo>
                <a:cubicBezTo>
                  <a:pt x="104775" y="12799"/>
                  <a:pt x="91976" y="0"/>
                  <a:pt x="76200" y="0"/>
                </a:cubicBezTo>
                <a:cubicBezTo>
                  <a:pt x="60424" y="0"/>
                  <a:pt x="47625" y="12799"/>
                  <a:pt x="47625" y="28575"/>
                </a:cubicBezTo>
                <a:cubicBezTo>
                  <a:pt x="47625" y="31909"/>
                  <a:pt x="48191" y="35123"/>
                  <a:pt x="49262" y="38100"/>
                </a:cubicBezTo>
                <a:lnTo>
                  <a:pt x="42773" y="38100"/>
                </a:lnTo>
                <a:cubicBezTo>
                  <a:pt x="34350" y="38100"/>
                  <a:pt x="26938" y="43607"/>
                  <a:pt x="24527" y="51673"/>
                </a:cubicBezTo>
                <a:lnTo>
                  <a:pt x="714" y="131028"/>
                </a:lnTo>
                <a:cubicBezTo>
                  <a:pt x="238" y="132576"/>
                  <a:pt x="0" y="134183"/>
                  <a:pt x="0" y="135791"/>
                </a:cubicBezTo>
                <a:cubicBezTo>
                  <a:pt x="0" y="144959"/>
                  <a:pt x="7441" y="152400"/>
                  <a:pt x="16609" y="152400"/>
                </a:cubicBezTo>
                <a:lnTo>
                  <a:pt x="135791" y="152400"/>
                </a:lnTo>
                <a:cubicBezTo>
                  <a:pt x="144959" y="152400"/>
                  <a:pt x="152400" y="144959"/>
                  <a:pt x="152400" y="135791"/>
                </a:cubicBezTo>
                <a:cubicBezTo>
                  <a:pt x="152400" y="134183"/>
                  <a:pt x="152162" y="132576"/>
                  <a:pt x="151686" y="131028"/>
                </a:cubicBezTo>
                <a:lnTo>
                  <a:pt x="127873" y="51703"/>
                </a:lnTo>
                <a:cubicBezTo>
                  <a:pt x="125462" y="43636"/>
                  <a:pt x="118050" y="38130"/>
                  <a:pt x="109627" y="38130"/>
                </a:cubicBezTo>
                <a:lnTo>
                  <a:pt x="103138" y="3813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534150" y="5333884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pl_bmasse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67450" y="5600584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mass range variation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67450" y="5829063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IQR-based capping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59215" y="5219584"/>
            <a:ext cx="2695575" cy="876300"/>
          </a:xfrm>
          <a:custGeom>
            <a:avLst/>
            <a:gdLst/>
            <a:ahLst/>
            <a:cxnLst/>
            <a:rect l="l" t="t" r="r" b="b"/>
            <a:pathLst>
              <a:path w="2695575" h="876300">
                <a:moveTo>
                  <a:pt x="76203" y="0"/>
                </a:moveTo>
                <a:lnTo>
                  <a:pt x="2619372" y="0"/>
                </a:lnTo>
                <a:cubicBezTo>
                  <a:pt x="2661458" y="0"/>
                  <a:pt x="2695575" y="34117"/>
                  <a:pt x="2695575" y="76203"/>
                </a:cubicBezTo>
                <a:lnTo>
                  <a:pt x="2695575" y="800097"/>
                </a:lnTo>
                <a:cubicBezTo>
                  <a:pt x="2695575" y="842183"/>
                  <a:pt x="2661458" y="876300"/>
                  <a:pt x="261937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21140" y="5352934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7625" y="0"/>
                </a:moveTo>
                <a:cubicBezTo>
                  <a:pt x="31849" y="0"/>
                  <a:pt x="19050" y="12799"/>
                  <a:pt x="19050" y="28575"/>
                </a:cubicBezTo>
                <a:lnTo>
                  <a:pt x="19050" y="77599"/>
                </a:lnTo>
                <a:cubicBezTo>
                  <a:pt x="10269" y="85427"/>
                  <a:pt x="4763" y="96857"/>
                  <a:pt x="4763" y="109537"/>
                </a:cubicBezTo>
                <a:cubicBezTo>
                  <a:pt x="4763" y="133201"/>
                  <a:pt x="23961" y="152400"/>
                  <a:pt x="47625" y="152400"/>
                </a:cubicBezTo>
                <a:cubicBezTo>
                  <a:pt x="71289" y="152400"/>
                  <a:pt x="90488" y="133201"/>
                  <a:pt x="90488" y="109537"/>
                </a:cubicBezTo>
                <a:cubicBezTo>
                  <a:pt x="90488" y="96857"/>
                  <a:pt x="84981" y="85427"/>
                  <a:pt x="76200" y="77599"/>
                </a:cubicBezTo>
                <a:lnTo>
                  <a:pt x="76200" y="28575"/>
                </a:lnTo>
                <a:cubicBezTo>
                  <a:pt x="76200" y="12799"/>
                  <a:pt x="63401" y="0"/>
                  <a:pt x="47625" y="0"/>
                </a:cubicBezTo>
                <a:close/>
                <a:moveTo>
                  <a:pt x="66675" y="109537"/>
                </a:moveTo>
                <a:cubicBezTo>
                  <a:pt x="66675" y="120045"/>
                  <a:pt x="58132" y="128588"/>
                  <a:pt x="47625" y="128588"/>
                </a:cubicBezTo>
                <a:cubicBezTo>
                  <a:pt x="37118" y="128588"/>
                  <a:pt x="28575" y="120045"/>
                  <a:pt x="28575" y="109537"/>
                </a:cubicBezTo>
                <a:cubicBezTo>
                  <a:pt x="28575" y="101531"/>
                  <a:pt x="33486" y="94684"/>
                  <a:pt x="40481" y="91886"/>
                </a:cubicBezTo>
                <a:lnTo>
                  <a:pt x="40481" y="64294"/>
                </a:lnTo>
                <a:cubicBezTo>
                  <a:pt x="40481" y="60335"/>
                  <a:pt x="43666" y="57150"/>
                  <a:pt x="47625" y="57150"/>
                </a:cubicBezTo>
                <a:cubicBezTo>
                  <a:pt x="51584" y="57150"/>
                  <a:pt x="54769" y="60335"/>
                  <a:pt x="54769" y="64294"/>
                </a:cubicBezTo>
                <a:lnTo>
                  <a:pt x="54769" y="91886"/>
                </a:lnTo>
                <a:cubicBezTo>
                  <a:pt x="61764" y="94714"/>
                  <a:pt x="66675" y="101560"/>
                  <a:pt x="66675" y="1095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9340215" y="5333884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st_teff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73515" y="5600584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 star temperatures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73515" y="5829063"/>
            <a:ext cx="2524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Preserved (significant)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95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5608320" cy="4122420"/>
          </a:xfrm>
          <a:custGeom>
            <a:avLst/>
            <a:gdLst/>
            <a:ahLst/>
            <a:cxnLst/>
            <a:rect l="l" t="t" r="r" b="b"/>
            <a:pathLst>
              <a:path w="5608320" h="4122420">
                <a:moveTo>
                  <a:pt x="114315" y="0"/>
                </a:moveTo>
                <a:lnTo>
                  <a:pt x="5494005" y="0"/>
                </a:lnTo>
                <a:cubicBezTo>
                  <a:pt x="5557140" y="0"/>
                  <a:pt x="5608320" y="51180"/>
                  <a:pt x="5608320" y="114315"/>
                </a:cubicBezTo>
                <a:lnTo>
                  <a:pt x="5608320" y="4008105"/>
                </a:lnTo>
                <a:cubicBezTo>
                  <a:pt x="5608320" y="4071240"/>
                  <a:pt x="5557140" y="4122420"/>
                  <a:pt x="5494005" y="4122420"/>
                </a:cubicBezTo>
                <a:lnTo>
                  <a:pt x="114315" y="4122420"/>
                </a:lnTo>
                <a:cubicBezTo>
                  <a:pt x="51180" y="4122420"/>
                  <a:pt x="0" y="4071240"/>
                  <a:pt x="0" y="4008105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08779" y="1703073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0620" y="1684023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Spectral Type Encoding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2217423"/>
            <a:ext cx="5219700" cy="1028700"/>
          </a:xfrm>
          <a:custGeom>
            <a:avLst/>
            <a:gdLst/>
            <a:ahLst/>
            <a:cxnLst/>
            <a:rect l="l" t="t" r="r" b="b"/>
            <a:pathLst>
              <a:path w="5219700" h="1028700">
                <a:moveTo>
                  <a:pt x="76196" y="0"/>
                </a:moveTo>
                <a:lnTo>
                  <a:pt x="5143504" y="0"/>
                </a:lnTo>
                <a:cubicBezTo>
                  <a:pt x="5185586" y="0"/>
                  <a:pt x="5219700" y="34114"/>
                  <a:pt x="5219700" y="76196"/>
                </a:cubicBezTo>
                <a:lnTo>
                  <a:pt x="5219700" y="952504"/>
                </a:lnTo>
                <a:cubicBezTo>
                  <a:pt x="5219700" y="994586"/>
                  <a:pt x="5185586" y="1028700"/>
                  <a:pt x="51435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6982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spectral classifications simplified for model input: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674623"/>
            <a:ext cx="1038225" cy="304800"/>
          </a:xfrm>
          <a:custGeom>
            <a:avLst/>
            <a:gdLst/>
            <a:ahLst/>
            <a:cxnLst/>
            <a:rect l="l" t="t" r="r" b="b"/>
            <a:pathLst>
              <a:path w="1038225" h="304800">
                <a:moveTo>
                  <a:pt x="38100" y="0"/>
                </a:moveTo>
                <a:lnTo>
                  <a:pt x="1000125" y="0"/>
                </a:lnTo>
                <a:cubicBezTo>
                  <a:pt x="1021153" y="0"/>
                  <a:pt x="1038225" y="17072"/>
                  <a:pt x="1038225" y="38100"/>
                </a:cubicBezTo>
                <a:lnTo>
                  <a:pt x="1038225" y="266700"/>
                </a:lnTo>
                <a:cubicBezTo>
                  <a:pt x="1038225" y="287728"/>
                  <a:pt x="1021153" y="304800"/>
                  <a:pt x="10001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74623"/>
            <a:ext cx="11049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"G2V" → "G"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80949" y="2731773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transformation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9120" y="339852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 encoded into 8 categories: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120" y="3703323"/>
            <a:ext cx="333375" cy="304800"/>
          </a:xfrm>
          <a:custGeom>
            <a:avLst/>
            <a:gdLst/>
            <a:ahLst/>
            <a:cxnLst/>
            <a:rect l="l" t="t" r="r" b="b"/>
            <a:pathLst>
              <a:path w="333375" h="304800">
                <a:moveTo>
                  <a:pt x="76200" y="0"/>
                </a:moveTo>
                <a:lnTo>
                  <a:pt x="257175" y="0"/>
                </a:lnTo>
                <a:cubicBezTo>
                  <a:pt x="299231" y="0"/>
                  <a:pt x="333375" y="34144"/>
                  <a:pt x="333375" y="76200"/>
                </a:cubicBezTo>
                <a:lnTo>
                  <a:pt x="333375" y="228600"/>
                </a:lnTo>
                <a:cubicBezTo>
                  <a:pt x="333375" y="270656"/>
                  <a:pt x="299231" y="304800"/>
                  <a:pt x="2571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9120" y="3703323"/>
            <a:ext cx="4000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4766" y="37033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84766" y="3703323"/>
            <a:ext cx="3714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64218" y="3703323"/>
            <a:ext cx="314325" cy="304800"/>
          </a:xfrm>
          <a:custGeom>
            <a:avLst/>
            <a:gdLst/>
            <a:ahLst/>
            <a:cxnLst/>
            <a:rect l="l" t="t" r="r" b="b"/>
            <a:pathLst>
              <a:path w="314325" h="304800">
                <a:moveTo>
                  <a:pt x="76200" y="0"/>
                </a:moveTo>
                <a:lnTo>
                  <a:pt x="238125" y="0"/>
                </a:lnTo>
                <a:cubicBezTo>
                  <a:pt x="280181" y="0"/>
                  <a:pt x="314325" y="34144"/>
                  <a:pt x="314325" y="76200"/>
                </a:cubicBezTo>
                <a:lnTo>
                  <a:pt x="314325" y="228600"/>
                </a:lnTo>
                <a:cubicBezTo>
                  <a:pt x="314325" y="270656"/>
                  <a:pt x="280181" y="304800"/>
                  <a:pt x="2381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64218" y="3703323"/>
            <a:ext cx="3810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754743" y="3703323"/>
            <a:ext cx="295275" cy="304800"/>
          </a:xfrm>
          <a:custGeom>
            <a:avLst/>
            <a:gdLst/>
            <a:ahLst/>
            <a:cxnLst/>
            <a:rect l="l" t="t" r="r" b="b"/>
            <a:pathLst>
              <a:path w="295275" h="304800">
                <a:moveTo>
                  <a:pt x="76199" y="0"/>
                </a:moveTo>
                <a:lnTo>
                  <a:pt x="219076" y="0"/>
                </a:lnTo>
                <a:cubicBezTo>
                  <a:pt x="261160" y="0"/>
                  <a:pt x="295275" y="34115"/>
                  <a:pt x="295275" y="76199"/>
                </a:cubicBezTo>
                <a:lnTo>
                  <a:pt x="295275" y="228601"/>
                </a:lnTo>
                <a:cubicBezTo>
                  <a:pt x="295275" y="270685"/>
                  <a:pt x="261160" y="304800"/>
                  <a:pt x="219076" y="304800"/>
                </a:cubicBezTo>
                <a:lnTo>
                  <a:pt x="76199" y="304800"/>
                </a:lnTo>
                <a:cubicBezTo>
                  <a:pt x="34115" y="304800"/>
                  <a:pt x="0" y="270685"/>
                  <a:pt x="0" y="22860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754743" y="3703323"/>
            <a:ext cx="3619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23599" y="3703323"/>
            <a:ext cx="314325" cy="304800"/>
          </a:xfrm>
          <a:custGeom>
            <a:avLst/>
            <a:gdLst/>
            <a:ahLst/>
            <a:cxnLst/>
            <a:rect l="l" t="t" r="r" b="b"/>
            <a:pathLst>
              <a:path w="314325" h="304800">
                <a:moveTo>
                  <a:pt x="76200" y="0"/>
                </a:moveTo>
                <a:lnTo>
                  <a:pt x="238125" y="0"/>
                </a:lnTo>
                <a:cubicBezTo>
                  <a:pt x="280181" y="0"/>
                  <a:pt x="314325" y="34144"/>
                  <a:pt x="314325" y="76200"/>
                </a:cubicBezTo>
                <a:lnTo>
                  <a:pt x="314325" y="228600"/>
                </a:lnTo>
                <a:cubicBezTo>
                  <a:pt x="314325" y="270656"/>
                  <a:pt x="280181" y="304800"/>
                  <a:pt x="2381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123599" y="3703323"/>
            <a:ext cx="3810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518053" y="37033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518053" y="3703323"/>
            <a:ext cx="3714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902625" y="3703323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76200" y="0"/>
                </a:moveTo>
                <a:lnTo>
                  <a:pt x="266700" y="0"/>
                </a:lnTo>
                <a:cubicBezTo>
                  <a:pt x="308756" y="0"/>
                  <a:pt x="342900" y="34144"/>
                  <a:pt x="342900" y="76200"/>
                </a:cubicBezTo>
                <a:lnTo>
                  <a:pt x="342900" y="228600"/>
                </a:lnTo>
                <a:cubicBezTo>
                  <a:pt x="342900" y="270656"/>
                  <a:pt x="308756" y="304800"/>
                  <a:pt x="2667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902625" y="3703323"/>
            <a:ext cx="4095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19939" y="3703323"/>
            <a:ext cx="561975" cy="304800"/>
          </a:xfrm>
          <a:custGeom>
            <a:avLst/>
            <a:gdLst/>
            <a:ahLst/>
            <a:cxnLst/>
            <a:rect l="l" t="t" r="r" b="b"/>
            <a:pathLst>
              <a:path w="561975" h="304800">
                <a:moveTo>
                  <a:pt x="76200" y="0"/>
                </a:moveTo>
                <a:lnTo>
                  <a:pt x="485775" y="0"/>
                </a:lnTo>
                <a:cubicBezTo>
                  <a:pt x="527831" y="0"/>
                  <a:pt x="561975" y="34144"/>
                  <a:pt x="561975" y="76200"/>
                </a:cubicBezTo>
                <a:lnTo>
                  <a:pt x="561975" y="228600"/>
                </a:lnTo>
                <a:cubicBezTo>
                  <a:pt x="561975" y="270656"/>
                  <a:pt x="527831" y="304800"/>
                  <a:pt x="4857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19939" y="3703323"/>
            <a:ext cx="6286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9120" y="4164328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8170" y="4343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07720" y="4320546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 &amp; K-type stars most favorable for life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060" y="1413510"/>
            <a:ext cx="5608320" cy="4122420"/>
          </a:xfrm>
          <a:custGeom>
            <a:avLst/>
            <a:gdLst/>
            <a:ahLst/>
            <a:cxnLst/>
            <a:rect l="l" t="t" r="r" b="b"/>
            <a:pathLst>
              <a:path w="5608320" h="4122420">
                <a:moveTo>
                  <a:pt x="114315" y="0"/>
                </a:moveTo>
                <a:lnTo>
                  <a:pt x="5494005" y="0"/>
                </a:lnTo>
                <a:cubicBezTo>
                  <a:pt x="5557140" y="0"/>
                  <a:pt x="5608320" y="51180"/>
                  <a:pt x="5608320" y="114315"/>
                </a:cubicBezTo>
                <a:lnTo>
                  <a:pt x="5608320" y="4008105"/>
                </a:lnTo>
                <a:cubicBezTo>
                  <a:pt x="5608320" y="4071240"/>
                  <a:pt x="5557140" y="4122420"/>
                  <a:pt x="5494005" y="4122420"/>
                </a:cubicBezTo>
                <a:lnTo>
                  <a:pt x="114315" y="4122420"/>
                </a:lnTo>
                <a:cubicBezTo>
                  <a:pt x="51180" y="4122420"/>
                  <a:pt x="0" y="4071240"/>
                  <a:pt x="0" y="4008105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9370" y="1607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01765" y="1703073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60870" y="1684023"/>
            <a:ext cx="2924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Habitability Metrics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9370" y="2217423"/>
            <a:ext cx="5219700" cy="1066800"/>
          </a:xfrm>
          <a:custGeom>
            <a:avLst/>
            <a:gdLst/>
            <a:ahLst/>
            <a:cxnLst/>
            <a:rect l="l" t="t" r="r" b="b"/>
            <a:pathLst>
              <a:path w="5219700" h="10668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990598"/>
                </a:lnTo>
                <a:cubicBezTo>
                  <a:pt x="5219700" y="1032683"/>
                  <a:pt x="5185583" y="1066800"/>
                  <a:pt x="5143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503670" y="2350652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Habitability Score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963752" y="233172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190499"/>
                </a:lnTo>
                <a:cubicBezTo>
                  <a:pt x="533400" y="211542"/>
                  <a:pt x="516342" y="228600"/>
                  <a:pt x="495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963752" y="2331723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03670" y="2636402"/>
            <a:ext cx="4991100" cy="304800"/>
          </a:xfrm>
          <a:custGeom>
            <a:avLst/>
            <a:gdLst/>
            <a:ahLst/>
            <a:cxnLst/>
            <a:rect l="l" t="t" r="r" b="b"/>
            <a:pathLst>
              <a:path w="4991100" h="304800">
                <a:moveTo>
                  <a:pt x="38100" y="0"/>
                </a:moveTo>
                <a:lnTo>
                  <a:pt x="4953000" y="0"/>
                </a:lnTo>
                <a:cubicBezTo>
                  <a:pt x="4974028" y="0"/>
                  <a:pt x="4991100" y="17072"/>
                  <a:pt x="4991100" y="38100"/>
                </a:cubicBezTo>
                <a:lnTo>
                  <a:pt x="4991100" y="266700"/>
                </a:lnTo>
                <a:cubicBezTo>
                  <a:pt x="4991100" y="287728"/>
                  <a:pt x="4974028" y="304800"/>
                  <a:pt x="49530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B0F19"/>
          </a:solidFill>
          <a:ln/>
        </p:spPr>
      </p:sp>
      <p:sp>
        <p:nvSpPr>
          <p:cNvPr id="44" name="Text 42"/>
          <p:cNvSpPr/>
          <p:nvPr/>
        </p:nvSpPr>
        <p:spPr>
          <a:xfrm>
            <a:off x="6503670" y="2636402"/>
            <a:ext cx="5048250" cy="304800"/>
          </a:xfrm>
          <a:prstGeom prst="rect">
            <a:avLst/>
          </a:prstGeom>
          <a:noFill/>
          <a:ln/>
        </p:spPr>
        <p:txBody>
          <a:bodyPr wrap="square" lIns="114300" tIns="76200" rIns="1143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/ (1 + temp_dev + rad_dev)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3670" y="3017281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Earth proximity—higher is better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9370" y="3398165"/>
            <a:ext cx="5219700" cy="1066800"/>
          </a:xfrm>
          <a:custGeom>
            <a:avLst/>
            <a:gdLst/>
            <a:ahLst/>
            <a:cxnLst/>
            <a:rect l="l" t="t" r="r" b="b"/>
            <a:pathLst>
              <a:path w="5219700" h="1066800">
                <a:moveTo>
                  <a:pt x="76202" y="0"/>
                </a:moveTo>
                <a:lnTo>
                  <a:pt x="5143498" y="0"/>
                </a:lnTo>
                <a:cubicBezTo>
                  <a:pt x="5185583" y="0"/>
                  <a:pt x="5219700" y="34117"/>
                  <a:pt x="5219700" y="76202"/>
                </a:cubicBezTo>
                <a:lnTo>
                  <a:pt x="5219700" y="990598"/>
                </a:lnTo>
                <a:cubicBezTo>
                  <a:pt x="5219700" y="1032683"/>
                  <a:pt x="5185583" y="1066800"/>
                  <a:pt x="51434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503670" y="3531394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Deviance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761107" y="3512465"/>
            <a:ext cx="733425" cy="228600"/>
          </a:xfrm>
          <a:custGeom>
            <a:avLst/>
            <a:gdLst/>
            <a:ahLst/>
            <a:cxnLst/>
            <a:rect l="l" t="t" r="r" b="b"/>
            <a:pathLst>
              <a:path w="733425" h="228600">
                <a:moveTo>
                  <a:pt x="38101" y="0"/>
                </a:moveTo>
                <a:lnTo>
                  <a:pt x="695324" y="0"/>
                </a:lnTo>
                <a:cubicBezTo>
                  <a:pt x="716367" y="0"/>
                  <a:pt x="733425" y="17058"/>
                  <a:pt x="733425" y="38101"/>
                </a:cubicBezTo>
                <a:lnTo>
                  <a:pt x="733425" y="190499"/>
                </a:lnTo>
                <a:cubicBezTo>
                  <a:pt x="733425" y="211542"/>
                  <a:pt x="716367" y="228600"/>
                  <a:pt x="695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761107" y="3512465"/>
            <a:ext cx="7905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03670" y="3817144"/>
            <a:ext cx="4991100" cy="304800"/>
          </a:xfrm>
          <a:custGeom>
            <a:avLst/>
            <a:gdLst/>
            <a:ahLst/>
            <a:cxnLst/>
            <a:rect l="l" t="t" r="r" b="b"/>
            <a:pathLst>
              <a:path w="4991100" h="304800">
                <a:moveTo>
                  <a:pt x="38100" y="0"/>
                </a:moveTo>
                <a:lnTo>
                  <a:pt x="4953000" y="0"/>
                </a:lnTo>
                <a:cubicBezTo>
                  <a:pt x="4974028" y="0"/>
                  <a:pt x="4991100" y="17072"/>
                  <a:pt x="4991100" y="38100"/>
                </a:cubicBezTo>
                <a:lnTo>
                  <a:pt x="4991100" y="266700"/>
                </a:lnTo>
                <a:cubicBezTo>
                  <a:pt x="4991100" y="287728"/>
                  <a:pt x="4974028" y="304800"/>
                  <a:pt x="49530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B0F19"/>
          </a:solidFill>
          <a:ln/>
        </p:spPr>
      </p:sp>
      <p:sp>
        <p:nvSpPr>
          <p:cNvPr id="51" name="Text 49"/>
          <p:cNvSpPr/>
          <p:nvPr/>
        </p:nvSpPr>
        <p:spPr>
          <a:xfrm>
            <a:off x="6503670" y="3817144"/>
            <a:ext cx="5048250" cy="304800"/>
          </a:xfrm>
          <a:prstGeom prst="rect">
            <a:avLst/>
          </a:prstGeom>
          <a:noFill/>
          <a:ln/>
        </p:spPr>
        <p:txBody>
          <a:bodyPr wrap="square" lIns="114300" tIns="76200" rIns="114300" bIns="762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|pl_eqt - 288| / 288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3670" y="4198023"/>
            <a:ext cx="504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Deviation from Earth's 288K temperature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9370" y="4578911"/>
            <a:ext cx="5219700" cy="762000"/>
          </a:xfrm>
          <a:custGeom>
            <a:avLst/>
            <a:gdLst/>
            <a:ahLst/>
            <a:cxnLst/>
            <a:rect l="l" t="t" r="r" b="b"/>
            <a:pathLst>
              <a:path w="5219700" h="762000">
                <a:moveTo>
                  <a:pt x="76200" y="0"/>
                </a:moveTo>
                <a:lnTo>
                  <a:pt x="5143500" y="0"/>
                </a:lnTo>
                <a:cubicBezTo>
                  <a:pt x="5185556" y="0"/>
                  <a:pt x="5219700" y="34144"/>
                  <a:pt x="5219700" y="76200"/>
                </a:cubicBezTo>
                <a:lnTo>
                  <a:pt x="5219700" y="685800"/>
                </a:lnTo>
                <a:cubicBezTo>
                  <a:pt x="5219700" y="727856"/>
                  <a:pt x="5185556" y="762000"/>
                  <a:pt x="51435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03670" y="471214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Stellar Compatibility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778014" y="4693211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778014" y="4693211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03670" y="4997890"/>
            <a:ext cx="600075" cy="228600"/>
          </a:xfrm>
          <a:custGeom>
            <a:avLst/>
            <a:gdLst/>
            <a:ahLst/>
            <a:cxnLst/>
            <a:rect l="l" t="t" r="r" b="b"/>
            <a:pathLst>
              <a:path w="600075" h="228600">
                <a:moveTo>
                  <a:pt x="38101" y="0"/>
                </a:moveTo>
                <a:lnTo>
                  <a:pt x="561974" y="0"/>
                </a:lnTo>
                <a:cubicBezTo>
                  <a:pt x="583017" y="0"/>
                  <a:pt x="600075" y="17058"/>
                  <a:pt x="600075" y="38101"/>
                </a:cubicBezTo>
                <a:lnTo>
                  <a:pt x="600075" y="190499"/>
                </a:lnTo>
                <a:cubicBezTo>
                  <a:pt x="600075" y="211542"/>
                  <a:pt x="583017" y="228600"/>
                  <a:pt x="561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503670" y="4997890"/>
            <a:ext cx="657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G/K = 1.0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75182" y="4997890"/>
            <a:ext cx="628650" cy="228600"/>
          </a:xfrm>
          <a:custGeom>
            <a:avLst/>
            <a:gdLst/>
            <a:ahLst/>
            <a:cxnLst/>
            <a:rect l="l" t="t" r="r" b="b"/>
            <a:pathLst>
              <a:path w="628650" h="228600">
                <a:moveTo>
                  <a:pt x="38101" y="0"/>
                </a:moveTo>
                <a:lnTo>
                  <a:pt x="590549" y="0"/>
                </a:lnTo>
                <a:cubicBezTo>
                  <a:pt x="611592" y="0"/>
                  <a:pt x="628650" y="17058"/>
                  <a:pt x="628650" y="38101"/>
                </a:cubicBezTo>
                <a:lnTo>
                  <a:pt x="628650" y="190499"/>
                </a:lnTo>
                <a:cubicBezTo>
                  <a:pt x="628650" y="211542"/>
                  <a:pt x="611592" y="228600"/>
                  <a:pt x="5905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175182" y="4997890"/>
            <a:ext cx="6858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F/M = 0.5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878128" y="4997890"/>
            <a:ext cx="685800" cy="228600"/>
          </a:xfrm>
          <a:custGeom>
            <a:avLst/>
            <a:gdLst/>
            <a:ahLst/>
            <a:cxnLst/>
            <a:rect l="l" t="t" r="r" b="b"/>
            <a:pathLst>
              <a:path w="685800" h="2286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190499"/>
                </a:lnTo>
                <a:cubicBezTo>
                  <a:pt x="685800" y="211542"/>
                  <a:pt x="668742" y="228600"/>
                  <a:pt x="6476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878128" y="4997890"/>
            <a:ext cx="7429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= 0.1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Correlation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6770370" cy="4503420"/>
          </a:xfrm>
          <a:custGeom>
            <a:avLst/>
            <a:gdLst/>
            <a:ahLst/>
            <a:cxnLst/>
            <a:rect l="l" t="t" r="r" b="b"/>
            <a:pathLst>
              <a:path w="6770370" h="4503420">
                <a:moveTo>
                  <a:pt x="114297" y="0"/>
                </a:moveTo>
                <a:lnTo>
                  <a:pt x="6656073" y="0"/>
                </a:lnTo>
                <a:cubicBezTo>
                  <a:pt x="6719198" y="0"/>
                  <a:pt x="6770370" y="51172"/>
                  <a:pt x="6770370" y="114297"/>
                </a:cubicBezTo>
                <a:lnTo>
                  <a:pt x="6770370" y="4389123"/>
                </a:lnTo>
                <a:cubicBezTo>
                  <a:pt x="6770370" y="4452248"/>
                  <a:pt x="6719198" y="4503420"/>
                  <a:pt x="6656073" y="4503420"/>
                </a:cubicBezTo>
                <a:lnTo>
                  <a:pt x="114297" y="4503420"/>
                </a:lnTo>
                <a:cubicBezTo>
                  <a:pt x="51172" y="4503420"/>
                  <a:pt x="0" y="4452248"/>
                  <a:pt x="0" y="43891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9120" y="1607818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 Relationships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120" y="2026918"/>
            <a:ext cx="6381750" cy="838200"/>
          </a:xfrm>
          <a:custGeom>
            <a:avLst/>
            <a:gdLst/>
            <a:ahLst/>
            <a:cxnLst/>
            <a:rect l="l" t="t" r="r" b="b"/>
            <a:pathLst>
              <a:path w="6381750" h="838200">
                <a:moveTo>
                  <a:pt x="76201" y="0"/>
                </a:moveTo>
                <a:lnTo>
                  <a:pt x="6305549" y="0"/>
                </a:lnTo>
                <a:cubicBezTo>
                  <a:pt x="6347634" y="0"/>
                  <a:pt x="6381750" y="34116"/>
                  <a:pt x="6381750" y="76201"/>
                </a:cubicBezTo>
                <a:lnTo>
                  <a:pt x="6381750" y="761999"/>
                </a:lnTo>
                <a:cubicBezTo>
                  <a:pt x="6381750" y="804084"/>
                  <a:pt x="6347634" y="838200"/>
                  <a:pt x="63055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79318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76199" y="0"/>
                </a:moveTo>
                <a:lnTo>
                  <a:pt x="1066801" y="0"/>
                </a:lnTo>
                <a:cubicBezTo>
                  <a:pt x="1108856" y="0"/>
                  <a:pt x="1143000" y="34144"/>
                  <a:pt x="1143000" y="76199"/>
                </a:cubicBezTo>
                <a:lnTo>
                  <a:pt x="1143000" y="190501"/>
                </a:lnTo>
                <a:cubicBezTo>
                  <a:pt x="1143000" y="232556"/>
                  <a:pt x="1108856" y="266700"/>
                  <a:pt x="10668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79318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st_teff ↔ st_rad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06596" y="2179318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76199" y="0"/>
                </a:moveTo>
                <a:lnTo>
                  <a:pt x="628651" y="0"/>
                </a:lnTo>
                <a:cubicBezTo>
                  <a:pt x="670706" y="0"/>
                  <a:pt x="704850" y="34144"/>
                  <a:pt x="704850" y="76199"/>
                </a:cubicBezTo>
                <a:lnTo>
                  <a:pt x="704850" y="190501"/>
                </a:lnTo>
                <a:cubicBezTo>
                  <a:pt x="704850" y="232556"/>
                  <a:pt x="670706" y="266700"/>
                  <a:pt x="6286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06596" y="2179318"/>
            <a:ext cx="771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522218"/>
            <a:ext cx="614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Hotter stars tend to be larger in radius—consistent with stellar physics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" y="2979418"/>
            <a:ext cx="6381750" cy="838200"/>
          </a:xfrm>
          <a:custGeom>
            <a:avLst/>
            <a:gdLst/>
            <a:ahLst/>
            <a:cxnLst/>
            <a:rect l="l" t="t" r="r" b="b"/>
            <a:pathLst>
              <a:path w="6381750" h="838200">
                <a:moveTo>
                  <a:pt x="76201" y="0"/>
                </a:moveTo>
                <a:lnTo>
                  <a:pt x="6305549" y="0"/>
                </a:lnTo>
                <a:cubicBezTo>
                  <a:pt x="6347634" y="0"/>
                  <a:pt x="6381750" y="34116"/>
                  <a:pt x="6381750" y="76201"/>
                </a:cubicBezTo>
                <a:lnTo>
                  <a:pt x="6381750" y="761999"/>
                </a:lnTo>
                <a:cubicBezTo>
                  <a:pt x="6381750" y="804084"/>
                  <a:pt x="6347634" y="838200"/>
                  <a:pt x="63055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31818"/>
            <a:ext cx="1476375" cy="266700"/>
          </a:xfrm>
          <a:custGeom>
            <a:avLst/>
            <a:gdLst/>
            <a:ahLst/>
            <a:cxnLst/>
            <a:rect l="l" t="t" r="r" b="b"/>
            <a:pathLst>
              <a:path w="1476375" h="266700">
                <a:moveTo>
                  <a:pt x="76199" y="0"/>
                </a:moveTo>
                <a:lnTo>
                  <a:pt x="1400176" y="0"/>
                </a:lnTo>
                <a:cubicBezTo>
                  <a:pt x="1442231" y="0"/>
                  <a:pt x="1476375" y="34144"/>
                  <a:pt x="1476375" y="76199"/>
                </a:cubicBezTo>
                <a:lnTo>
                  <a:pt x="1476375" y="190501"/>
                </a:lnTo>
                <a:cubicBezTo>
                  <a:pt x="1476375" y="232556"/>
                  <a:pt x="1442231" y="266700"/>
                  <a:pt x="140017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31818"/>
            <a:ext cx="15430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pl_rade ↔ pl_bmasse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06596" y="3131818"/>
            <a:ext cx="704850" cy="266700"/>
          </a:xfrm>
          <a:custGeom>
            <a:avLst/>
            <a:gdLst/>
            <a:ahLst/>
            <a:cxnLst/>
            <a:rect l="l" t="t" r="r" b="b"/>
            <a:pathLst>
              <a:path w="704850" h="266700">
                <a:moveTo>
                  <a:pt x="76199" y="0"/>
                </a:moveTo>
                <a:lnTo>
                  <a:pt x="628651" y="0"/>
                </a:lnTo>
                <a:cubicBezTo>
                  <a:pt x="670706" y="0"/>
                  <a:pt x="704850" y="34144"/>
                  <a:pt x="704850" y="76199"/>
                </a:cubicBezTo>
                <a:lnTo>
                  <a:pt x="704850" y="190501"/>
                </a:lnTo>
                <a:cubicBezTo>
                  <a:pt x="704850" y="232556"/>
                  <a:pt x="670706" y="266700"/>
                  <a:pt x="6286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06596" y="3131818"/>
            <a:ext cx="771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18"/>
            <a:ext cx="614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radius-mass relationship for planetary bodies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9120" y="3931918"/>
            <a:ext cx="6381750" cy="838200"/>
          </a:xfrm>
          <a:custGeom>
            <a:avLst/>
            <a:gdLst/>
            <a:ahLst/>
            <a:cxnLst/>
            <a:rect l="l" t="t" r="r" b="b"/>
            <a:pathLst>
              <a:path w="6381750" h="838200">
                <a:moveTo>
                  <a:pt x="76201" y="0"/>
                </a:moveTo>
                <a:lnTo>
                  <a:pt x="6305549" y="0"/>
                </a:lnTo>
                <a:cubicBezTo>
                  <a:pt x="6347634" y="0"/>
                  <a:pt x="6381750" y="34116"/>
                  <a:pt x="6381750" y="76201"/>
                </a:cubicBezTo>
                <a:lnTo>
                  <a:pt x="6381750" y="761999"/>
                </a:lnTo>
                <a:cubicBezTo>
                  <a:pt x="6381750" y="804084"/>
                  <a:pt x="6347634" y="838200"/>
                  <a:pt x="63055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084318"/>
            <a:ext cx="1466850" cy="266700"/>
          </a:xfrm>
          <a:custGeom>
            <a:avLst/>
            <a:gdLst/>
            <a:ahLst/>
            <a:cxnLst/>
            <a:rect l="l" t="t" r="r" b="b"/>
            <a:pathLst>
              <a:path w="1466850" h="266700">
                <a:moveTo>
                  <a:pt x="76199" y="0"/>
                </a:moveTo>
                <a:lnTo>
                  <a:pt x="1390651" y="0"/>
                </a:lnTo>
                <a:cubicBezTo>
                  <a:pt x="1432706" y="0"/>
                  <a:pt x="1466850" y="34144"/>
                  <a:pt x="1466850" y="76199"/>
                </a:cubicBezTo>
                <a:lnTo>
                  <a:pt x="1466850" y="190501"/>
                </a:lnTo>
                <a:cubicBezTo>
                  <a:pt x="1466850" y="232556"/>
                  <a:pt x="1432706" y="266700"/>
                  <a:pt x="139065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84318"/>
            <a:ext cx="15335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sy_snum ↔ sy_pnum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27170" y="4084318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76199" y="0"/>
                </a:moveTo>
                <a:lnTo>
                  <a:pt x="809626" y="0"/>
                </a:lnTo>
                <a:cubicBezTo>
                  <a:pt x="851681" y="0"/>
                  <a:pt x="885825" y="34144"/>
                  <a:pt x="885825" y="76199"/>
                </a:cubicBezTo>
                <a:lnTo>
                  <a:pt x="885825" y="190501"/>
                </a:lnTo>
                <a:cubicBezTo>
                  <a:pt x="885825" y="232556"/>
                  <a:pt x="851681" y="266700"/>
                  <a:pt x="8096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27170" y="4084318"/>
            <a:ext cx="952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427218"/>
            <a:ext cx="614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Multi-star systems tend to host more planets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9120" y="4884418"/>
            <a:ext cx="6381750" cy="838200"/>
          </a:xfrm>
          <a:custGeom>
            <a:avLst/>
            <a:gdLst/>
            <a:ahLst/>
            <a:cxnLst/>
            <a:rect l="l" t="t" r="r" b="b"/>
            <a:pathLst>
              <a:path w="6381750" h="838200">
                <a:moveTo>
                  <a:pt x="76201" y="0"/>
                </a:moveTo>
                <a:lnTo>
                  <a:pt x="6305549" y="0"/>
                </a:lnTo>
                <a:cubicBezTo>
                  <a:pt x="6347634" y="0"/>
                  <a:pt x="6381750" y="34116"/>
                  <a:pt x="6381750" y="76201"/>
                </a:cubicBezTo>
                <a:lnTo>
                  <a:pt x="6381750" y="761999"/>
                </a:lnTo>
                <a:cubicBezTo>
                  <a:pt x="6381750" y="804084"/>
                  <a:pt x="6347634" y="838200"/>
                  <a:pt x="63055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5036818"/>
            <a:ext cx="1447800" cy="266700"/>
          </a:xfrm>
          <a:custGeom>
            <a:avLst/>
            <a:gdLst/>
            <a:ahLst/>
            <a:cxnLst/>
            <a:rect l="l" t="t" r="r" b="b"/>
            <a:pathLst>
              <a:path w="1447800" h="266700">
                <a:moveTo>
                  <a:pt x="76199" y="0"/>
                </a:moveTo>
                <a:lnTo>
                  <a:pt x="1371601" y="0"/>
                </a:lnTo>
                <a:cubicBezTo>
                  <a:pt x="1413656" y="0"/>
                  <a:pt x="1447800" y="34144"/>
                  <a:pt x="1447800" y="76199"/>
                </a:cubicBezTo>
                <a:lnTo>
                  <a:pt x="1447800" y="190501"/>
                </a:lnTo>
                <a:cubicBezTo>
                  <a:pt x="1447800" y="232556"/>
                  <a:pt x="1413656" y="266700"/>
                  <a:pt x="1371601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36818"/>
            <a:ext cx="1514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Habitability ↔ pl_eqt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27170" y="5036818"/>
            <a:ext cx="885825" cy="266700"/>
          </a:xfrm>
          <a:custGeom>
            <a:avLst/>
            <a:gdLst/>
            <a:ahLst/>
            <a:cxnLst/>
            <a:rect l="l" t="t" r="r" b="b"/>
            <a:pathLst>
              <a:path w="885825" h="266700">
                <a:moveTo>
                  <a:pt x="76199" y="0"/>
                </a:moveTo>
                <a:lnTo>
                  <a:pt x="809626" y="0"/>
                </a:lnTo>
                <a:cubicBezTo>
                  <a:pt x="851681" y="0"/>
                  <a:pt x="885825" y="34144"/>
                  <a:pt x="885825" y="76199"/>
                </a:cubicBezTo>
                <a:lnTo>
                  <a:pt x="885825" y="190501"/>
                </a:lnTo>
                <a:cubicBezTo>
                  <a:pt x="885825" y="232556"/>
                  <a:pt x="851681" y="266700"/>
                  <a:pt x="809626" y="266700"/>
                </a:cubicBezTo>
                <a:lnTo>
                  <a:pt x="76199" y="266700"/>
                </a:lnTo>
                <a:cubicBezTo>
                  <a:pt x="34144" y="266700"/>
                  <a:pt x="0" y="232556"/>
                  <a:pt x="0" y="1905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927170" y="5036818"/>
            <a:ext cx="952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5379718"/>
            <a:ext cx="614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Temperature-based design validates our approach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57110" y="1413510"/>
            <a:ext cx="4446270" cy="1912620"/>
          </a:xfrm>
          <a:custGeom>
            <a:avLst/>
            <a:gdLst/>
            <a:ahLst/>
            <a:cxnLst/>
            <a:rect l="l" t="t" r="r" b="b"/>
            <a:pathLst>
              <a:path w="4446270" h="1912620">
                <a:moveTo>
                  <a:pt x="114298" y="0"/>
                </a:moveTo>
                <a:lnTo>
                  <a:pt x="4331972" y="0"/>
                </a:lnTo>
                <a:cubicBezTo>
                  <a:pt x="4395097" y="0"/>
                  <a:pt x="4446270" y="51173"/>
                  <a:pt x="4446270" y="114298"/>
                </a:cubicBezTo>
                <a:lnTo>
                  <a:pt x="4446270" y="1798322"/>
                </a:lnTo>
                <a:cubicBezTo>
                  <a:pt x="4446270" y="1861447"/>
                  <a:pt x="4395097" y="1912620"/>
                  <a:pt x="4331972" y="1912620"/>
                </a:cubicBezTo>
                <a:lnTo>
                  <a:pt x="114298" y="1912620"/>
                </a:lnTo>
                <a:cubicBezTo>
                  <a:pt x="51173" y="1912620"/>
                  <a:pt x="0" y="1861447"/>
                  <a:pt x="0" y="179832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5232" y="16459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789545" y="1607818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51420" y="2026918"/>
            <a:ext cx="4057650" cy="1104900"/>
          </a:xfrm>
          <a:custGeom>
            <a:avLst/>
            <a:gdLst/>
            <a:ahLst/>
            <a:cxnLst/>
            <a:rect l="l" t="t" r="r" b="b"/>
            <a:pathLst>
              <a:path w="4057650" h="1104900">
                <a:moveTo>
                  <a:pt x="76205" y="0"/>
                </a:moveTo>
                <a:lnTo>
                  <a:pt x="3981445" y="0"/>
                </a:lnTo>
                <a:cubicBezTo>
                  <a:pt x="4023532" y="0"/>
                  <a:pt x="4057650" y="34118"/>
                  <a:pt x="4057650" y="76205"/>
                </a:cubicBezTo>
                <a:lnTo>
                  <a:pt x="4057650" y="1028695"/>
                </a:lnTo>
                <a:cubicBezTo>
                  <a:pt x="4057650" y="1070782"/>
                  <a:pt x="4023532" y="1104900"/>
                  <a:pt x="3981445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03820" y="2179318"/>
            <a:ext cx="3829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multicollinearity ensures stable model training and reliable predictions.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703820" y="282701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7894320" y="2788918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redundant features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57110" y="3486156"/>
            <a:ext cx="4446270" cy="1493520"/>
          </a:xfrm>
          <a:custGeom>
            <a:avLst/>
            <a:gdLst/>
            <a:ahLst/>
            <a:cxnLst/>
            <a:rect l="l" t="t" r="r" b="b"/>
            <a:pathLst>
              <a:path w="4446270" h="1493520">
                <a:moveTo>
                  <a:pt x="114299" y="0"/>
                </a:moveTo>
                <a:lnTo>
                  <a:pt x="4331971" y="0"/>
                </a:lnTo>
                <a:cubicBezTo>
                  <a:pt x="4395097" y="0"/>
                  <a:pt x="4446270" y="51173"/>
                  <a:pt x="4446270" y="114299"/>
                </a:cubicBezTo>
                <a:lnTo>
                  <a:pt x="4446270" y="1379221"/>
                </a:lnTo>
                <a:cubicBezTo>
                  <a:pt x="4446270" y="1442347"/>
                  <a:pt x="4395097" y="1493520"/>
                  <a:pt x="4331971" y="1493520"/>
                </a:cubicBezTo>
                <a:lnTo>
                  <a:pt x="114299" y="1493520"/>
                </a:lnTo>
                <a:cubicBezTo>
                  <a:pt x="51216" y="1493520"/>
                  <a:pt x="0" y="1442304"/>
                  <a:pt x="0" y="13792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51420" y="3680464"/>
            <a:ext cx="414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Strength Scale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51420" y="4118614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38100"/>
                </a:lnTo>
                <a:cubicBezTo>
                  <a:pt x="762000" y="59128"/>
                  <a:pt x="744928" y="76200"/>
                  <a:pt x="723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2" name="Text 40"/>
          <p:cNvSpPr/>
          <p:nvPr/>
        </p:nvSpPr>
        <p:spPr>
          <a:xfrm>
            <a:off x="8427720" y="4061464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(0.7+)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51420" y="4385314"/>
            <a:ext cx="533400" cy="76200"/>
          </a:xfrm>
          <a:custGeom>
            <a:avLst/>
            <a:gdLst/>
            <a:ahLst/>
            <a:cxnLst/>
            <a:rect l="l" t="t" r="r" b="b"/>
            <a:pathLst>
              <a:path w="533400" h="76200">
                <a:moveTo>
                  <a:pt x="38100" y="0"/>
                </a:moveTo>
                <a:lnTo>
                  <a:pt x="495300" y="0"/>
                </a:lnTo>
                <a:cubicBezTo>
                  <a:pt x="516328" y="0"/>
                  <a:pt x="533400" y="17072"/>
                  <a:pt x="533400" y="38100"/>
                </a:cubicBezTo>
                <a:lnTo>
                  <a:pt x="533400" y="38100"/>
                </a:lnTo>
                <a:cubicBezTo>
                  <a:pt x="533400" y="59128"/>
                  <a:pt x="516328" y="76200"/>
                  <a:pt x="495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3B82F6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8199120" y="4328164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(0.3-0.7)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1420" y="4652014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38100"/>
                </a:lnTo>
                <a:cubicBezTo>
                  <a:pt x="304800" y="59128"/>
                  <a:pt x="287728" y="76200"/>
                  <a:pt x="2667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8B5CF6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7970520" y="4594864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(&lt;0.3)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4825" y="495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Dataset Preparation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5608320" cy="3979545"/>
          </a:xfrm>
          <a:custGeom>
            <a:avLst/>
            <a:gdLst/>
            <a:ahLst/>
            <a:cxnLst/>
            <a:rect l="l" t="t" r="r" b="b"/>
            <a:pathLst>
              <a:path w="5608320" h="3979545">
                <a:moveTo>
                  <a:pt x="114293" y="0"/>
                </a:moveTo>
                <a:lnTo>
                  <a:pt x="5494027" y="0"/>
                </a:lnTo>
                <a:cubicBezTo>
                  <a:pt x="5557149" y="0"/>
                  <a:pt x="5608320" y="51171"/>
                  <a:pt x="5608320" y="114293"/>
                </a:cubicBezTo>
                <a:lnTo>
                  <a:pt x="5608320" y="3865252"/>
                </a:lnTo>
                <a:cubicBezTo>
                  <a:pt x="5608320" y="3928374"/>
                  <a:pt x="5557149" y="3979545"/>
                  <a:pt x="5494027" y="3979545"/>
                </a:cubicBezTo>
                <a:lnTo>
                  <a:pt x="114293" y="3979545"/>
                </a:lnTo>
                <a:cubicBezTo>
                  <a:pt x="51171" y="3979545"/>
                  <a:pt x="0" y="3928374"/>
                  <a:pt x="0" y="386525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1026" y="164591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17245" y="1607818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Variable Definition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026918"/>
            <a:ext cx="5219700" cy="1828800"/>
          </a:xfrm>
          <a:custGeom>
            <a:avLst/>
            <a:gdLst/>
            <a:ahLst/>
            <a:cxnLst/>
            <a:rect l="l" t="t" r="r" b="b"/>
            <a:pathLst>
              <a:path w="5219700" h="1828800">
                <a:moveTo>
                  <a:pt x="76206" y="0"/>
                </a:moveTo>
                <a:lnTo>
                  <a:pt x="5143494" y="0"/>
                </a:lnTo>
                <a:cubicBezTo>
                  <a:pt x="5185581" y="0"/>
                  <a:pt x="5219700" y="34119"/>
                  <a:pt x="5219700" y="76206"/>
                </a:cubicBezTo>
                <a:lnTo>
                  <a:pt x="5219700" y="1752594"/>
                </a:lnTo>
                <a:cubicBezTo>
                  <a:pt x="5219700" y="1794681"/>
                  <a:pt x="5185581" y="1828800"/>
                  <a:pt x="51434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79318"/>
            <a:ext cx="49815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10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is_habitable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(row):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Earth-like conditions:# Temperature: 180K - 320K# Radius: 0.5 - 2.0 Earth radii</a:t>
            </a:r>
            <a:r>
              <a:rPr lang="en-US" sz="10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(</a:t>
            </a: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180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&lt; eqt &lt; </a:t>
            </a: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320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 </a:t>
            </a:r>
            <a:r>
              <a:rPr lang="en-US" sz="10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\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(</a:t>
            </a: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0.5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&lt; rade &lt; </a:t>
            </a: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2.0</a:t>
            </a: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    </a:t>
            </a:r>
            <a:r>
              <a:rPr lang="en-US" sz="10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Habitable</a:t>
            </a:r>
            <a:r>
              <a:rPr lang="en-US" sz="105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05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Not Habitable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" y="4027168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47625" y="0"/>
                </a:moveTo>
                <a:cubicBezTo>
                  <a:pt x="31849" y="0"/>
                  <a:pt x="19050" y="12799"/>
                  <a:pt x="19050" y="28575"/>
                </a:cubicBezTo>
                <a:lnTo>
                  <a:pt x="19050" y="77599"/>
                </a:lnTo>
                <a:cubicBezTo>
                  <a:pt x="10269" y="85427"/>
                  <a:pt x="4763" y="96857"/>
                  <a:pt x="4763" y="109537"/>
                </a:cubicBezTo>
                <a:cubicBezTo>
                  <a:pt x="4763" y="133201"/>
                  <a:pt x="23961" y="152400"/>
                  <a:pt x="47625" y="152400"/>
                </a:cubicBezTo>
                <a:cubicBezTo>
                  <a:pt x="71289" y="152400"/>
                  <a:pt x="90488" y="133201"/>
                  <a:pt x="90488" y="109537"/>
                </a:cubicBezTo>
                <a:cubicBezTo>
                  <a:pt x="90488" y="96857"/>
                  <a:pt x="84981" y="85427"/>
                  <a:pt x="76200" y="77599"/>
                </a:cubicBezTo>
                <a:lnTo>
                  <a:pt x="76200" y="28575"/>
                </a:lnTo>
                <a:cubicBezTo>
                  <a:pt x="76200" y="12799"/>
                  <a:pt x="63401" y="0"/>
                  <a:pt x="47625" y="0"/>
                </a:cubicBezTo>
                <a:close/>
                <a:moveTo>
                  <a:pt x="66675" y="109537"/>
                </a:moveTo>
                <a:cubicBezTo>
                  <a:pt x="66675" y="120045"/>
                  <a:pt x="58132" y="128588"/>
                  <a:pt x="47625" y="128588"/>
                </a:cubicBezTo>
                <a:cubicBezTo>
                  <a:pt x="37118" y="128588"/>
                  <a:pt x="28575" y="120045"/>
                  <a:pt x="28575" y="109537"/>
                </a:cubicBezTo>
                <a:cubicBezTo>
                  <a:pt x="28575" y="101531"/>
                  <a:pt x="33486" y="94684"/>
                  <a:pt x="40481" y="91886"/>
                </a:cubicBezTo>
                <a:lnTo>
                  <a:pt x="40481" y="64294"/>
                </a:lnTo>
                <a:cubicBezTo>
                  <a:pt x="40481" y="60335"/>
                  <a:pt x="43666" y="57150"/>
                  <a:pt x="47625" y="57150"/>
                </a:cubicBezTo>
                <a:cubicBezTo>
                  <a:pt x="51584" y="57150"/>
                  <a:pt x="54769" y="60335"/>
                  <a:pt x="54769" y="64294"/>
                </a:cubicBezTo>
                <a:lnTo>
                  <a:pt x="54769" y="91886"/>
                </a:lnTo>
                <a:cubicBezTo>
                  <a:pt x="61764" y="94714"/>
                  <a:pt x="66675" y="101560"/>
                  <a:pt x="66675" y="1095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" y="4008118"/>
            <a:ext cx="2295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range allows liquid water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170" y="429386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83920" y="4274818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Radius range captures rocky planets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5060" y="1413510"/>
            <a:ext cx="5608320" cy="3979545"/>
          </a:xfrm>
          <a:custGeom>
            <a:avLst/>
            <a:gdLst/>
            <a:ahLst/>
            <a:cxnLst/>
            <a:rect l="l" t="t" r="r" b="b"/>
            <a:pathLst>
              <a:path w="5608320" h="3979545">
                <a:moveTo>
                  <a:pt x="114293" y="0"/>
                </a:moveTo>
                <a:lnTo>
                  <a:pt x="5494027" y="0"/>
                </a:lnTo>
                <a:cubicBezTo>
                  <a:pt x="5557149" y="0"/>
                  <a:pt x="5608320" y="51171"/>
                  <a:pt x="5608320" y="114293"/>
                </a:cubicBezTo>
                <a:lnTo>
                  <a:pt x="5608320" y="3865252"/>
                </a:lnTo>
                <a:cubicBezTo>
                  <a:pt x="5608320" y="3928374"/>
                  <a:pt x="5557149" y="3979545"/>
                  <a:pt x="5494027" y="3979545"/>
                </a:cubicBezTo>
                <a:lnTo>
                  <a:pt x="114293" y="3979545"/>
                </a:lnTo>
                <a:cubicBezTo>
                  <a:pt x="51171" y="3979545"/>
                  <a:pt x="0" y="3928374"/>
                  <a:pt x="0" y="386525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1276" y="164591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7495" y="1607818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Split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9370" y="2026918"/>
            <a:ext cx="5219700" cy="838200"/>
          </a:xfrm>
          <a:custGeom>
            <a:avLst/>
            <a:gdLst/>
            <a:ahLst/>
            <a:cxnLst/>
            <a:rect l="l" t="t" r="r" b="b"/>
            <a:pathLst>
              <a:path w="5219700" h="838200">
                <a:moveTo>
                  <a:pt x="76201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761999"/>
                </a:lnTo>
                <a:cubicBezTo>
                  <a:pt x="5219700" y="804084"/>
                  <a:pt x="5185584" y="838200"/>
                  <a:pt x="51434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41770" y="2217307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Habitable Candidates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50072" y="2179318"/>
            <a:ext cx="523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1770" y="2560207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0.5% of total dataset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89370" y="2979186"/>
            <a:ext cx="5219700" cy="838200"/>
          </a:xfrm>
          <a:custGeom>
            <a:avLst/>
            <a:gdLst/>
            <a:ahLst/>
            <a:cxnLst/>
            <a:rect l="l" t="t" r="r" b="b"/>
            <a:pathLst>
              <a:path w="5219700" h="838200">
                <a:moveTo>
                  <a:pt x="76201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761999"/>
                </a:lnTo>
                <a:cubicBezTo>
                  <a:pt x="5219700" y="804084"/>
                  <a:pt x="5185584" y="838200"/>
                  <a:pt x="51434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41770" y="3169565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73252" y="3131586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31,369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41770" y="3512465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of samples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89370" y="3931444"/>
            <a:ext cx="5219700" cy="838200"/>
          </a:xfrm>
          <a:custGeom>
            <a:avLst/>
            <a:gdLst/>
            <a:ahLst/>
            <a:cxnLst/>
            <a:rect l="l" t="t" r="r" b="b"/>
            <a:pathLst>
              <a:path w="5219700" h="838200">
                <a:moveTo>
                  <a:pt x="76201" y="0"/>
                </a:moveTo>
                <a:lnTo>
                  <a:pt x="5143499" y="0"/>
                </a:lnTo>
                <a:cubicBezTo>
                  <a:pt x="5185584" y="0"/>
                  <a:pt x="5219700" y="34116"/>
                  <a:pt x="5219700" y="76201"/>
                </a:cubicBezTo>
                <a:lnTo>
                  <a:pt x="5219700" y="761999"/>
                </a:lnTo>
                <a:cubicBezTo>
                  <a:pt x="5219700" y="804084"/>
                  <a:pt x="5185584" y="838200"/>
                  <a:pt x="51434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41770" y="4121823"/>
            <a:ext cx="60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Set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80884" y="4083844"/>
            <a:ext cx="695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7,843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41770" y="4464723"/>
            <a:ext cx="4972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 of samples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9370" y="4887521"/>
            <a:ext cx="5219700" cy="7620"/>
          </a:xfrm>
          <a:custGeom>
            <a:avLst/>
            <a:gdLst/>
            <a:ahLst/>
            <a:cxnLst/>
            <a:rect l="l" t="t" r="r" b="b"/>
            <a:pathLst>
              <a:path w="5219700" h="7620">
                <a:moveTo>
                  <a:pt x="0" y="0"/>
                </a:moveTo>
                <a:lnTo>
                  <a:pt x="5219700" y="0"/>
                </a:lnTo>
                <a:lnTo>
                  <a:pt x="5219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08420" y="50284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617970" y="5005629"/>
            <a:ext cx="505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Stratified split maintains class distribution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810" y="5550457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1020" y="570666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4845" y="5859066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1226820" y="5744766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Scaling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6820" y="5935266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StandardScaler Applied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39716" y="5744766"/>
            <a:ext cx="7620" cy="457200"/>
          </a:xfrm>
          <a:custGeom>
            <a:avLst/>
            <a:gdLst/>
            <a:ahLst/>
            <a:cxnLst/>
            <a:rect l="l" t="t" r="r" b="b"/>
            <a:pathLst>
              <a:path w="7620" h="457200">
                <a:moveTo>
                  <a:pt x="0" y="0"/>
                </a:moveTo>
                <a:lnTo>
                  <a:pt x="7620" y="0"/>
                </a:lnTo>
                <a:lnTo>
                  <a:pt x="762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72126" y="5744766"/>
            <a:ext cx="5667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to all 10 input features with zero mean and unit variance normalization for optimal model performance.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84412" y="5725716"/>
            <a:ext cx="733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μ = 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608225" y="6030395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Mean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568583" y="5725716"/>
            <a:ext cx="7620" cy="495300"/>
          </a:xfrm>
          <a:custGeom>
            <a:avLst/>
            <a:gdLst/>
            <a:ahLst/>
            <a:cxnLst/>
            <a:rect l="l" t="t" r="r" b="b"/>
            <a:pathLst>
              <a:path w="7620" h="495300">
                <a:moveTo>
                  <a:pt x="0" y="0"/>
                </a:moveTo>
                <a:lnTo>
                  <a:pt x="7620" y="0"/>
                </a:lnTo>
                <a:lnTo>
                  <a:pt x="762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667643" y="5725716"/>
            <a:ext cx="885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σ = 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91456" y="6030395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Variance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11418570" cy="2065020"/>
          </a:xfrm>
          <a:custGeom>
            <a:avLst/>
            <a:gdLst/>
            <a:ahLst/>
            <a:cxnLst/>
            <a:rect l="l" t="t" r="r" b="b"/>
            <a:pathLst>
              <a:path w="11418570" h="20650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1950721"/>
                </a:lnTo>
                <a:cubicBezTo>
                  <a:pt x="11418570" y="2013847"/>
                  <a:pt x="11367397" y="2065020"/>
                  <a:pt x="11304271" y="2065020"/>
                </a:cubicBezTo>
                <a:lnTo>
                  <a:pt x="114299" y="2065020"/>
                </a:lnTo>
                <a:cubicBezTo>
                  <a:pt x="51173" y="2065020"/>
                  <a:pt x="0" y="2013847"/>
                  <a:pt x="0" y="19507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020" y="1569718"/>
            <a:ext cx="11201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Algorithms Compared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1020" y="1988818"/>
            <a:ext cx="3600450" cy="1333500"/>
          </a:xfrm>
          <a:custGeom>
            <a:avLst/>
            <a:gdLst/>
            <a:ahLst/>
            <a:cxnLst/>
            <a:rect l="l" t="t" r="r" b="b"/>
            <a:pathLst>
              <a:path w="3600450" h="1333500">
                <a:moveTo>
                  <a:pt x="76196" y="0"/>
                </a:moveTo>
                <a:lnTo>
                  <a:pt x="3524254" y="0"/>
                </a:lnTo>
                <a:cubicBezTo>
                  <a:pt x="3566336" y="0"/>
                  <a:pt x="3600450" y="34114"/>
                  <a:pt x="3600450" y="76196"/>
                </a:cubicBezTo>
                <a:lnTo>
                  <a:pt x="3600450" y="1257304"/>
                </a:lnTo>
                <a:cubicBezTo>
                  <a:pt x="3600450" y="1299386"/>
                  <a:pt x="3566336" y="1333500"/>
                  <a:pt x="352425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3420" y="2141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770" y="2274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264920" y="2141218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4920" y="2407918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2470" y="27412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936308" y="2712718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settings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0804" y="300799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36308" y="2979418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5061" y="1988818"/>
            <a:ext cx="3600450" cy="1333500"/>
          </a:xfrm>
          <a:custGeom>
            <a:avLst/>
            <a:gdLst/>
            <a:ahLst/>
            <a:cxnLst/>
            <a:rect l="l" t="t" r="r" b="b"/>
            <a:pathLst>
              <a:path w="3600450" h="1333500">
                <a:moveTo>
                  <a:pt x="76196" y="0"/>
                </a:moveTo>
                <a:lnTo>
                  <a:pt x="3524254" y="0"/>
                </a:lnTo>
                <a:cubicBezTo>
                  <a:pt x="3566336" y="0"/>
                  <a:pt x="3600450" y="34114"/>
                  <a:pt x="3600450" y="76196"/>
                </a:cubicBezTo>
                <a:lnTo>
                  <a:pt x="3600450" y="1257304"/>
                </a:lnTo>
                <a:cubicBezTo>
                  <a:pt x="3600450" y="1299386"/>
                  <a:pt x="3566336" y="1333500"/>
                  <a:pt x="352425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447461" y="2141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592717" y="227456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018961" y="2141218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8961" y="2407918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66511" y="27412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348" y="2712718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estimators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66511" y="30079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5169" y="8959"/>
                </a:moveTo>
                <a:cubicBezTo>
                  <a:pt x="108295" y="7657"/>
                  <a:pt x="111863" y="8386"/>
                  <a:pt x="114259" y="10757"/>
                </a:cubicBezTo>
                <a:lnTo>
                  <a:pt x="130928" y="27425"/>
                </a:lnTo>
                <a:cubicBezTo>
                  <a:pt x="132491" y="28988"/>
                  <a:pt x="133376" y="31098"/>
                  <a:pt x="133376" y="33311"/>
                </a:cubicBezTo>
                <a:cubicBezTo>
                  <a:pt x="133376" y="35525"/>
                  <a:pt x="132491" y="37635"/>
                  <a:pt x="130928" y="39198"/>
                </a:cubicBezTo>
                <a:lnTo>
                  <a:pt x="114259" y="55866"/>
                </a:lnTo>
                <a:cubicBezTo>
                  <a:pt x="111863" y="58262"/>
                  <a:pt x="108295" y="58966"/>
                  <a:pt x="105169" y="57663"/>
                </a:cubicBezTo>
                <a:cubicBezTo>
                  <a:pt x="102044" y="56361"/>
                  <a:pt x="100013" y="53366"/>
                  <a:pt x="100013" y="50006"/>
                </a:cubicBezTo>
                <a:lnTo>
                  <a:pt x="100013" y="41672"/>
                </a:lnTo>
                <a:lnTo>
                  <a:pt x="91678" y="41672"/>
                </a:lnTo>
                <a:cubicBezTo>
                  <a:pt x="89048" y="41672"/>
                  <a:pt x="86573" y="42896"/>
                  <a:pt x="85011" y="45006"/>
                </a:cubicBezTo>
                <a:lnTo>
                  <a:pt x="76572" y="56257"/>
                </a:lnTo>
                <a:lnTo>
                  <a:pt x="66154" y="42375"/>
                </a:lnTo>
                <a:lnTo>
                  <a:pt x="71676" y="35004"/>
                </a:lnTo>
                <a:cubicBezTo>
                  <a:pt x="76390" y="28702"/>
                  <a:pt x="83813" y="25003"/>
                  <a:pt x="91678" y="25003"/>
                </a:cubicBezTo>
                <a:lnTo>
                  <a:pt x="100013" y="25003"/>
                </a:lnTo>
                <a:lnTo>
                  <a:pt x="100013" y="16669"/>
                </a:lnTo>
                <a:cubicBezTo>
                  <a:pt x="100013" y="13309"/>
                  <a:pt x="102044" y="10262"/>
                  <a:pt x="105169" y="8959"/>
                </a:cubicBezTo>
                <a:close/>
                <a:moveTo>
                  <a:pt x="40109" y="77093"/>
                </a:moveTo>
                <a:lnTo>
                  <a:pt x="50527" y="90975"/>
                </a:lnTo>
                <a:lnTo>
                  <a:pt x="45006" y="98346"/>
                </a:lnTo>
                <a:cubicBezTo>
                  <a:pt x="40291" y="104648"/>
                  <a:pt x="32869" y="108347"/>
                  <a:pt x="25003" y="108347"/>
                </a:cubicBezTo>
                <a:lnTo>
                  <a:pt x="8334" y="108347"/>
                </a:lnTo>
                <a:cubicBezTo>
                  <a:pt x="3724" y="108347"/>
                  <a:pt x="0" y="104622"/>
                  <a:pt x="0" y="100013"/>
                </a:cubicBezTo>
                <a:cubicBezTo>
                  <a:pt x="0" y="95403"/>
                  <a:pt x="3724" y="91678"/>
                  <a:pt x="8334" y="91678"/>
                </a:cubicBezTo>
                <a:lnTo>
                  <a:pt x="25003" y="91678"/>
                </a:lnTo>
                <a:cubicBezTo>
                  <a:pt x="27634" y="91678"/>
                  <a:pt x="30108" y="90454"/>
                  <a:pt x="31671" y="88344"/>
                </a:cubicBezTo>
                <a:lnTo>
                  <a:pt x="40109" y="77093"/>
                </a:lnTo>
                <a:close/>
                <a:moveTo>
                  <a:pt x="114233" y="122567"/>
                </a:moveTo>
                <a:cubicBezTo>
                  <a:pt x="111837" y="124964"/>
                  <a:pt x="108269" y="125667"/>
                  <a:pt x="105143" y="124365"/>
                </a:cubicBezTo>
                <a:cubicBezTo>
                  <a:pt x="102018" y="123062"/>
                  <a:pt x="100013" y="120041"/>
                  <a:pt x="100013" y="116681"/>
                </a:cubicBezTo>
                <a:lnTo>
                  <a:pt x="100013" y="108347"/>
                </a:lnTo>
                <a:lnTo>
                  <a:pt x="91678" y="108347"/>
                </a:lnTo>
                <a:cubicBezTo>
                  <a:pt x="83813" y="108347"/>
                  <a:pt x="76390" y="104648"/>
                  <a:pt x="71676" y="98346"/>
                </a:cubicBezTo>
                <a:lnTo>
                  <a:pt x="31671" y="45006"/>
                </a:lnTo>
                <a:cubicBezTo>
                  <a:pt x="30108" y="42896"/>
                  <a:pt x="27634" y="41672"/>
                  <a:pt x="25003" y="41672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cubicBezTo>
                  <a:pt x="32869" y="25003"/>
                  <a:pt x="40291" y="28702"/>
                  <a:pt x="45006" y="35004"/>
                </a:cubicBezTo>
                <a:lnTo>
                  <a:pt x="85011" y="88344"/>
                </a:lnTo>
                <a:cubicBezTo>
                  <a:pt x="86573" y="90454"/>
                  <a:pt x="89048" y="91678"/>
                  <a:pt x="91678" y="91678"/>
                </a:cubicBezTo>
                <a:lnTo>
                  <a:pt x="100013" y="91678"/>
                </a:lnTo>
                <a:lnTo>
                  <a:pt x="100013" y="83344"/>
                </a:lnTo>
                <a:cubicBezTo>
                  <a:pt x="100013" y="79984"/>
                  <a:pt x="102044" y="76937"/>
                  <a:pt x="105169" y="75634"/>
                </a:cubicBezTo>
                <a:cubicBezTo>
                  <a:pt x="108295" y="74332"/>
                  <a:pt x="111863" y="75061"/>
                  <a:pt x="114259" y="77432"/>
                </a:cubicBezTo>
                <a:lnTo>
                  <a:pt x="130928" y="94100"/>
                </a:lnTo>
                <a:cubicBezTo>
                  <a:pt x="132491" y="95663"/>
                  <a:pt x="133376" y="97773"/>
                  <a:pt x="133376" y="99986"/>
                </a:cubicBezTo>
                <a:cubicBezTo>
                  <a:pt x="133376" y="102200"/>
                  <a:pt x="132491" y="104310"/>
                  <a:pt x="130928" y="105873"/>
                </a:cubicBezTo>
                <a:lnTo>
                  <a:pt x="114259" y="122541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348" y="2979418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random_state=42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49220" y="1988818"/>
            <a:ext cx="3600450" cy="1333500"/>
          </a:xfrm>
          <a:custGeom>
            <a:avLst/>
            <a:gdLst/>
            <a:ahLst/>
            <a:cxnLst/>
            <a:rect l="l" t="t" r="r" b="b"/>
            <a:pathLst>
              <a:path w="3600450" h="1333500">
                <a:moveTo>
                  <a:pt x="76196" y="0"/>
                </a:moveTo>
                <a:lnTo>
                  <a:pt x="3524254" y="0"/>
                </a:lnTo>
                <a:cubicBezTo>
                  <a:pt x="3566336" y="0"/>
                  <a:pt x="3600450" y="34114"/>
                  <a:pt x="3600450" y="76196"/>
                </a:cubicBezTo>
                <a:lnTo>
                  <a:pt x="3600450" y="1257304"/>
                </a:lnTo>
                <a:cubicBezTo>
                  <a:pt x="3600450" y="1299386"/>
                  <a:pt x="3566336" y="1333500"/>
                  <a:pt x="352425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01620" y="21412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34970" y="227456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773120" y="2141218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73120" y="2407918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0670" y="27412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444508" y="2712718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use_label_encoder=False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0670" y="300799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444508" y="2979418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eval_metric='logloss'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3638556"/>
            <a:ext cx="11418570" cy="2522220"/>
          </a:xfrm>
          <a:custGeom>
            <a:avLst/>
            <a:gdLst/>
            <a:ahLst/>
            <a:cxnLst/>
            <a:rect l="l" t="t" r="r" b="b"/>
            <a:pathLst>
              <a:path w="11418570" h="2522220">
                <a:moveTo>
                  <a:pt x="114307" y="0"/>
                </a:moveTo>
                <a:lnTo>
                  <a:pt x="11304263" y="0"/>
                </a:lnTo>
                <a:cubicBezTo>
                  <a:pt x="11367393" y="0"/>
                  <a:pt x="11418570" y="51177"/>
                  <a:pt x="11418570" y="114307"/>
                </a:cubicBezTo>
                <a:lnTo>
                  <a:pt x="11418570" y="2407913"/>
                </a:lnTo>
                <a:cubicBezTo>
                  <a:pt x="11418570" y="2471043"/>
                  <a:pt x="11367393" y="2522220"/>
                  <a:pt x="11304263" y="2522220"/>
                </a:cubicBezTo>
                <a:lnTo>
                  <a:pt x="114307" y="2522220"/>
                </a:lnTo>
                <a:cubicBezTo>
                  <a:pt x="51219" y="2522220"/>
                  <a:pt x="0" y="2471001"/>
                  <a:pt x="0" y="24079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4832" y="38328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779145" y="3794764"/>
            <a:ext cx="10963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Features (10 Parameters)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1020" y="4213864"/>
            <a:ext cx="3600450" cy="1790700"/>
          </a:xfrm>
          <a:custGeom>
            <a:avLst/>
            <a:gdLst/>
            <a:ahLst/>
            <a:cxnLst/>
            <a:rect l="l" t="t" r="r" b="b"/>
            <a:pathLst>
              <a:path w="3600450" h="1790700">
                <a:moveTo>
                  <a:pt x="76194" y="0"/>
                </a:moveTo>
                <a:lnTo>
                  <a:pt x="3524256" y="0"/>
                </a:lnTo>
                <a:cubicBezTo>
                  <a:pt x="3566308" y="0"/>
                  <a:pt x="3600450" y="34142"/>
                  <a:pt x="3600450" y="76194"/>
                </a:cubicBezTo>
                <a:lnTo>
                  <a:pt x="3600450" y="1714506"/>
                </a:lnTo>
                <a:cubicBezTo>
                  <a:pt x="3600450" y="1756587"/>
                  <a:pt x="3566337" y="1790700"/>
                  <a:pt x="35242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93420" y="43662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7720" y="44805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1188720" y="4423414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Planet Features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3420" y="49187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" y="4861564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pl_orbper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3420" y="51854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845820" y="5128264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pl_rade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3420" y="54521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" y="5394964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pl_bmasse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93420" y="57188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" y="5661664"/>
            <a:ext cx="42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pl_eqt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95061" y="4213864"/>
            <a:ext cx="3600450" cy="1790700"/>
          </a:xfrm>
          <a:custGeom>
            <a:avLst/>
            <a:gdLst/>
            <a:ahLst/>
            <a:cxnLst/>
            <a:rect l="l" t="t" r="r" b="b"/>
            <a:pathLst>
              <a:path w="3600450" h="1790700">
                <a:moveTo>
                  <a:pt x="76194" y="0"/>
                </a:moveTo>
                <a:lnTo>
                  <a:pt x="3524256" y="0"/>
                </a:lnTo>
                <a:cubicBezTo>
                  <a:pt x="3566308" y="0"/>
                  <a:pt x="3600450" y="34142"/>
                  <a:pt x="3600450" y="76194"/>
                </a:cubicBezTo>
                <a:lnTo>
                  <a:pt x="3600450" y="1714506"/>
                </a:lnTo>
                <a:cubicBezTo>
                  <a:pt x="3600450" y="1756587"/>
                  <a:pt x="3566337" y="1790700"/>
                  <a:pt x="35242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447461" y="43662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52236" y="448056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3042" y="-3006"/>
                </a:moveTo>
                <a:cubicBezTo>
                  <a:pt x="55245" y="-3929"/>
                  <a:pt x="57745" y="-3661"/>
                  <a:pt x="59740" y="-2351"/>
                </a:cubicBezTo>
                <a:lnTo>
                  <a:pt x="85874" y="14972"/>
                </a:lnTo>
                <a:lnTo>
                  <a:pt x="112008" y="-2351"/>
                </a:lnTo>
                <a:cubicBezTo>
                  <a:pt x="114002" y="-3661"/>
                  <a:pt x="116503" y="-3899"/>
                  <a:pt x="118705" y="-3006"/>
                </a:cubicBezTo>
                <a:cubicBezTo>
                  <a:pt x="120908" y="-2113"/>
                  <a:pt x="122456" y="-149"/>
                  <a:pt x="122932" y="2173"/>
                </a:cubicBezTo>
                <a:lnTo>
                  <a:pt x="129153" y="32891"/>
                </a:lnTo>
                <a:lnTo>
                  <a:pt x="159871" y="39112"/>
                </a:lnTo>
                <a:cubicBezTo>
                  <a:pt x="162193" y="39588"/>
                  <a:pt x="164157" y="41196"/>
                  <a:pt x="165050" y="43369"/>
                </a:cubicBezTo>
                <a:cubicBezTo>
                  <a:pt x="165943" y="45541"/>
                  <a:pt x="165705" y="48071"/>
                  <a:pt x="164396" y="50066"/>
                </a:cubicBezTo>
                <a:lnTo>
                  <a:pt x="147072" y="76200"/>
                </a:lnTo>
                <a:lnTo>
                  <a:pt x="164396" y="102334"/>
                </a:lnTo>
                <a:cubicBezTo>
                  <a:pt x="165705" y="104329"/>
                  <a:pt x="165943" y="106829"/>
                  <a:pt x="165050" y="109031"/>
                </a:cubicBezTo>
                <a:cubicBezTo>
                  <a:pt x="164157" y="111234"/>
                  <a:pt x="162193" y="112841"/>
                  <a:pt x="159871" y="113288"/>
                </a:cubicBezTo>
                <a:lnTo>
                  <a:pt x="129123" y="119479"/>
                </a:lnTo>
                <a:lnTo>
                  <a:pt x="122932" y="150227"/>
                </a:lnTo>
                <a:cubicBezTo>
                  <a:pt x="122456" y="152549"/>
                  <a:pt x="120848" y="154513"/>
                  <a:pt x="118676" y="155406"/>
                </a:cubicBezTo>
                <a:cubicBezTo>
                  <a:pt x="116503" y="156299"/>
                  <a:pt x="113973" y="156061"/>
                  <a:pt x="111978" y="154751"/>
                </a:cubicBezTo>
                <a:lnTo>
                  <a:pt x="85844" y="137428"/>
                </a:lnTo>
                <a:lnTo>
                  <a:pt x="59710" y="154751"/>
                </a:lnTo>
                <a:cubicBezTo>
                  <a:pt x="57716" y="156061"/>
                  <a:pt x="55215" y="156299"/>
                  <a:pt x="53013" y="155406"/>
                </a:cubicBezTo>
                <a:cubicBezTo>
                  <a:pt x="50810" y="154513"/>
                  <a:pt x="49203" y="152549"/>
                  <a:pt x="48756" y="150227"/>
                </a:cubicBezTo>
                <a:lnTo>
                  <a:pt x="42565" y="119479"/>
                </a:lnTo>
                <a:lnTo>
                  <a:pt x="11817" y="113258"/>
                </a:lnTo>
                <a:cubicBezTo>
                  <a:pt x="9495" y="112782"/>
                  <a:pt x="7531" y="111175"/>
                  <a:pt x="6638" y="109002"/>
                </a:cubicBezTo>
                <a:cubicBezTo>
                  <a:pt x="5745" y="106829"/>
                  <a:pt x="5983" y="104299"/>
                  <a:pt x="7293" y="102304"/>
                </a:cubicBezTo>
                <a:lnTo>
                  <a:pt x="24616" y="76200"/>
                </a:lnTo>
                <a:lnTo>
                  <a:pt x="7293" y="50066"/>
                </a:lnTo>
                <a:cubicBezTo>
                  <a:pt x="5983" y="48071"/>
                  <a:pt x="5745" y="45571"/>
                  <a:pt x="6638" y="43369"/>
                </a:cubicBezTo>
                <a:cubicBezTo>
                  <a:pt x="7531" y="41166"/>
                  <a:pt x="9495" y="39559"/>
                  <a:pt x="11817" y="39112"/>
                </a:cubicBezTo>
                <a:lnTo>
                  <a:pt x="42565" y="32921"/>
                </a:lnTo>
                <a:lnTo>
                  <a:pt x="48786" y="2173"/>
                </a:lnTo>
                <a:cubicBezTo>
                  <a:pt x="49262" y="-149"/>
                  <a:pt x="50869" y="-2113"/>
                  <a:pt x="53042" y="-3006"/>
                </a:cubicBezTo>
                <a:close/>
                <a:moveTo>
                  <a:pt x="61793" y="76200"/>
                </a:moveTo>
                <a:cubicBezTo>
                  <a:pt x="61793" y="67650"/>
                  <a:pt x="66355" y="59750"/>
                  <a:pt x="73759" y="55475"/>
                </a:cubicBezTo>
                <a:cubicBezTo>
                  <a:pt x="81164" y="51200"/>
                  <a:pt x="90286" y="51200"/>
                  <a:pt x="97691" y="55475"/>
                </a:cubicBezTo>
                <a:cubicBezTo>
                  <a:pt x="105095" y="59750"/>
                  <a:pt x="109657" y="67650"/>
                  <a:pt x="109657" y="76200"/>
                </a:cubicBezTo>
                <a:cubicBezTo>
                  <a:pt x="109657" y="89408"/>
                  <a:pt x="98933" y="100132"/>
                  <a:pt x="85725" y="100132"/>
                </a:cubicBezTo>
                <a:cubicBezTo>
                  <a:pt x="72517" y="100132"/>
                  <a:pt x="61793" y="89408"/>
                  <a:pt x="61793" y="76200"/>
                </a:cubicBezTo>
                <a:close/>
                <a:moveTo>
                  <a:pt x="123944" y="76200"/>
                </a:moveTo>
                <a:cubicBezTo>
                  <a:pt x="123944" y="55106"/>
                  <a:pt x="106819" y="37981"/>
                  <a:pt x="85725" y="37981"/>
                </a:cubicBezTo>
                <a:cubicBezTo>
                  <a:pt x="64631" y="37981"/>
                  <a:pt x="47506" y="55106"/>
                  <a:pt x="47506" y="76200"/>
                </a:cubicBezTo>
                <a:cubicBezTo>
                  <a:pt x="47506" y="89854"/>
                  <a:pt x="54790" y="102472"/>
                  <a:pt x="66615" y="109299"/>
                </a:cubicBezTo>
                <a:cubicBezTo>
                  <a:pt x="78440" y="116126"/>
                  <a:pt x="93010" y="116126"/>
                  <a:pt x="104835" y="109299"/>
                </a:cubicBezTo>
                <a:cubicBezTo>
                  <a:pt x="116660" y="102472"/>
                  <a:pt x="123944" y="89854"/>
                  <a:pt x="123944" y="762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3" name="Text 51"/>
          <p:cNvSpPr/>
          <p:nvPr/>
        </p:nvSpPr>
        <p:spPr>
          <a:xfrm>
            <a:off x="4942761" y="4423414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Features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47461" y="49187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5" name="Text 53"/>
          <p:cNvSpPr/>
          <p:nvPr/>
        </p:nvSpPr>
        <p:spPr>
          <a:xfrm>
            <a:off x="4599861" y="4861564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st_teff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447461" y="51854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7" name="Text 55"/>
          <p:cNvSpPr/>
          <p:nvPr/>
        </p:nvSpPr>
        <p:spPr>
          <a:xfrm>
            <a:off x="4599861" y="5128264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st_rad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447461" y="54521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9" name="Text 57"/>
          <p:cNvSpPr/>
          <p:nvPr/>
        </p:nvSpPr>
        <p:spPr>
          <a:xfrm>
            <a:off x="4599861" y="5394964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st_mass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049220" y="4213864"/>
            <a:ext cx="3600450" cy="1790700"/>
          </a:xfrm>
          <a:custGeom>
            <a:avLst/>
            <a:gdLst/>
            <a:ahLst/>
            <a:cxnLst/>
            <a:rect l="l" t="t" r="r" b="b"/>
            <a:pathLst>
              <a:path w="3600450" h="1790700">
                <a:moveTo>
                  <a:pt x="76194" y="0"/>
                </a:moveTo>
                <a:lnTo>
                  <a:pt x="3524256" y="0"/>
                </a:lnTo>
                <a:cubicBezTo>
                  <a:pt x="3566308" y="0"/>
                  <a:pt x="3600450" y="34142"/>
                  <a:pt x="3600450" y="76194"/>
                </a:cubicBezTo>
                <a:lnTo>
                  <a:pt x="3600450" y="1714506"/>
                </a:lnTo>
                <a:cubicBezTo>
                  <a:pt x="3600450" y="1756587"/>
                  <a:pt x="3566337" y="1790700"/>
                  <a:pt x="3524256" y="1790700"/>
                </a:cubicBezTo>
                <a:lnTo>
                  <a:pt x="76194" y="1790700"/>
                </a:lnTo>
                <a:cubicBezTo>
                  <a:pt x="34142" y="1790700"/>
                  <a:pt x="0" y="1756558"/>
                  <a:pt x="0" y="1714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201620" y="43662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15920" y="44805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3" name="Text 61"/>
          <p:cNvSpPr/>
          <p:nvPr/>
        </p:nvSpPr>
        <p:spPr>
          <a:xfrm>
            <a:off x="8696920" y="4423414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01620" y="49187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8354020" y="4861564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sy_dist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01620" y="51854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8354020" y="5128264"/>
            <a:ext cx="581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sy_snum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01620" y="54521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9" name="Text 67"/>
          <p:cNvSpPr/>
          <p:nvPr/>
        </p:nvSpPr>
        <p:spPr>
          <a:xfrm>
            <a:off x="8354020" y="5394964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sy_pnum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813" y="379813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75963" y="0"/>
                </a:moveTo>
                <a:lnTo>
                  <a:pt x="303850" y="0"/>
                </a:lnTo>
                <a:cubicBezTo>
                  <a:pt x="345775" y="0"/>
                  <a:pt x="379813" y="34038"/>
                  <a:pt x="379813" y="75963"/>
                </a:cubicBezTo>
                <a:lnTo>
                  <a:pt x="379813" y="303850"/>
                </a:lnTo>
                <a:cubicBezTo>
                  <a:pt x="379813" y="345775"/>
                  <a:pt x="345775" y="379813"/>
                  <a:pt x="303850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3757" y="493757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42818" y="0"/>
                </a:moveTo>
                <a:lnTo>
                  <a:pt x="109285" y="0"/>
                </a:lnTo>
                <a:cubicBezTo>
                  <a:pt x="117149" y="0"/>
                  <a:pt x="123558" y="6469"/>
                  <a:pt x="123261" y="14302"/>
                </a:cubicBezTo>
                <a:cubicBezTo>
                  <a:pt x="123202" y="15875"/>
                  <a:pt x="123143" y="17448"/>
                  <a:pt x="123054" y="18991"/>
                </a:cubicBezTo>
                <a:lnTo>
                  <a:pt x="137771" y="18991"/>
                </a:lnTo>
                <a:cubicBezTo>
                  <a:pt x="145516" y="18991"/>
                  <a:pt x="152341" y="25400"/>
                  <a:pt x="151747" y="33768"/>
                </a:cubicBezTo>
                <a:cubicBezTo>
                  <a:pt x="149522" y="64539"/>
                  <a:pt x="133795" y="81452"/>
                  <a:pt x="116733" y="90295"/>
                </a:cubicBezTo>
                <a:cubicBezTo>
                  <a:pt x="112045" y="92728"/>
                  <a:pt x="107268" y="94538"/>
                  <a:pt x="102728" y="95873"/>
                </a:cubicBezTo>
                <a:cubicBezTo>
                  <a:pt x="96734" y="104360"/>
                  <a:pt x="90502" y="108840"/>
                  <a:pt x="85547" y="111244"/>
                </a:cubicBezTo>
                <a:lnTo>
                  <a:pt x="85547" y="132935"/>
                </a:lnTo>
                <a:lnTo>
                  <a:pt x="104538" y="132935"/>
                </a:lnTo>
                <a:cubicBezTo>
                  <a:pt x="109790" y="132935"/>
                  <a:pt x="114033" y="137178"/>
                  <a:pt x="114033" y="142430"/>
                </a:cubicBezTo>
                <a:cubicBezTo>
                  <a:pt x="114033" y="147682"/>
                  <a:pt x="109790" y="151925"/>
                  <a:pt x="104538" y="151925"/>
                </a:cubicBezTo>
                <a:lnTo>
                  <a:pt x="47566" y="151925"/>
                </a:lnTo>
                <a:cubicBezTo>
                  <a:pt x="42314" y="151925"/>
                  <a:pt x="38070" y="147682"/>
                  <a:pt x="38070" y="142430"/>
                </a:cubicBezTo>
                <a:cubicBezTo>
                  <a:pt x="38070" y="137178"/>
                  <a:pt x="42314" y="132935"/>
                  <a:pt x="47566" y="132935"/>
                </a:cubicBezTo>
                <a:lnTo>
                  <a:pt x="66556" y="132935"/>
                </a:lnTo>
                <a:lnTo>
                  <a:pt x="66556" y="111244"/>
                </a:lnTo>
                <a:cubicBezTo>
                  <a:pt x="61809" y="108959"/>
                  <a:pt x="55904" y="104716"/>
                  <a:pt x="50147" y="96912"/>
                </a:cubicBezTo>
                <a:cubicBezTo>
                  <a:pt x="44687" y="95487"/>
                  <a:pt x="38753" y="93321"/>
                  <a:pt x="32967" y="90057"/>
                </a:cubicBezTo>
                <a:cubicBezTo>
                  <a:pt x="16914" y="81066"/>
                  <a:pt x="2433" y="64123"/>
                  <a:pt x="356" y="33708"/>
                </a:cubicBezTo>
                <a:cubicBezTo>
                  <a:pt x="-208" y="25370"/>
                  <a:pt x="6587" y="18961"/>
                  <a:pt x="14332" y="18961"/>
                </a:cubicBezTo>
                <a:lnTo>
                  <a:pt x="29050" y="18961"/>
                </a:lnTo>
                <a:cubicBezTo>
                  <a:pt x="28961" y="17418"/>
                  <a:pt x="28901" y="15875"/>
                  <a:pt x="28842" y="14273"/>
                </a:cubicBezTo>
                <a:cubicBezTo>
                  <a:pt x="28545" y="6409"/>
                  <a:pt x="34955" y="-30"/>
                  <a:pt x="42818" y="-30"/>
                </a:cubicBezTo>
                <a:close/>
                <a:moveTo>
                  <a:pt x="30118" y="33234"/>
                </a:moveTo>
                <a:lnTo>
                  <a:pt x="14569" y="33234"/>
                </a:lnTo>
                <a:cubicBezTo>
                  <a:pt x="16409" y="58367"/>
                  <a:pt x="27952" y="70948"/>
                  <a:pt x="39851" y="77624"/>
                </a:cubicBezTo>
                <a:cubicBezTo>
                  <a:pt x="35578" y="66556"/>
                  <a:pt x="32047" y="52106"/>
                  <a:pt x="30118" y="33234"/>
                </a:cubicBezTo>
                <a:close/>
                <a:moveTo>
                  <a:pt x="112757" y="76200"/>
                </a:moveTo>
                <a:cubicBezTo>
                  <a:pt x="124775" y="69138"/>
                  <a:pt x="135635" y="56586"/>
                  <a:pt x="137475" y="33234"/>
                </a:cubicBezTo>
                <a:lnTo>
                  <a:pt x="121956" y="33234"/>
                </a:lnTo>
                <a:cubicBezTo>
                  <a:pt x="120116" y="51304"/>
                  <a:pt x="116793" y="65340"/>
                  <a:pt x="112757" y="762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3570" y="474766"/>
            <a:ext cx="911551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b="1" kern="0" spc="52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9813" y="835589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611" y="1409107"/>
            <a:ext cx="11420979" cy="2875185"/>
          </a:xfrm>
          <a:custGeom>
            <a:avLst/>
            <a:gdLst/>
            <a:ahLst/>
            <a:cxnLst/>
            <a:rect l="l" t="t" r="r" b="b"/>
            <a:pathLst>
              <a:path w="11420979" h="2875185">
                <a:moveTo>
                  <a:pt x="113944" y="0"/>
                </a:moveTo>
                <a:lnTo>
                  <a:pt x="11307036" y="0"/>
                </a:lnTo>
                <a:cubicBezTo>
                  <a:pt x="11369965" y="0"/>
                  <a:pt x="11420979" y="51014"/>
                  <a:pt x="11420979" y="113944"/>
                </a:cubicBezTo>
                <a:lnTo>
                  <a:pt x="11420979" y="2761241"/>
                </a:lnTo>
                <a:cubicBezTo>
                  <a:pt x="11420979" y="2824171"/>
                  <a:pt x="11369965" y="2875185"/>
                  <a:pt x="11307036" y="2875185"/>
                </a:cubicBezTo>
                <a:lnTo>
                  <a:pt x="113944" y="2875185"/>
                </a:lnTo>
                <a:cubicBezTo>
                  <a:pt x="51014" y="2875185"/>
                  <a:pt x="0" y="2824171"/>
                  <a:pt x="0" y="2761241"/>
                </a:cubicBezTo>
                <a:lnTo>
                  <a:pt x="0" y="113944"/>
                </a:lnTo>
                <a:cubicBezTo>
                  <a:pt x="0" y="51056"/>
                  <a:pt x="51056" y="0"/>
                  <a:pt x="11394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316" y="1602809"/>
            <a:ext cx="1112852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Evaluation Metrics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7316" y="2020604"/>
          <a:ext cx="11033571" cy="2115653"/>
        </p:xfrm>
        <a:graphic>
          <a:graphicData uri="http://schemas.openxmlformats.org/drawingml/2006/table">
            <a:tbl>
              <a:tblPr/>
              <a:tblGrid>
                <a:gridCol w="467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26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49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Model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Precision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Recall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F1-Score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49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Logistic Regression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0.9966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49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Random Forest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SELECTED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0.9997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49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XGBoost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0.9997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1925" marR="151925" marT="113944" marB="1139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3611" y="4447611"/>
            <a:ext cx="5609839" cy="2020606"/>
          </a:xfrm>
          <a:custGeom>
            <a:avLst/>
            <a:gdLst/>
            <a:ahLst/>
            <a:cxnLst/>
            <a:rect l="l" t="t" r="r" b="b"/>
            <a:pathLst>
              <a:path w="5609839" h="2020606">
                <a:moveTo>
                  <a:pt x="113942" y="0"/>
                </a:moveTo>
                <a:lnTo>
                  <a:pt x="5495897" y="0"/>
                </a:lnTo>
                <a:cubicBezTo>
                  <a:pt x="5558826" y="0"/>
                  <a:pt x="5609839" y="51014"/>
                  <a:pt x="5609839" y="113942"/>
                </a:cubicBezTo>
                <a:lnTo>
                  <a:pt x="5609839" y="1906664"/>
                </a:lnTo>
                <a:cubicBezTo>
                  <a:pt x="5609839" y="1969592"/>
                  <a:pt x="5558826" y="2020606"/>
                  <a:pt x="5495897" y="2020606"/>
                </a:cubicBezTo>
                <a:lnTo>
                  <a:pt x="113942" y="2020606"/>
                </a:lnTo>
                <a:cubicBezTo>
                  <a:pt x="51014" y="2020606"/>
                  <a:pt x="0" y="1969592"/>
                  <a:pt x="0" y="1906664"/>
                </a:cubicBezTo>
                <a:lnTo>
                  <a:pt x="0" y="113942"/>
                </a:lnTo>
                <a:cubicBezTo>
                  <a:pt x="0" y="51056"/>
                  <a:pt x="51056" y="0"/>
                  <a:pt x="11394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4437" y="4650809"/>
            <a:ext cx="128187" cy="170916"/>
          </a:xfrm>
          <a:custGeom>
            <a:avLst/>
            <a:gdLst/>
            <a:ahLst/>
            <a:cxnLst/>
            <a:rect l="l" t="t" r="r" b="b"/>
            <a:pathLst>
              <a:path w="128187" h="170916">
                <a:moveTo>
                  <a:pt x="97776" y="128187"/>
                </a:moveTo>
                <a:cubicBezTo>
                  <a:pt x="100213" y="120743"/>
                  <a:pt x="105087" y="114000"/>
                  <a:pt x="110595" y="108191"/>
                </a:cubicBezTo>
                <a:cubicBezTo>
                  <a:pt x="121511" y="96708"/>
                  <a:pt x="128187" y="81185"/>
                  <a:pt x="128187" y="64093"/>
                </a:cubicBezTo>
                <a:cubicBezTo>
                  <a:pt x="128187" y="28709"/>
                  <a:pt x="99478" y="0"/>
                  <a:pt x="64093" y="0"/>
                </a:cubicBezTo>
                <a:cubicBezTo>
                  <a:pt x="28709" y="0"/>
                  <a:pt x="0" y="28709"/>
                  <a:pt x="0" y="64093"/>
                </a:cubicBezTo>
                <a:cubicBezTo>
                  <a:pt x="0" y="81185"/>
                  <a:pt x="6676" y="96708"/>
                  <a:pt x="17592" y="108191"/>
                </a:cubicBezTo>
                <a:cubicBezTo>
                  <a:pt x="23100" y="114000"/>
                  <a:pt x="28008" y="120743"/>
                  <a:pt x="30411" y="128187"/>
                </a:cubicBezTo>
                <a:lnTo>
                  <a:pt x="97743" y="128187"/>
                </a:lnTo>
                <a:close/>
                <a:moveTo>
                  <a:pt x="96140" y="144210"/>
                </a:moveTo>
                <a:lnTo>
                  <a:pt x="32047" y="144210"/>
                </a:lnTo>
                <a:lnTo>
                  <a:pt x="32047" y="149551"/>
                </a:lnTo>
                <a:cubicBezTo>
                  <a:pt x="32047" y="164306"/>
                  <a:pt x="43997" y="176257"/>
                  <a:pt x="58752" y="176257"/>
                </a:cubicBezTo>
                <a:lnTo>
                  <a:pt x="69435" y="176257"/>
                </a:lnTo>
                <a:cubicBezTo>
                  <a:pt x="84189" y="176257"/>
                  <a:pt x="96140" y="164306"/>
                  <a:pt x="96140" y="149551"/>
                </a:cubicBezTo>
                <a:lnTo>
                  <a:pt x="96140" y="144210"/>
                </a:lnTo>
                <a:close/>
                <a:moveTo>
                  <a:pt x="61423" y="37388"/>
                </a:moveTo>
                <a:cubicBezTo>
                  <a:pt x="48137" y="37388"/>
                  <a:pt x="37388" y="48137"/>
                  <a:pt x="37388" y="61423"/>
                </a:cubicBezTo>
                <a:cubicBezTo>
                  <a:pt x="37388" y="65863"/>
                  <a:pt x="33816" y="69435"/>
                  <a:pt x="29376" y="69435"/>
                </a:cubicBezTo>
                <a:cubicBezTo>
                  <a:pt x="24936" y="69435"/>
                  <a:pt x="21364" y="65863"/>
                  <a:pt x="21364" y="61423"/>
                </a:cubicBezTo>
                <a:cubicBezTo>
                  <a:pt x="21364" y="39291"/>
                  <a:pt x="39291" y="21364"/>
                  <a:pt x="61423" y="21364"/>
                </a:cubicBezTo>
                <a:cubicBezTo>
                  <a:pt x="65863" y="21364"/>
                  <a:pt x="69435" y="24936"/>
                  <a:pt x="69435" y="29376"/>
                </a:cubicBezTo>
                <a:cubicBezTo>
                  <a:pt x="69435" y="33816"/>
                  <a:pt x="65863" y="37388"/>
                  <a:pt x="61423" y="3738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757727" y="4603333"/>
            <a:ext cx="516545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9335" y="5002136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03428" y="5059108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881166" y="4983146"/>
            <a:ext cx="5023028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 significantly outperform Logistic Regression on minority class detection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9335" y="5495893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8" name="Shape 13"/>
          <p:cNvSpPr/>
          <p:nvPr/>
        </p:nvSpPr>
        <p:spPr>
          <a:xfrm>
            <a:off x="603428" y="5552865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881166" y="5476903"/>
            <a:ext cx="4026019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and XGBoost show excellent precision-recall balance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9335" y="5856716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03428" y="5913688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881166" y="5837725"/>
            <a:ext cx="343730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99.97% accuracy demonstrates robust model performance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92615" y="4447611"/>
            <a:ext cx="5609839" cy="2020606"/>
          </a:xfrm>
          <a:custGeom>
            <a:avLst/>
            <a:gdLst/>
            <a:ahLst/>
            <a:cxnLst/>
            <a:rect l="l" t="t" r="r" b="b"/>
            <a:pathLst>
              <a:path w="5609839" h="2020606">
                <a:moveTo>
                  <a:pt x="113942" y="0"/>
                </a:moveTo>
                <a:lnTo>
                  <a:pt x="5495897" y="0"/>
                </a:lnTo>
                <a:cubicBezTo>
                  <a:pt x="5558826" y="0"/>
                  <a:pt x="5609839" y="51014"/>
                  <a:pt x="5609839" y="113942"/>
                </a:cubicBezTo>
                <a:lnTo>
                  <a:pt x="5609839" y="1906664"/>
                </a:lnTo>
                <a:cubicBezTo>
                  <a:pt x="5609839" y="1969592"/>
                  <a:pt x="5558826" y="2020606"/>
                  <a:pt x="5495897" y="2020606"/>
                </a:cubicBezTo>
                <a:lnTo>
                  <a:pt x="113942" y="2020606"/>
                </a:lnTo>
                <a:cubicBezTo>
                  <a:pt x="51014" y="2020606"/>
                  <a:pt x="0" y="1969592"/>
                  <a:pt x="0" y="1906664"/>
                </a:cubicBezTo>
                <a:lnTo>
                  <a:pt x="0" y="113942"/>
                </a:lnTo>
                <a:cubicBezTo>
                  <a:pt x="0" y="51056"/>
                  <a:pt x="51056" y="0"/>
                  <a:pt x="11394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61395" y="4650809"/>
            <a:ext cx="192280" cy="170916"/>
          </a:xfrm>
          <a:custGeom>
            <a:avLst/>
            <a:gdLst/>
            <a:ahLst/>
            <a:cxnLst/>
            <a:rect l="l" t="t" r="r" b="b"/>
            <a:pathLst>
              <a:path w="192280" h="170916">
                <a:moveTo>
                  <a:pt x="103317" y="-6309"/>
                </a:moveTo>
                <a:cubicBezTo>
                  <a:pt x="101949" y="-8980"/>
                  <a:pt x="99178" y="-10682"/>
                  <a:pt x="96174" y="-10682"/>
                </a:cubicBezTo>
                <a:cubicBezTo>
                  <a:pt x="93169" y="-10682"/>
                  <a:pt x="90398" y="-8980"/>
                  <a:pt x="89030" y="-6309"/>
                </a:cubicBezTo>
                <a:lnTo>
                  <a:pt x="64461" y="41828"/>
                </a:lnTo>
                <a:lnTo>
                  <a:pt x="11083" y="50307"/>
                </a:lnTo>
                <a:cubicBezTo>
                  <a:pt x="8112" y="50774"/>
                  <a:pt x="5642" y="52877"/>
                  <a:pt x="4707" y="55748"/>
                </a:cubicBezTo>
                <a:cubicBezTo>
                  <a:pt x="3772" y="58619"/>
                  <a:pt x="4540" y="61757"/>
                  <a:pt x="6643" y="63893"/>
                </a:cubicBezTo>
                <a:lnTo>
                  <a:pt x="44832" y="102116"/>
                </a:lnTo>
                <a:lnTo>
                  <a:pt x="36420" y="155493"/>
                </a:lnTo>
                <a:cubicBezTo>
                  <a:pt x="35952" y="158464"/>
                  <a:pt x="37188" y="161469"/>
                  <a:pt x="39624" y="163238"/>
                </a:cubicBezTo>
                <a:cubicBezTo>
                  <a:pt x="42061" y="165007"/>
                  <a:pt x="45266" y="165274"/>
                  <a:pt x="47970" y="163906"/>
                </a:cubicBezTo>
                <a:lnTo>
                  <a:pt x="96174" y="139403"/>
                </a:lnTo>
                <a:lnTo>
                  <a:pt x="144344" y="163906"/>
                </a:lnTo>
                <a:cubicBezTo>
                  <a:pt x="147014" y="165274"/>
                  <a:pt x="150252" y="165007"/>
                  <a:pt x="152689" y="163238"/>
                </a:cubicBezTo>
                <a:cubicBezTo>
                  <a:pt x="155126" y="161469"/>
                  <a:pt x="156361" y="158498"/>
                  <a:pt x="155894" y="155493"/>
                </a:cubicBezTo>
                <a:lnTo>
                  <a:pt x="147448" y="102116"/>
                </a:lnTo>
                <a:lnTo>
                  <a:pt x="185637" y="63893"/>
                </a:lnTo>
                <a:cubicBezTo>
                  <a:pt x="187774" y="61757"/>
                  <a:pt x="188508" y="58619"/>
                  <a:pt x="187574" y="55748"/>
                </a:cubicBezTo>
                <a:cubicBezTo>
                  <a:pt x="186639" y="52877"/>
                  <a:pt x="184202" y="50774"/>
                  <a:pt x="181198" y="50307"/>
                </a:cubicBezTo>
                <a:lnTo>
                  <a:pt x="127853" y="41828"/>
                </a:lnTo>
                <a:lnTo>
                  <a:pt x="103317" y="-630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6566731" y="4603333"/>
            <a:ext cx="516545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Random Forest?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48338" y="5002136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12432" y="5059108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6690170" y="4983146"/>
            <a:ext cx="193704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feature importance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48338" y="5362959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12432" y="5419931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6690170" y="5343968"/>
            <a:ext cx="210796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hyperparameter tuning required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48338" y="5723781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12432" y="5780753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6690170" y="5704791"/>
            <a:ext cx="179461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inference than XGBoost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48338" y="6084604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0"/>
                </a:moveTo>
                <a:lnTo>
                  <a:pt x="113944" y="0"/>
                </a:lnTo>
                <a:cubicBezTo>
                  <a:pt x="176831" y="0"/>
                  <a:pt x="227888" y="51057"/>
                  <a:pt x="227888" y="113944"/>
                </a:cubicBezTo>
                <a:lnTo>
                  <a:pt x="227888" y="113944"/>
                </a:lnTo>
                <a:cubicBezTo>
                  <a:pt x="227888" y="176831"/>
                  <a:pt x="176831" y="227888"/>
                  <a:pt x="113944" y="227888"/>
                </a:cubicBezTo>
                <a:lnTo>
                  <a:pt x="113944" y="227888"/>
                </a:lnTo>
                <a:cubicBezTo>
                  <a:pt x="51057" y="227888"/>
                  <a:pt x="0" y="176831"/>
                  <a:pt x="0" y="113944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412432" y="6141576"/>
            <a:ext cx="99701" cy="113944"/>
          </a:xfrm>
          <a:custGeom>
            <a:avLst/>
            <a:gdLst/>
            <a:ahLst/>
            <a:cxnLst/>
            <a:rect l="l" t="t" r="r" b="b"/>
            <a:pathLst>
              <a:path w="99701" h="113944">
                <a:moveTo>
                  <a:pt x="96763" y="15601"/>
                </a:moveTo>
                <a:cubicBezTo>
                  <a:pt x="99946" y="17915"/>
                  <a:pt x="100658" y="22366"/>
                  <a:pt x="98343" y="25548"/>
                </a:cubicBezTo>
                <a:lnTo>
                  <a:pt x="41371" y="103885"/>
                </a:lnTo>
                <a:cubicBezTo>
                  <a:pt x="40147" y="105576"/>
                  <a:pt x="38256" y="106622"/>
                  <a:pt x="36164" y="106800"/>
                </a:cubicBezTo>
                <a:cubicBezTo>
                  <a:pt x="34072" y="106978"/>
                  <a:pt x="32047" y="106199"/>
                  <a:pt x="30578" y="104730"/>
                </a:cubicBezTo>
                <a:lnTo>
                  <a:pt x="2092" y="76245"/>
                </a:lnTo>
                <a:cubicBezTo>
                  <a:pt x="-690" y="73463"/>
                  <a:pt x="-690" y="68945"/>
                  <a:pt x="2092" y="66163"/>
                </a:cubicBezTo>
                <a:cubicBezTo>
                  <a:pt x="4874" y="63381"/>
                  <a:pt x="9391" y="63381"/>
                  <a:pt x="12173" y="66163"/>
                </a:cubicBezTo>
                <a:lnTo>
                  <a:pt x="34762" y="88752"/>
                </a:lnTo>
                <a:lnTo>
                  <a:pt x="86838" y="17158"/>
                </a:lnTo>
                <a:cubicBezTo>
                  <a:pt x="89152" y="13976"/>
                  <a:pt x="93603" y="13264"/>
                  <a:pt x="96786" y="15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2"/>
          <p:cNvSpPr/>
          <p:nvPr/>
        </p:nvSpPr>
        <p:spPr>
          <a:xfrm>
            <a:off x="6690170" y="6065613"/>
            <a:ext cx="2098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handling of mixed data types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849" y="350849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47332" y="456104"/>
            <a:ext cx="157882" cy="140340"/>
          </a:xfrm>
          <a:custGeom>
            <a:avLst/>
            <a:gdLst/>
            <a:ahLst/>
            <a:cxnLst/>
            <a:rect l="l" t="t" r="r" b="b"/>
            <a:pathLst>
              <a:path w="157882" h="140340">
                <a:moveTo>
                  <a:pt x="67593" y="102678"/>
                </a:moveTo>
                <a:lnTo>
                  <a:pt x="41280" y="128992"/>
                </a:lnTo>
                <a:cubicBezTo>
                  <a:pt x="37853" y="132418"/>
                  <a:pt x="32289" y="132418"/>
                  <a:pt x="28863" y="128992"/>
                </a:cubicBezTo>
                <a:lnTo>
                  <a:pt x="2549" y="102678"/>
                </a:lnTo>
                <a:cubicBezTo>
                  <a:pt x="-877" y="99252"/>
                  <a:pt x="-877" y="93688"/>
                  <a:pt x="2549" y="90261"/>
                </a:cubicBezTo>
                <a:cubicBezTo>
                  <a:pt x="5975" y="86835"/>
                  <a:pt x="11540" y="86835"/>
                  <a:pt x="14966" y="90261"/>
                </a:cubicBezTo>
                <a:lnTo>
                  <a:pt x="26314" y="101609"/>
                </a:lnTo>
                <a:lnTo>
                  <a:pt x="26314" y="17542"/>
                </a:lnTo>
                <a:cubicBezTo>
                  <a:pt x="26314" y="12691"/>
                  <a:pt x="30233" y="8771"/>
                  <a:pt x="35085" y="8771"/>
                </a:cubicBezTo>
                <a:cubicBezTo>
                  <a:pt x="39936" y="8771"/>
                  <a:pt x="43856" y="12691"/>
                  <a:pt x="43856" y="17542"/>
                </a:cubicBezTo>
                <a:lnTo>
                  <a:pt x="43856" y="101609"/>
                </a:lnTo>
                <a:lnTo>
                  <a:pt x="55204" y="90261"/>
                </a:lnTo>
                <a:cubicBezTo>
                  <a:pt x="58630" y="86835"/>
                  <a:pt x="64194" y="86835"/>
                  <a:pt x="67621" y="90261"/>
                </a:cubicBezTo>
                <a:cubicBezTo>
                  <a:pt x="71047" y="93688"/>
                  <a:pt x="71047" y="99252"/>
                  <a:pt x="67621" y="102678"/>
                </a:cubicBezTo>
                <a:close/>
                <a:moveTo>
                  <a:pt x="87712" y="131568"/>
                </a:moveTo>
                <a:cubicBezTo>
                  <a:pt x="82861" y="131568"/>
                  <a:pt x="78941" y="127649"/>
                  <a:pt x="78941" y="122797"/>
                </a:cubicBezTo>
                <a:cubicBezTo>
                  <a:pt x="78941" y="117946"/>
                  <a:pt x="82861" y="114026"/>
                  <a:pt x="87712" y="114026"/>
                </a:cubicBezTo>
                <a:lnTo>
                  <a:pt x="96483" y="114026"/>
                </a:lnTo>
                <a:cubicBezTo>
                  <a:pt x="101335" y="114026"/>
                  <a:pt x="105255" y="117946"/>
                  <a:pt x="105255" y="122797"/>
                </a:cubicBezTo>
                <a:cubicBezTo>
                  <a:pt x="105255" y="127649"/>
                  <a:pt x="101335" y="131568"/>
                  <a:pt x="96483" y="131568"/>
                </a:cubicBezTo>
                <a:lnTo>
                  <a:pt x="87712" y="131568"/>
                </a:lnTo>
                <a:close/>
                <a:moveTo>
                  <a:pt x="87712" y="96483"/>
                </a:moveTo>
                <a:cubicBezTo>
                  <a:pt x="82861" y="96483"/>
                  <a:pt x="78941" y="92564"/>
                  <a:pt x="78941" y="87712"/>
                </a:cubicBezTo>
                <a:cubicBezTo>
                  <a:pt x="78941" y="82861"/>
                  <a:pt x="82861" y="78941"/>
                  <a:pt x="87712" y="78941"/>
                </a:cubicBezTo>
                <a:lnTo>
                  <a:pt x="114026" y="78941"/>
                </a:lnTo>
                <a:cubicBezTo>
                  <a:pt x="118877" y="78941"/>
                  <a:pt x="122797" y="82861"/>
                  <a:pt x="122797" y="87712"/>
                </a:cubicBezTo>
                <a:cubicBezTo>
                  <a:pt x="122797" y="92564"/>
                  <a:pt x="118877" y="96483"/>
                  <a:pt x="114026" y="96483"/>
                </a:cubicBezTo>
                <a:lnTo>
                  <a:pt x="87712" y="96483"/>
                </a:lnTo>
                <a:close/>
                <a:moveTo>
                  <a:pt x="87712" y="61399"/>
                </a:moveTo>
                <a:cubicBezTo>
                  <a:pt x="82861" y="61399"/>
                  <a:pt x="78941" y="57479"/>
                  <a:pt x="78941" y="52627"/>
                </a:cubicBezTo>
                <a:cubicBezTo>
                  <a:pt x="78941" y="47776"/>
                  <a:pt x="82861" y="43856"/>
                  <a:pt x="87712" y="43856"/>
                </a:cubicBezTo>
                <a:lnTo>
                  <a:pt x="131568" y="43856"/>
                </a:lnTo>
                <a:cubicBezTo>
                  <a:pt x="136420" y="43856"/>
                  <a:pt x="140340" y="47776"/>
                  <a:pt x="140340" y="52627"/>
                </a:cubicBezTo>
                <a:cubicBezTo>
                  <a:pt x="140340" y="57479"/>
                  <a:pt x="136420" y="61399"/>
                  <a:pt x="131568" y="61399"/>
                </a:cubicBezTo>
                <a:lnTo>
                  <a:pt x="87712" y="61399"/>
                </a:lnTo>
                <a:close/>
                <a:moveTo>
                  <a:pt x="87712" y="26314"/>
                </a:moveTo>
                <a:cubicBezTo>
                  <a:pt x="82861" y="26314"/>
                  <a:pt x="78941" y="22394"/>
                  <a:pt x="78941" y="17542"/>
                </a:cubicBezTo>
                <a:cubicBezTo>
                  <a:pt x="78941" y="12691"/>
                  <a:pt x="82861" y="8771"/>
                  <a:pt x="87712" y="8771"/>
                </a:cubicBezTo>
                <a:lnTo>
                  <a:pt x="149111" y="8771"/>
                </a:lnTo>
                <a:cubicBezTo>
                  <a:pt x="153962" y="8771"/>
                  <a:pt x="157882" y="12691"/>
                  <a:pt x="157882" y="17542"/>
                </a:cubicBezTo>
                <a:cubicBezTo>
                  <a:pt x="157882" y="22394"/>
                  <a:pt x="153962" y="26314"/>
                  <a:pt x="149111" y="26314"/>
                </a:cubicBezTo>
                <a:lnTo>
                  <a:pt x="87712" y="26314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06953" y="438561"/>
            <a:ext cx="163144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kern="0" spc="48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INTERPRETABILITY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0849" y="77186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4357" y="1266565"/>
            <a:ext cx="6822257" cy="5234666"/>
          </a:xfrm>
          <a:custGeom>
            <a:avLst/>
            <a:gdLst/>
            <a:ahLst/>
            <a:cxnLst/>
            <a:rect l="l" t="t" r="r" b="b"/>
            <a:pathLst>
              <a:path w="6822257" h="5234666">
                <a:moveTo>
                  <a:pt x="105269" y="0"/>
                </a:moveTo>
                <a:lnTo>
                  <a:pt x="6716988" y="0"/>
                </a:lnTo>
                <a:cubicBezTo>
                  <a:pt x="6775127" y="0"/>
                  <a:pt x="6822257" y="47131"/>
                  <a:pt x="6822257" y="105269"/>
                </a:cubicBezTo>
                <a:lnTo>
                  <a:pt x="6822257" y="5129397"/>
                </a:lnTo>
                <a:cubicBezTo>
                  <a:pt x="6822257" y="5187535"/>
                  <a:pt x="6775127" y="5234666"/>
                  <a:pt x="6716988" y="5234666"/>
                </a:cubicBezTo>
                <a:lnTo>
                  <a:pt x="105269" y="5234666"/>
                </a:lnTo>
                <a:cubicBezTo>
                  <a:pt x="47131" y="5234666"/>
                  <a:pt x="0" y="5187535"/>
                  <a:pt x="0" y="5129397"/>
                </a:cubicBezTo>
                <a:lnTo>
                  <a:pt x="0" y="105269"/>
                </a:lnTo>
                <a:cubicBezTo>
                  <a:pt x="0" y="47170"/>
                  <a:pt x="47170" y="0"/>
                  <a:pt x="10526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290" y="1445496"/>
            <a:ext cx="655210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Drives Habitability Predictions?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290" y="1866515"/>
            <a:ext cx="143848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pl_eqt (Equilibrium Temp)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9616" y="1831430"/>
            <a:ext cx="394705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290" y="2112109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3290" y="2112109"/>
            <a:ext cx="1806872" cy="105255"/>
          </a:xfrm>
          <a:custGeom>
            <a:avLst/>
            <a:gdLst/>
            <a:ahLst/>
            <a:cxnLst/>
            <a:rect l="l" t="t" r="r" b="b"/>
            <a:pathLst>
              <a:path w="1806872" h="105255">
                <a:moveTo>
                  <a:pt x="52627" y="0"/>
                </a:moveTo>
                <a:lnTo>
                  <a:pt x="1754245" y="0"/>
                </a:lnTo>
                <a:cubicBezTo>
                  <a:pt x="1783310" y="0"/>
                  <a:pt x="1806872" y="23562"/>
                  <a:pt x="1806872" y="52627"/>
                </a:cubicBezTo>
                <a:lnTo>
                  <a:pt x="1806872" y="52627"/>
                </a:lnTo>
                <a:cubicBezTo>
                  <a:pt x="1806872" y="81693"/>
                  <a:pt x="1783310" y="105255"/>
                  <a:pt x="1754245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12" name="Text 10"/>
          <p:cNvSpPr/>
          <p:nvPr/>
        </p:nvSpPr>
        <p:spPr>
          <a:xfrm>
            <a:off x="533290" y="2322618"/>
            <a:ext cx="127182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pl_rade (Planet Radius)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84768" y="2287533"/>
            <a:ext cx="385934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290" y="2568212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3290" y="2568212"/>
            <a:ext cx="1420938" cy="105255"/>
          </a:xfrm>
          <a:custGeom>
            <a:avLst/>
            <a:gdLst/>
            <a:ahLst/>
            <a:cxnLst/>
            <a:rect l="l" t="t" r="r" b="b"/>
            <a:pathLst>
              <a:path w="1420938" h="105255">
                <a:moveTo>
                  <a:pt x="52627" y="0"/>
                </a:moveTo>
                <a:lnTo>
                  <a:pt x="1368311" y="0"/>
                </a:lnTo>
                <a:cubicBezTo>
                  <a:pt x="1397376" y="0"/>
                  <a:pt x="1420938" y="23562"/>
                  <a:pt x="1420938" y="52627"/>
                </a:cubicBezTo>
                <a:lnTo>
                  <a:pt x="1420938" y="52627"/>
                </a:lnTo>
                <a:cubicBezTo>
                  <a:pt x="1420938" y="81693"/>
                  <a:pt x="1397376" y="105255"/>
                  <a:pt x="1368311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533290" y="2778722"/>
            <a:ext cx="1166573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st_teff (Stellar Temp)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14152" y="2743637"/>
            <a:ext cx="35962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290" y="3024316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33290" y="3024316"/>
            <a:ext cx="964835" cy="105255"/>
          </a:xfrm>
          <a:custGeom>
            <a:avLst/>
            <a:gdLst/>
            <a:ahLst/>
            <a:cxnLst/>
            <a:rect l="l" t="t" r="r" b="b"/>
            <a:pathLst>
              <a:path w="964835" h="105255">
                <a:moveTo>
                  <a:pt x="52627" y="0"/>
                </a:moveTo>
                <a:lnTo>
                  <a:pt x="912207" y="0"/>
                </a:lnTo>
                <a:cubicBezTo>
                  <a:pt x="941272" y="0"/>
                  <a:pt x="964835" y="23562"/>
                  <a:pt x="964835" y="52627"/>
                </a:cubicBezTo>
                <a:lnTo>
                  <a:pt x="964835" y="52627"/>
                </a:lnTo>
                <a:cubicBezTo>
                  <a:pt x="964835" y="81693"/>
                  <a:pt x="941272" y="105255"/>
                  <a:pt x="912207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533290" y="3234825"/>
            <a:ext cx="142093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pl_orbper (Orbital Period)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04394" y="3199740"/>
            <a:ext cx="368391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290" y="3480420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3290" y="3480420"/>
            <a:ext cx="649071" cy="105255"/>
          </a:xfrm>
          <a:custGeom>
            <a:avLst/>
            <a:gdLst/>
            <a:ahLst/>
            <a:cxnLst/>
            <a:rect l="l" t="t" r="r" b="b"/>
            <a:pathLst>
              <a:path w="649071" h="105255">
                <a:moveTo>
                  <a:pt x="52627" y="0"/>
                </a:moveTo>
                <a:lnTo>
                  <a:pt x="596443" y="0"/>
                </a:lnTo>
                <a:cubicBezTo>
                  <a:pt x="625508" y="0"/>
                  <a:pt x="649071" y="23562"/>
                  <a:pt x="649071" y="52627"/>
                </a:cubicBezTo>
                <a:lnTo>
                  <a:pt x="649071" y="52627"/>
                </a:lnTo>
                <a:cubicBezTo>
                  <a:pt x="649071" y="81693"/>
                  <a:pt x="625508" y="105255"/>
                  <a:pt x="596443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533290" y="3690929"/>
            <a:ext cx="122797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st_mass (Stellar Mass)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71274" y="3655844"/>
            <a:ext cx="29822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290" y="3936523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3290" y="3936523"/>
            <a:ext cx="517502" cy="105255"/>
          </a:xfrm>
          <a:custGeom>
            <a:avLst/>
            <a:gdLst/>
            <a:ahLst/>
            <a:cxnLst/>
            <a:rect l="l" t="t" r="r" b="b"/>
            <a:pathLst>
              <a:path w="517502" h="105255">
                <a:moveTo>
                  <a:pt x="52627" y="0"/>
                </a:moveTo>
                <a:lnTo>
                  <a:pt x="464875" y="0"/>
                </a:lnTo>
                <a:cubicBezTo>
                  <a:pt x="493940" y="0"/>
                  <a:pt x="517502" y="23562"/>
                  <a:pt x="517502" y="52627"/>
                </a:cubicBezTo>
                <a:lnTo>
                  <a:pt x="517502" y="52627"/>
                </a:lnTo>
                <a:cubicBezTo>
                  <a:pt x="517502" y="81693"/>
                  <a:pt x="493940" y="105255"/>
                  <a:pt x="464875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533290" y="4147033"/>
            <a:ext cx="1368311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pl_bmasse (Planet Mass)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73796" y="4111948"/>
            <a:ext cx="29822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6%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290" y="4392627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3290" y="4392627"/>
            <a:ext cx="385934" cy="105255"/>
          </a:xfrm>
          <a:custGeom>
            <a:avLst/>
            <a:gdLst/>
            <a:ahLst/>
            <a:cxnLst/>
            <a:rect l="l" t="t" r="r" b="b"/>
            <a:pathLst>
              <a:path w="385934" h="105255">
                <a:moveTo>
                  <a:pt x="52627" y="0"/>
                </a:moveTo>
                <a:lnTo>
                  <a:pt x="333306" y="0"/>
                </a:lnTo>
                <a:cubicBezTo>
                  <a:pt x="362372" y="0"/>
                  <a:pt x="385934" y="23562"/>
                  <a:pt x="385934" y="52627"/>
                </a:cubicBezTo>
                <a:lnTo>
                  <a:pt x="385934" y="52627"/>
                </a:lnTo>
                <a:cubicBezTo>
                  <a:pt x="385934" y="81693"/>
                  <a:pt x="362372" y="105255"/>
                  <a:pt x="333306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533290" y="4603136"/>
            <a:ext cx="142093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sy_dist (System Distance)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77305" y="4568051"/>
            <a:ext cx="29822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290" y="4848730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33290" y="4848730"/>
            <a:ext cx="324535" cy="105255"/>
          </a:xfrm>
          <a:custGeom>
            <a:avLst/>
            <a:gdLst/>
            <a:ahLst/>
            <a:cxnLst/>
            <a:rect l="l" t="t" r="r" b="b"/>
            <a:pathLst>
              <a:path w="324535" h="105255">
                <a:moveTo>
                  <a:pt x="52627" y="0"/>
                </a:moveTo>
                <a:lnTo>
                  <a:pt x="271908" y="0"/>
                </a:lnTo>
                <a:cubicBezTo>
                  <a:pt x="300973" y="0"/>
                  <a:pt x="324535" y="23562"/>
                  <a:pt x="324535" y="52627"/>
                </a:cubicBezTo>
                <a:lnTo>
                  <a:pt x="324535" y="52627"/>
                </a:lnTo>
                <a:cubicBezTo>
                  <a:pt x="324535" y="81693"/>
                  <a:pt x="300973" y="105255"/>
                  <a:pt x="271908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533290" y="5059240"/>
            <a:ext cx="121042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st_rad (Stellar Radius)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75112" y="5024155"/>
            <a:ext cx="29822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3290" y="5304834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3290" y="5304834"/>
            <a:ext cx="192967" cy="105255"/>
          </a:xfrm>
          <a:custGeom>
            <a:avLst/>
            <a:gdLst/>
            <a:ahLst/>
            <a:cxnLst/>
            <a:rect l="l" t="t" r="r" b="b"/>
            <a:pathLst>
              <a:path w="192967" h="105255">
                <a:moveTo>
                  <a:pt x="52627" y="0"/>
                </a:moveTo>
                <a:lnTo>
                  <a:pt x="140340" y="0"/>
                </a:lnTo>
                <a:cubicBezTo>
                  <a:pt x="169405" y="0"/>
                  <a:pt x="192967" y="23562"/>
                  <a:pt x="192967" y="52627"/>
                </a:cubicBezTo>
                <a:lnTo>
                  <a:pt x="192967" y="52627"/>
                </a:lnTo>
                <a:cubicBezTo>
                  <a:pt x="192967" y="81693"/>
                  <a:pt x="169405" y="105255"/>
                  <a:pt x="140340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8B5C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0" name="Text 38"/>
          <p:cNvSpPr/>
          <p:nvPr/>
        </p:nvSpPr>
        <p:spPr>
          <a:xfrm>
            <a:off x="533290" y="5515343"/>
            <a:ext cx="1271827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sy_pnum (# of Planets)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76537" y="5480258"/>
            <a:ext cx="298222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3290" y="5760938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290" y="5760938"/>
            <a:ext cx="131568" cy="105255"/>
          </a:xfrm>
          <a:custGeom>
            <a:avLst/>
            <a:gdLst/>
            <a:ahLst/>
            <a:cxnLst/>
            <a:rect l="l" t="t" r="r" b="b"/>
            <a:pathLst>
              <a:path w="131568" h="105255">
                <a:moveTo>
                  <a:pt x="52627" y="0"/>
                </a:moveTo>
                <a:lnTo>
                  <a:pt x="78941" y="0"/>
                </a:lnTo>
                <a:cubicBezTo>
                  <a:pt x="107987" y="0"/>
                  <a:pt x="131568" y="23582"/>
                  <a:pt x="131568" y="52627"/>
                </a:cubicBezTo>
                <a:lnTo>
                  <a:pt x="131568" y="52627"/>
                </a:lnTo>
                <a:cubicBezTo>
                  <a:pt x="131568" y="81673"/>
                  <a:pt x="107987" y="105255"/>
                  <a:pt x="78941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533290" y="5971447"/>
            <a:ext cx="1149030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b="1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sy_snum (# of Stars)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5154" y="5936362"/>
            <a:ext cx="263137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3290" y="6217041"/>
            <a:ext cx="6464391" cy="105255"/>
          </a:xfrm>
          <a:custGeom>
            <a:avLst/>
            <a:gdLst/>
            <a:ahLst/>
            <a:cxnLst/>
            <a:rect l="l" t="t" r="r" b="b"/>
            <a:pathLst>
              <a:path w="6464391" h="105255">
                <a:moveTo>
                  <a:pt x="52627" y="0"/>
                </a:moveTo>
                <a:lnTo>
                  <a:pt x="6411764" y="0"/>
                </a:lnTo>
                <a:cubicBezTo>
                  <a:pt x="6440829" y="0"/>
                  <a:pt x="6464391" y="23562"/>
                  <a:pt x="6464391" y="52627"/>
                </a:cubicBezTo>
                <a:lnTo>
                  <a:pt x="6464391" y="52627"/>
                </a:lnTo>
                <a:cubicBezTo>
                  <a:pt x="6464391" y="81693"/>
                  <a:pt x="6440829" y="105255"/>
                  <a:pt x="6411764" y="105255"/>
                </a:cubicBezTo>
                <a:lnTo>
                  <a:pt x="52627" y="105255"/>
                </a:lnTo>
                <a:cubicBezTo>
                  <a:pt x="23582" y="105255"/>
                  <a:pt x="0" y="81673"/>
                  <a:pt x="0" y="52627"/>
                </a:cubicBezTo>
                <a:lnTo>
                  <a:pt x="0" y="52627"/>
                </a:lnTo>
                <a:cubicBezTo>
                  <a:pt x="0" y="23582"/>
                  <a:pt x="23582" y="0"/>
                  <a:pt x="5262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290" y="6217041"/>
            <a:ext cx="61399" cy="105255"/>
          </a:xfrm>
          <a:custGeom>
            <a:avLst/>
            <a:gdLst/>
            <a:ahLst/>
            <a:cxnLst/>
            <a:rect l="l" t="t" r="r" b="b"/>
            <a:pathLst>
              <a:path w="61399" h="105255">
                <a:moveTo>
                  <a:pt x="30699" y="0"/>
                </a:moveTo>
                <a:lnTo>
                  <a:pt x="30699" y="0"/>
                </a:lnTo>
                <a:cubicBezTo>
                  <a:pt x="47654" y="0"/>
                  <a:pt x="61399" y="13745"/>
                  <a:pt x="61399" y="30699"/>
                </a:cubicBezTo>
                <a:lnTo>
                  <a:pt x="61399" y="74555"/>
                </a:lnTo>
                <a:cubicBezTo>
                  <a:pt x="61399" y="91510"/>
                  <a:pt x="47654" y="105255"/>
                  <a:pt x="30699" y="105255"/>
                </a:cubicBezTo>
                <a:lnTo>
                  <a:pt x="30699" y="105255"/>
                </a:lnTo>
                <a:cubicBezTo>
                  <a:pt x="13745" y="105255"/>
                  <a:pt x="0" y="91510"/>
                  <a:pt x="0" y="74555"/>
                </a:cubicBezTo>
                <a:lnTo>
                  <a:pt x="0" y="30699"/>
                </a:lnTo>
                <a:cubicBezTo>
                  <a:pt x="0" y="13745"/>
                  <a:pt x="13745" y="0"/>
                  <a:pt x="306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7354890" y="1266565"/>
            <a:ext cx="4480341" cy="1822660"/>
          </a:xfrm>
          <a:custGeom>
            <a:avLst/>
            <a:gdLst/>
            <a:ahLst/>
            <a:cxnLst/>
            <a:rect l="l" t="t" r="r" b="b"/>
            <a:pathLst>
              <a:path w="4480341" h="1822660">
                <a:moveTo>
                  <a:pt x="105259" y="0"/>
                </a:moveTo>
                <a:lnTo>
                  <a:pt x="4375082" y="0"/>
                </a:lnTo>
                <a:cubicBezTo>
                  <a:pt x="4433215" y="0"/>
                  <a:pt x="4480341" y="47126"/>
                  <a:pt x="4480341" y="105259"/>
                </a:cubicBezTo>
                <a:lnTo>
                  <a:pt x="4480341" y="1717402"/>
                </a:lnTo>
                <a:cubicBezTo>
                  <a:pt x="4480341" y="1775534"/>
                  <a:pt x="4433215" y="1822660"/>
                  <a:pt x="4375082" y="1822660"/>
                </a:cubicBezTo>
                <a:lnTo>
                  <a:pt x="105259" y="1822660"/>
                </a:lnTo>
                <a:cubicBezTo>
                  <a:pt x="47126" y="1822660"/>
                  <a:pt x="0" y="1775534"/>
                  <a:pt x="0" y="1717402"/>
                </a:cubicBezTo>
                <a:lnTo>
                  <a:pt x="0" y="105259"/>
                </a:lnTo>
                <a:cubicBezTo>
                  <a:pt x="0" y="47126"/>
                  <a:pt x="47126" y="0"/>
                  <a:pt x="10525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8643" y="1480581"/>
            <a:ext cx="109640" cy="175424"/>
          </a:xfrm>
          <a:custGeom>
            <a:avLst/>
            <a:gdLst/>
            <a:ahLst/>
            <a:cxnLst/>
            <a:rect l="l" t="t" r="r" b="b"/>
            <a:pathLst>
              <a:path w="109640" h="175424">
                <a:moveTo>
                  <a:pt x="54820" y="0"/>
                </a:moveTo>
                <a:cubicBezTo>
                  <a:pt x="36661" y="0"/>
                  <a:pt x="21928" y="14733"/>
                  <a:pt x="21928" y="32892"/>
                </a:cubicBezTo>
                <a:lnTo>
                  <a:pt x="21928" y="89323"/>
                </a:lnTo>
                <a:cubicBezTo>
                  <a:pt x="11821" y="98334"/>
                  <a:pt x="5482" y="111490"/>
                  <a:pt x="5482" y="126086"/>
                </a:cubicBezTo>
                <a:cubicBezTo>
                  <a:pt x="5482" y="153325"/>
                  <a:pt x="27581" y="175424"/>
                  <a:pt x="54820" y="175424"/>
                </a:cubicBezTo>
                <a:cubicBezTo>
                  <a:pt x="82059" y="175424"/>
                  <a:pt x="104158" y="153325"/>
                  <a:pt x="104158" y="126086"/>
                </a:cubicBezTo>
                <a:cubicBezTo>
                  <a:pt x="104158" y="111490"/>
                  <a:pt x="97820" y="98334"/>
                  <a:pt x="87712" y="89323"/>
                </a:cubicBezTo>
                <a:lnTo>
                  <a:pt x="87712" y="32892"/>
                </a:lnTo>
                <a:cubicBezTo>
                  <a:pt x="87712" y="14733"/>
                  <a:pt x="72979" y="0"/>
                  <a:pt x="54820" y="0"/>
                </a:cubicBezTo>
                <a:close/>
                <a:moveTo>
                  <a:pt x="76748" y="126086"/>
                </a:moveTo>
                <a:cubicBezTo>
                  <a:pt x="76748" y="138181"/>
                  <a:pt x="66915" y="148014"/>
                  <a:pt x="54820" y="148014"/>
                </a:cubicBezTo>
                <a:cubicBezTo>
                  <a:pt x="42725" y="148014"/>
                  <a:pt x="32892" y="138181"/>
                  <a:pt x="32892" y="126086"/>
                </a:cubicBezTo>
                <a:cubicBezTo>
                  <a:pt x="32892" y="116870"/>
                  <a:pt x="38545" y="108989"/>
                  <a:pt x="46597" y="105769"/>
                </a:cubicBezTo>
                <a:lnTo>
                  <a:pt x="46597" y="74007"/>
                </a:lnTo>
                <a:cubicBezTo>
                  <a:pt x="46597" y="69450"/>
                  <a:pt x="50263" y="65784"/>
                  <a:pt x="54820" y="65784"/>
                </a:cubicBezTo>
                <a:cubicBezTo>
                  <a:pt x="59377" y="65784"/>
                  <a:pt x="63043" y="69450"/>
                  <a:pt x="63043" y="74007"/>
                </a:cubicBezTo>
                <a:lnTo>
                  <a:pt x="63043" y="105769"/>
                </a:lnTo>
                <a:cubicBezTo>
                  <a:pt x="71095" y="109024"/>
                  <a:pt x="76748" y="116904"/>
                  <a:pt x="76748" y="12608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7753103" y="1445496"/>
            <a:ext cx="399090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 Dominance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33823" y="1831430"/>
            <a:ext cx="4122475" cy="1078860"/>
          </a:xfrm>
          <a:custGeom>
            <a:avLst/>
            <a:gdLst/>
            <a:ahLst/>
            <a:cxnLst/>
            <a:rect l="l" t="t" r="r" b="b"/>
            <a:pathLst>
              <a:path w="4122475" h="1078860">
                <a:moveTo>
                  <a:pt x="70169" y="0"/>
                </a:moveTo>
                <a:lnTo>
                  <a:pt x="4052306" y="0"/>
                </a:lnTo>
                <a:cubicBezTo>
                  <a:pt x="4091033" y="0"/>
                  <a:pt x="4122475" y="31442"/>
                  <a:pt x="4122475" y="70169"/>
                </a:cubicBezTo>
                <a:lnTo>
                  <a:pt x="4122475" y="1008691"/>
                </a:lnTo>
                <a:cubicBezTo>
                  <a:pt x="4122475" y="1047445"/>
                  <a:pt x="4091059" y="1078860"/>
                  <a:pt x="4052306" y="1078860"/>
                </a:cubicBezTo>
                <a:lnTo>
                  <a:pt x="70169" y="1078860"/>
                </a:lnTo>
                <a:cubicBezTo>
                  <a:pt x="31442" y="1078860"/>
                  <a:pt x="0" y="1047419"/>
                  <a:pt x="0" y="1008691"/>
                </a:cubicBezTo>
                <a:lnTo>
                  <a:pt x="0" y="70169"/>
                </a:lnTo>
                <a:cubicBezTo>
                  <a:pt x="0" y="31416"/>
                  <a:pt x="31416" y="0"/>
                  <a:pt x="70169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674162" y="1971769"/>
            <a:ext cx="3903194" cy="20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Temperature-related features account for </a:t>
            </a:r>
            <a:r>
              <a:rPr lang="en-US" sz="967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43%</a:t>
            </a:r>
            <a:r>
              <a:rPr lang="en-US" sz="96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total importance: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674162" y="2294112"/>
            <a:ext cx="394705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pl_eqt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55672" y="2276569"/>
            <a:ext cx="33330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674162" y="2574791"/>
            <a:ext cx="385934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st_teff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285385" y="2557248"/>
            <a:ext cx="306993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54890" y="3234394"/>
            <a:ext cx="4480341" cy="1822660"/>
          </a:xfrm>
          <a:custGeom>
            <a:avLst/>
            <a:gdLst/>
            <a:ahLst/>
            <a:cxnLst/>
            <a:rect l="l" t="t" r="r" b="b"/>
            <a:pathLst>
              <a:path w="4480341" h="1822660">
                <a:moveTo>
                  <a:pt x="105259" y="0"/>
                </a:moveTo>
                <a:lnTo>
                  <a:pt x="4375082" y="0"/>
                </a:lnTo>
                <a:cubicBezTo>
                  <a:pt x="4433215" y="0"/>
                  <a:pt x="4480341" y="47126"/>
                  <a:pt x="4480341" y="105259"/>
                </a:cubicBezTo>
                <a:lnTo>
                  <a:pt x="4480341" y="1717402"/>
                </a:lnTo>
                <a:cubicBezTo>
                  <a:pt x="4480341" y="1775534"/>
                  <a:pt x="4433215" y="1822660"/>
                  <a:pt x="4375082" y="1822660"/>
                </a:cubicBezTo>
                <a:lnTo>
                  <a:pt x="105259" y="1822660"/>
                </a:lnTo>
                <a:cubicBezTo>
                  <a:pt x="47126" y="1822660"/>
                  <a:pt x="0" y="1775534"/>
                  <a:pt x="0" y="1717402"/>
                </a:cubicBezTo>
                <a:lnTo>
                  <a:pt x="0" y="105259"/>
                </a:lnTo>
                <a:cubicBezTo>
                  <a:pt x="0" y="47126"/>
                  <a:pt x="47126" y="0"/>
                  <a:pt x="105259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55751" y="3448410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0" y="87712"/>
                </a:moveTo>
                <a:cubicBezTo>
                  <a:pt x="0" y="39303"/>
                  <a:pt x="39303" y="0"/>
                  <a:pt x="87712" y="0"/>
                </a:cubicBezTo>
                <a:cubicBezTo>
                  <a:pt x="136122" y="0"/>
                  <a:pt x="175424" y="39303"/>
                  <a:pt x="175424" y="87712"/>
                </a:cubicBezTo>
                <a:cubicBezTo>
                  <a:pt x="175424" y="136122"/>
                  <a:pt x="136122" y="175424"/>
                  <a:pt x="87712" y="175424"/>
                </a:cubicBezTo>
                <a:cubicBezTo>
                  <a:pt x="39303" y="175424"/>
                  <a:pt x="0" y="136122"/>
                  <a:pt x="0" y="87712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59" name="Text 57"/>
          <p:cNvSpPr/>
          <p:nvPr/>
        </p:nvSpPr>
        <p:spPr>
          <a:xfrm>
            <a:off x="7753103" y="3413325"/>
            <a:ext cx="3990906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Size Matters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533823" y="3799259"/>
            <a:ext cx="4122475" cy="1078860"/>
          </a:xfrm>
          <a:custGeom>
            <a:avLst/>
            <a:gdLst/>
            <a:ahLst/>
            <a:cxnLst/>
            <a:rect l="l" t="t" r="r" b="b"/>
            <a:pathLst>
              <a:path w="4122475" h="1078860">
                <a:moveTo>
                  <a:pt x="70169" y="0"/>
                </a:moveTo>
                <a:lnTo>
                  <a:pt x="4052306" y="0"/>
                </a:lnTo>
                <a:cubicBezTo>
                  <a:pt x="4091033" y="0"/>
                  <a:pt x="4122475" y="31442"/>
                  <a:pt x="4122475" y="70169"/>
                </a:cubicBezTo>
                <a:lnTo>
                  <a:pt x="4122475" y="1008691"/>
                </a:lnTo>
                <a:cubicBezTo>
                  <a:pt x="4122475" y="1047445"/>
                  <a:pt x="4091059" y="1078860"/>
                  <a:pt x="4052306" y="1078860"/>
                </a:cubicBezTo>
                <a:lnTo>
                  <a:pt x="70169" y="1078860"/>
                </a:lnTo>
                <a:cubicBezTo>
                  <a:pt x="31442" y="1078860"/>
                  <a:pt x="0" y="1047419"/>
                  <a:pt x="0" y="1008691"/>
                </a:cubicBezTo>
                <a:lnTo>
                  <a:pt x="0" y="70169"/>
                </a:lnTo>
                <a:cubicBezTo>
                  <a:pt x="0" y="31416"/>
                  <a:pt x="31416" y="0"/>
                  <a:pt x="70169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7674162" y="3939598"/>
            <a:ext cx="3903194" cy="20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Planet size features contribute </a:t>
            </a:r>
            <a:r>
              <a:rPr lang="en-US" sz="967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r>
              <a:rPr lang="en-US" sz="967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74162" y="4261941"/>
            <a:ext cx="456104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pl_rade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262470" y="4244398"/>
            <a:ext cx="324535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674162" y="4542620"/>
            <a:ext cx="631528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pl_bmasse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328035" y="4525077"/>
            <a:ext cx="26313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354890" y="5202214"/>
            <a:ext cx="4480341" cy="463121"/>
          </a:xfrm>
          <a:custGeom>
            <a:avLst/>
            <a:gdLst/>
            <a:ahLst/>
            <a:cxnLst/>
            <a:rect l="l" t="t" r="r" b="b"/>
            <a:pathLst>
              <a:path w="4480341" h="463121">
                <a:moveTo>
                  <a:pt x="105253" y="0"/>
                </a:moveTo>
                <a:lnTo>
                  <a:pt x="4375087" y="0"/>
                </a:lnTo>
                <a:cubicBezTo>
                  <a:pt x="4433217" y="0"/>
                  <a:pt x="4480341" y="47124"/>
                  <a:pt x="4480341" y="105253"/>
                </a:cubicBezTo>
                <a:lnTo>
                  <a:pt x="4480341" y="357867"/>
                </a:lnTo>
                <a:cubicBezTo>
                  <a:pt x="4480341" y="415997"/>
                  <a:pt x="4433217" y="463121"/>
                  <a:pt x="4375087" y="463121"/>
                </a:cubicBezTo>
                <a:lnTo>
                  <a:pt x="105253" y="463121"/>
                </a:lnTo>
                <a:cubicBezTo>
                  <a:pt x="47162" y="463121"/>
                  <a:pt x="0" y="415958"/>
                  <a:pt x="0" y="357867"/>
                </a:cubicBezTo>
                <a:lnTo>
                  <a:pt x="0" y="105253"/>
                </a:lnTo>
                <a:cubicBezTo>
                  <a:pt x="0" y="47162"/>
                  <a:pt x="47162" y="0"/>
                  <a:pt x="10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0529" y="5367115"/>
            <a:ext cx="92098" cy="122797"/>
          </a:xfrm>
          <a:custGeom>
            <a:avLst/>
            <a:gdLst/>
            <a:ahLst/>
            <a:cxnLst/>
            <a:rect l="l" t="t" r="r" b="b"/>
            <a:pathLst>
              <a:path w="92098" h="122797">
                <a:moveTo>
                  <a:pt x="70249" y="92098"/>
                </a:moveTo>
                <a:cubicBezTo>
                  <a:pt x="71999" y="86749"/>
                  <a:pt x="75501" y="81905"/>
                  <a:pt x="79458" y="77732"/>
                </a:cubicBezTo>
                <a:cubicBezTo>
                  <a:pt x="87301" y="69481"/>
                  <a:pt x="92098" y="58329"/>
                  <a:pt x="92098" y="46049"/>
                </a:cubicBezTo>
                <a:cubicBezTo>
                  <a:pt x="92098" y="20626"/>
                  <a:pt x="71472" y="0"/>
                  <a:pt x="46049" y="0"/>
                </a:cubicBezTo>
                <a:cubicBezTo>
                  <a:pt x="20626" y="0"/>
                  <a:pt x="0" y="20626"/>
                  <a:pt x="0" y="46049"/>
                </a:cubicBezTo>
                <a:cubicBezTo>
                  <a:pt x="0" y="58329"/>
                  <a:pt x="4797" y="69481"/>
                  <a:pt x="12639" y="77732"/>
                </a:cubicBezTo>
                <a:cubicBezTo>
                  <a:pt x="16597" y="81905"/>
                  <a:pt x="20122" y="86749"/>
                  <a:pt x="21849" y="92098"/>
                </a:cubicBezTo>
                <a:lnTo>
                  <a:pt x="70225" y="92098"/>
                </a:lnTo>
                <a:close/>
                <a:moveTo>
                  <a:pt x="69073" y="103610"/>
                </a:moveTo>
                <a:lnTo>
                  <a:pt x="23024" y="103610"/>
                </a:lnTo>
                <a:lnTo>
                  <a:pt x="23024" y="107447"/>
                </a:lnTo>
                <a:cubicBezTo>
                  <a:pt x="23024" y="118048"/>
                  <a:pt x="31611" y="126635"/>
                  <a:pt x="42212" y="126635"/>
                </a:cubicBezTo>
                <a:lnTo>
                  <a:pt x="49886" y="126635"/>
                </a:lnTo>
                <a:cubicBezTo>
                  <a:pt x="60487" y="126635"/>
                  <a:pt x="69073" y="118048"/>
                  <a:pt x="69073" y="107447"/>
                </a:cubicBezTo>
                <a:lnTo>
                  <a:pt x="69073" y="103610"/>
                </a:lnTo>
                <a:close/>
                <a:moveTo>
                  <a:pt x="44130" y="26862"/>
                </a:moveTo>
                <a:cubicBezTo>
                  <a:pt x="34585" y="26862"/>
                  <a:pt x="26862" y="34585"/>
                  <a:pt x="26862" y="44130"/>
                </a:cubicBezTo>
                <a:cubicBezTo>
                  <a:pt x="26862" y="47320"/>
                  <a:pt x="24296" y="49886"/>
                  <a:pt x="21106" y="49886"/>
                </a:cubicBezTo>
                <a:cubicBezTo>
                  <a:pt x="17916" y="49886"/>
                  <a:pt x="15350" y="47320"/>
                  <a:pt x="15350" y="44130"/>
                </a:cubicBezTo>
                <a:cubicBezTo>
                  <a:pt x="15350" y="28229"/>
                  <a:pt x="28229" y="15350"/>
                  <a:pt x="44130" y="15350"/>
                </a:cubicBezTo>
                <a:cubicBezTo>
                  <a:pt x="47320" y="15350"/>
                  <a:pt x="49886" y="17916"/>
                  <a:pt x="49886" y="21106"/>
                </a:cubicBezTo>
                <a:cubicBezTo>
                  <a:pt x="49886" y="24296"/>
                  <a:pt x="47320" y="26862"/>
                  <a:pt x="44130" y="2686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8" name="Text 66"/>
          <p:cNvSpPr/>
          <p:nvPr/>
        </p:nvSpPr>
        <p:spPr>
          <a:xfrm>
            <a:off x="7674383" y="5346060"/>
            <a:ext cx="4047699" cy="17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7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Temperature and size are the dominant factors in determining habitability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461" y="377461"/>
            <a:ext cx="377461" cy="377461"/>
          </a:xfrm>
          <a:custGeom>
            <a:avLst/>
            <a:gdLst/>
            <a:ahLst/>
            <a:cxnLst/>
            <a:rect l="l" t="t" r="r" b="b"/>
            <a:pathLst>
              <a:path w="377461" h="377461">
                <a:moveTo>
                  <a:pt x="75492" y="0"/>
                </a:moveTo>
                <a:lnTo>
                  <a:pt x="301969" y="0"/>
                </a:lnTo>
                <a:cubicBezTo>
                  <a:pt x="343662" y="0"/>
                  <a:pt x="377461" y="33799"/>
                  <a:pt x="377461" y="75492"/>
                </a:cubicBezTo>
                <a:lnTo>
                  <a:pt x="377461" y="301969"/>
                </a:lnTo>
                <a:cubicBezTo>
                  <a:pt x="377461" y="343662"/>
                  <a:pt x="343662" y="377461"/>
                  <a:pt x="301969" y="377461"/>
                </a:cubicBezTo>
                <a:lnTo>
                  <a:pt x="75492" y="377461"/>
                </a:lnTo>
                <a:cubicBezTo>
                  <a:pt x="33799" y="377461"/>
                  <a:pt x="0" y="343662"/>
                  <a:pt x="0" y="301969"/>
                </a:cubicBezTo>
                <a:lnTo>
                  <a:pt x="0" y="75492"/>
                </a:lnTo>
                <a:cubicBezTo>
                  <a:pt x="0" y="33827"/>
                  <a:pt x="33827" y="0"/>
                  <a:pt x="7549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1263" y="490700"/>
            <a:ext cx="169858" cy="150985"/>
          </a:xfrm>
          <a:custGeom>
            <a:avLst/>
            <a:gdLst/>
            <a:ahLst/>
            <a:cxnLst/>
            <a:rect l="l" t="t" r="r" b="b"/>
            <a:pathLst>
              <a:path w="169858" h="150985">
                <a:moveTo>
                  <a:pt x="91269" y="-5573"/>
                </a:moveTo>
                <a:cubicBezTo>
                  <a:pt x="90060" y="-7933"/>
                  <a:pt x="87612" y="-9437"/>
                  <a:pt x="84958" y="-9437"/>
                </a:cubicBezTo>
                <a:cubicBezTo>
                  <a:pt x="82304" y="-9437"/>
                  <a:pt x="79857" y="-7933"/>
                  <a:pt x="78648" y="-5573"/>
                </a:cubicBezTo>
                <a:lnTo>
                  <a:pt x="56944" y="36950"/>
                </a:lnTo>
                <a:lnTo>
                  <a:pt x="9790" y="44440"/>
                </a:lnTo>
                <a:cubicBezTo>
                  <a:pt x="7166" y="44853"/>
                  <a:pt x="4984" y="46711"/>
                  <a:pt x="4158" y="49247"/>
                </a:cubicBezTo>
                <a:cubicBezTo>
                  <a:pt x="3332" y="51783"/>
                  <a:pt x="4011" y="54555"/>
                  <a:pt x="5868" y="56442"/>
                </a:cubicBezTo>
                <a:lnTo>
                  <a:pt x="39604" y="90207"/>
                </a:lnTo>
                <a:lnTo>
                  <a:pt x="32173" y="137361"/>
                </a:lnTo>
                <a:cubicBezTo>
                  <a:pt x="31760" y="139985"/>
                  <a:pt x="32851" y="142639"/>
                  <a:pt x="35004" y="144202"/>
                </a:cubicBezTo>
                <a:cubicBezTo>
                  <a:pt x="37156" y="145765"/>
                  <a:pt x="39987" y="146001"/>
                  <a:pt x="42376" y="144792"/>
                </a:cubicBezTo>
                <a:lnTo>
                  <a:pt x="84958" y="123147"/>
                </a:lnTo>
                <a:lnTo>
                  <a:pt x="127511" y="144792"/>
                </a:lnTo>
                <a:cubicBezTo>
                  <a:pt x="129870" y="146001"/>
                  <a:pt x="132731" y="145765"/>
                  <a:pt x="134883" y="144202"/>
                </a:cubicBezTo>
                <a:cubicBezTo>
                  <a:pt x="137036" y="142639"/>
                  <a:pt x="138127" y="140015"/>
                  <a:pt x="137714" y="137361"/>
                </a:cubicBezTo>
                <a:lnTo>
                  <a:pt x="130254" y="90207"/>
                </a:lnTo>
                <a:lnTo>
                  <a:pt x="163989" y="56442"/>
                </a:lnTo>
                <a:cubicBezTo>
                  <a:pt x="165877" y="54555"/>
                  <a:pt x="166525" y="51783"/>
                  <a:pt x="165700" y="49247"/>
                </a:cubicBezTo>
                <a:cubicBezTo>
                  <a:pt x="164874" y="46711"/>
                  <a:pt x="162721" y="44853"/>
                  <a:pt x="160067" y="44440"/>
                </a:cubicBezTo>
                <a:lnTo>
                  <a:pt x="112943" y="36950"/>
                </a:lnTo>
                <a:lnTo>
                  <a:pt x="91269" y="-557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68161" y="471827"/>
            <a:ext cx="94365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kern="0" spc="52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7461" y="830415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Habitability Candidates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236" y="1400381"/>
            <a:ext cx="11435190" cy="3933147"/>
          </a:xfrm>
          <a:custGeom>
            <a:avLst/>
            <a:gdLst/>
            <a:ahLst/>
            <a:cxnLst/>
            <a:rect l="l" t="t" r="r" b="b"/>
            <a:pathLst>
              <a:path w="11435190" h="3933147">
                <a:moveTo>
                  <a:pt x="113235" y="0"/>
                </a:moveTo>
                <a:lnTo>
                  <a:pt x="11321955" y="0"/>
                </a:lnTo>
                <a:cubicBezTo>
                  <a:pt x="11384493" y="0"/>
                  <a:pt x="11435190" y="50697"/>
                  <a:pt x="11435190" y="113235"/>
                </a:cubicBezTo>
                <a:lnTo>
                  <a:pt x="11435190" y="3819911"/>
                </a:lnTo>
                <a:cubicBezTo>
                  <a:pt x="11435190" y="3882450"/>
                  <a:pt x="11384493" y="3933147"/>
                  <a:pt x="11321955" y="3933147"/>
                </a:cubicBezTo>
                <a:lnTo>
                  <a:pt x="113235" y="3933147"/>
                </a:lnTo>
                <a:cubicBezTo>
                  <a:pt x="50697" y="3933147"/>
                  <a:pt x="0" y="3882450"/>
                  <a:pt x="0" y="3819911"/>
                </a:cubicBezTo>
                <a:lnTo>
                  <a:pt x="0" y="113235"/>
                </a:lnTo>
                <a:cubicBezTo>
                  <a:pt x="0" y="50739"/>
                  <a:pt x="50739" y="0"/>
                  <a:pt x="11323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3741" y="1592885"/>
            <a:ext cx="11144545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Ranking Exoplanets by ML Prediction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3741" y="2008092"/>
          <a:ext cx="11050178" cy="3132930"/>
        </p:xfrm>
        <a:graphic>
          <a:graphicData uri="http://schemas.openxmlformats.org/drawingml/2006/table">
            <a:tbl>
              <a:tblPr/>
              <a:tblGrid>
                <a:gridCol w="114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15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Rank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Planet Name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Habitability Probability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Habitability Score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15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Kepler-62 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15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Kepler-155 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15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Kepler-296 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15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Kepler-442 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15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Kepler-1455 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2E8F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✓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50985" marR="150985" marT="113238" marB="1132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1236" y="5492067"/>
            <a:ext cx="11435190" cy="988949"/>
          </a:xfrm>
          <a:custGeom>
            <a:avLst/>
            <a:gdLst/>
            <a:ahLst/>
            <a:cxnLst/>
            <a:rect l="l" t="t" r="r" b="b"/>
            <a:pathLst>
              <a:path w="11435190" h="988949">
                <a:moveTo>
                  <a:pt x="113235" y="0"/>
                </a:moveTo>
                <a:lnTo>
                  <a:pt x="11321955" y="0"/>
                </a:lnTo>
                <a:cubicBezTo>
                  <a:pt x="11384493" y="0"/>
                  <a:pt x="11435190" y="50697"/>
                  <a:pt x="11435190" y="113235"/>
                </a:cubicBezTo>
                <a:lnTo>
                  <a:pt x="11435190" y="875714"/>
                </a:lnTo>
                <a:cubicBezTo>
                  <a:pt x="11435190" y="938252"/>
                  <a:pt x="11384493" y="988949"/>
                  <a:pt x="11321955" y="988949"/>
                </a:cubicBezTo>
                <a:lnTo>
                  <a:pt x="113235" y="988949"/>
                </a:lnTo>
                <a:cubicBezTo>
                  <a:pt x="50697" y="988949"/>
                  <a:pt x="0" y="938252"/>
                  <a:pt x="0" y="875714"/>
                </a:cubicBezTo>
                <a:lnTo>
                  <a:pt x="0" y="113235"/>
                </a:lnTo>
                <a:cubicBezTo>
                  <a:pt x="0" y="50739"/>
                  <a:pt x="50739" y="0"/>
                  <a:pt x="11323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100" y="5844992"/>
            <a:ext cx="212322" cy="283096"/>
          </a:xfrm>
          <a:custGeom>
            <a:avLst/>
            <a:gdLst/>
            <a:ahLst/>
            <a:cxnLst/>
            <a:rect l="l" t="t" r="r" b="b"/>
            <a:pathLst>
              <a:path w="212322" h="283096">
                <a:moveTo>
                  <a:pt x="161951" y="212322"/>
                </a:moveTo>
                <a:cubicBezTo>
                  <a:pt x="165987" y="199992"/>
                  <a:pt x="174060" y="188823"/>
                  <a:pt x="183183" y="179202"/>
                </a:cubicBezTo>
                <a:cubicBezTo>
                  <a:pt x="201264" y="160181"/>
                  <a:pt x="212322" y="134471"/>
                  <a:pt x="212322" y="106161"/>
                </a:cubicBezTo>
                <a:cubicBezTo>
                  <a:pt x="212322" y="47551"/>
                  <a:pt x="164771" y="0"/>
                  <a:pt x="106161" y="0"/>
                </a:cubicBezTo>
                <a:cubicBezTo>
                  <a:pt x="47551" y="0"/>
                  <a:pt x="0" y="47551"/>
                  <a:pt x="0" y="106161"/>
                </a:cubicBezTo>
                <a:cubicBezTo>
                  <a:pt x="0" y="134471"/>
                  <a:pt x="11058" y="160181"/>
                  <a:pt x="29139" y="179202"/>
                </a:cubicBezTo>
                <a:cubicBezTo>
                  <a:pt x="38262" y="188823"/>
                  <a:pt x="46390" y="199992"/>
                  <a:pt x="50371" y="212322"/>
                </a:cubicBezTo>
                <a:lnTo>
                  <a:pt x="161896" y="212322"/>
                </a:lnTo>
                <a:close/>
                <a:moveTo>
                  <a:pt x="159241" y="238862"/>
                </a:moveTo>
                <a:lnTo>
                  <a:pt x="53080" y="238862"/>
                </a:lnTo>
                <a:lnTo>
                  <a:pt x="53080" y="247709"/>
                </a:lnTo>
                <a:cubicBezTo>
                  <a:pt x="53080" y="272148"/>
                  <a:pt x="72875" y="291943"/>
                  <a:pt x="97314" y="291943"/>
                </a:cubicBezTo>
                <a:lnTo>
                  <a:pt x="115008" y="291943"/>
                </a:lnTo>
                <a:cubicBezTo>
                  <a:pt x="139447" y="291943"/>
                  <a:pt x="159241" y="272148"/>
                  <a:pt x="159241" y="247709"/>
                </a:cubicBezTo>
                <a:lnTo>
                  <a:pt x="159241" y="238862"/>
                </a:lnTo>
                <a:close/>
                <a:moveTo>
                  <a:pt x="101738" y="61927"/>
                </a:moveTo>
                <a:cubicBezTo>
                  <a:pt x="79731" y="61927"/>
                  <a:pt x="61927" y="79731"/>
                  <a:pt x="61927" y="101738"/>
                </a:cubicBezTo>
                <a:cubicBezTo>
                  <a:pt x="61927" y="109091"/>
                  <a:pt x="56011" y="115008"/>
                  <a:pt x="48657" y="115008"/>
                </a:cubicBezTo>
                <a:cubicBezTo>
                  <a:pt x="41303" y="115008"/>
                  <a:pt x="35387" y="109091"/>
                  <a:pt x="35387" y="101738"/>
                </a:cubicBezTo>
                <a:cubicBezTo>
                  <a:pt x="35387" y="65079"/>
                  <a:pt x="65079" y="35387"/>
                  <a:pt x="101738" y="35387"/>
                </a:cubicBezTo>
                <a:cubicBezTo>
                  <a:pt x="109091" y="35387"/>
                  <a:pt x="115008" y="41303"/>
                  <a:pt x="115008" y="48657"/>
                </a:cubicBezTo>
                <a:cubicBezTo>
                  <a:pt x="115008" y="56011"/>
                  <a:pt x="109091" y="61927"/>
                  <a:pt x="101738" y="619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981281" y="5646825"/>
            <a:ext cx="10748211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Observation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81281" y="5873302"/>
            <a:ext cx="10757647" cy="45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9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alignment between ML probability and engineered Habitability Score validates our feature engineering approach. All top candidates show perfect 1.00 probability with high habitability scores.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Serialization &amp; Deployment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5608320" cy="3779520"/>
          </a:xfrm>
          <a:custGeom>
            <a:avLst/>
            <a:gdLst/>
            <a:ahLst/>
            <a:cxnLst/>
            <a:rect l="l" t="t" r="r" b="b"/>
            <a:pathLst>
              <a:path w="5608320" h="3779520">
                <a:moveTo>
                  <a:pt x="114293" y="0"/>
                </a:moveTo>
                <a:lnTo>
                  <a:pt x="5494027" y="0"/>
                </a:lnTo>
                <a:cubicBezTo>
                  <a:pt x="5557149" y="0"/>
                  <a:pt x="5608320" y="51171"/>
                  <a:pt x="5608320" y="114293"/>
                </a:cubicBezTo>
                <a:lnTo>
                  <a:pt x="5608320" y="3665227"/>
                </a:lnTo>
                <a:cubicBezTo>
                  <a:pt x="5608320" y="3728349"/>
                  <a:pt x="5557149" y="3779520"/>
                  <a:pt x="5494027" y="3779520"/>
                </a:cubicBezTo>
                <a:lnTo>
                  <a:pt x="114293" y="3779520"/>
                </a:lnTo>
                <a:cubicBezTo>
                  <a:pt x="51171" y="3779520"/>
                  <a:pt x="0" y="3728349"/>
                  <a:pt x="0" y="36652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839" y="164591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64480"/>
                </a:lnTo>
                <a:cubicBezTo>
                  <a:pt x="166688" y="58155"/>
                  <a:pt x="164195" y="52090"/>
                  <a:pt x="159730" y="47625"/>
                </a:cubicBezTo>
                <a:lnTo>
                  <a:pt x="130969" y="18864"/>
                </a:lnTo>
                <a:cubicBezTo>
                  <a:pt x="126504" y="14399"/>
                  <a:pt x="120439" y="11906"/>
                  <a:pt x="114114" y="11906"/>
                </a:cubicBezTo>
                <a:lnTo>
                  <a:pt x="23812" y="11906"/>
                </a:lnTo>
                <a:close/>
                <a:moveTo>
                  <a:pt x="35719" y="47625"/>
                </a:moveTo>
                <a:cubicBezTo>
                  <a:pt x="35719" y="41039"/>
                  <a:pt x="41039" y="35719"/>
                  <a:pt x="47625" y="35719"/>
                </a:cubicBezTo>
                <a:lnTo>
                  <a:pt x="107156" y="35719"/>
                </a:lnTo>
                <a:cubicBezTo>
                  <a:pt x="113742" y="35719"/>
                  <a:pt x="119063" y="41039"/>
                  <a:pt x="119063" y="47625"/>
                </a:cubicBezTo>
                <a:lnTo>
                  <a:pt x="119063" y="71438"/>
                </a:lnTo>
                <a:cubicBezTo>
                  <a:pt x="119063" y="78023"/>
                  <a:pt x="113742" y="83344"/>
                  <a:pt x="107156" y="83344"/>
                </a:cubicBezTo>
                <a:lnTo>
                  <a:pt x="47625" y="83344"/>
                </a:lnTo>
                <a:cubicBezTo>
                  <a:pt x="41039" y="83344"/>
                  <a:pt x="35719" y="78023"/>
                  <a:pt x="35719" y="71438"/>
                </a:cubicBezTo>
                <a:lnTo>
                  <a:pt x="35719" y="47625"/>
                </a:lnTo>
                <a:close/>
                <a:moveTo>
                  <a:pt x="83344" y="107156"/>
                </a:moveTo>
                <a:cubicBezTo>
                  <a:pt x="96486" y="107156"/>
                  <a:pt x="107156" y="117826"/>
                  <a:pt x="107156" y="130969"/>
                </a:cubicBezTo>
                <a:cubicBezTo>
                  <a:pt x="107156" y="144111"/>
                  <a:pt x="96486" y="154781"/>
                  <a:pt x="83344" y="154781"/>
                </a:cubicBezTo>
                <a:cubicBezTo>
                  <a:pt x="70201" y="154781"/>
                  <a:pt x="59531" y="144111"/>
                  <a:pt x="59531" y="130969"/>
                </a:cubicBezTo>
                <a:cubicBezTo>
                  <a:pt x="59531" y="117826"/>
                  <a:pt x="70201" y="107156"/>
                  <a:pt x="83344" y="10715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17245" y="1607818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Exported Artifacts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" y="2026918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1045" y="221730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45845" y="2141218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Logistic_Regression_model.joblib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5845" y="2331718"/>
            <a:ext cx="197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2712607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1045" y="2902986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45845" y="2826907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Random_Forest_model.joblib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5845" y="3017407"/>
            <a:ext cx="1743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model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3398286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41045" y="358866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45845" y="3512586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XGBoost_model.joblib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5845" y="3703086"/>
            <a:ext cx="134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model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120" y="4083965"/>
            <a:ext cx="5219700" cy="571500"/>
          </a:xfrm>
          <a:custGeom>
            <a:avLst/>
            <a:gdLst/>
            <a:ahLst/>
            <a:cxnLst/>
            <a:rect l="l" t="t" r="r" b="b"/>
            <a:pathLst>
              <a:path w="5219700" h="571500">
                <a:moveTo>
                  <a:pt x="76198" y="0"/>
                </a:moveTo>
                <a:lnTo>
                  <a:pt x="5143502" y="0"/>
                </a:lnTo>
                <a:cubicBezTo>
                  <a:pt x="5185585" y="0"/>
                  <a:pt x="5219700" y="34115"/>
                  <a:pt x="5219700" y="76198"/>
                </a:cubicBezTo>
                <a:lnTo>
                  <a:pt x="5219700" y="495302"/>
                </a:lnTo>
                <a:cubicBezTo>
                  <a:pt x="5219700" y="537385"/>
                  <a:pt x="5185585" y="571500"/>
                  <a:pt x="51435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1045" y="427434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45845" y="4198265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scaler.joblib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5845" y="4388765"/>
            <a:ext cx="752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scaler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5060" y="1413510"/>
            <a:ext cx="5608320" cy="3779520"/>
          </a:xfrm>
          <a:custGeom>
            <a:avLst/>
            <a:gdLst/>
            <a:ahLst/>
            <a:cxnLst/>
            <a:rect l="l" t="t" r="r" b="b"/>
            <a:pathLst>
              <a:path w="5608320" h="3779520">
                <a:moveTo>
                  <a:pt x="114293" y="0"/>
                </a:moveTo>
                <a:lnTo>
                  <a:pt x="5494027" y="0"/>
                </a:lnTo>
                <a:cubicBezTo>
                  <a:pt x="5557149" y="0"/>
                  <a:pt x="5608320" y="51171"/>
                  <a:pt x="5608320" y="114293"/>
                </a:cubicBezTo>
                <a:lnTo>
                  <a:pt x="5608320" y="3665227"/>
                </a:lnTo>
                <a:cubicBezTo>
                  <a:pt x="5608320" y="3728349"/>
                  <a:pt x="5557149" y="3779520"/>
                  <a:pt x="5494027" y="3779520"/>
                </a:cubicBezTo>
                <a:lnTo>
                  <a:pt x="114293" y="3779520"/>
                </a:lnTo>
                <a:cubicBezTo>
                  <a:pt x="51171" y="3779520"/>
                  <a:pt x="0" y="3728349"/>
                  <a:pt x="0" y="36652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1276" y="164591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627495" y="1607818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Backend Integration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89370" y="2026918"/>
            <a:ext cx="5219700" cy="1333500"/>
          </a:xfrm>
          <a:custGeom>
            <a:avLst/>
            <a:gdLst/>
            <a:ahLst/>
            <a:cxnLst/>
            <a:rect l="l" t="t" r="r" b="b"/>
            <a:pathLst>
              <a:path w="5219700" h="1333500">
                <a:moveTo>
                  <a:pt x="76196" y="0"/>
                </a:moveTo>
                <a:lnTo>
                  <a:pt x="5143504" y="0"/>
                </a:lnTo>
                <a:cubicBezTo>
                  <a:pt x="5185586" y="0"/>
                  <a:pt x="5219700" y="34114"/>
                  <a:pt x="5219700" y="76196"/>
                </a:cubicBezTo>
                <a:lnTo>
                  <a:pt x="5219700" y="1257304"/>
                </a:lnTo>
                <a:cubicBezTo>
                  <a:pt x="5219700" y="1299386"/>
                  <a:pt x="5185586" y="1333500"/>
                  <a:pt x="5143504" y="1333500"/>
                </a:cubicBezTo>
                <a:lnTo>
                  <a:pt x="76196" y="1333500"/>
                </a:lnTo>
                <a:cubicBezTo>
                  <a:pt x="34114" y="1333500"/>
                  <a:pt x="0" y="1299386"/>
                  <a:pt x="0" y="12573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41770" y="2179318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pre-trained model at startup: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41770" y="2446018"/>
            <a:ext cx="4972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joblib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 Load model and scaler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 = joblib.load(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'Random_Forest_model.joblib'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scaler = joblib.load(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'scaler.joblib'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89370" y="3512223"/>
            <a:ext cx="5219700" cy="1485900"/>
          </a:xfrm>
          <a:custGeom>
            <a:avLst/>
            <a:gdLst/>
            <a:ahLst/>
            <a:cxnLst/>
            <a:rect l="l" t="t" r="r" b="b"/>
            <a:pathLst>
              <a:path w="5219700" h="1485900">
                <a:moveTo>
                  <a:pt x="76197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1409703"/>
                </a:lnTo>
                <a:cubicBezTo>
                  <a:pt x="5219700" y="1451785"/>
                  <a:pt x="5185585" y="1485900"/>
                  <a:pt x="51435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41770" y="3664623"/>
            <a:ext cx="498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prediction endpoint: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41770" y="3931323"/>
            <a:ext cx="49720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@app.route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'/predict'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 methods=[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'POST'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90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features = request.json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scaled = scaler.transform(features)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prob = model.predict_proba(scaled)[:, 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{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"habitability_probability"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prob[</a:t>
            </a:r>
            <a:r>
              <a:rPr lang="en-US" sz="90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900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]}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5351744"/>
            <a:ext cx="11418570" cy="845820"/>
          </a:xfrm>
          <a:custGeom>
            <a:avLst/>
            <a:gdLst/>
            <a:ahLst/>
            <a:cxnLst/>
            <a:rect l="l" t="t" r="r" b="b"/>
            <a:pathLst>
              <a:path w="11418570" h="845820">
                <a:moveTo>
                  <a:pt x="114304" y="0"/>
                </a:moveTo>
                <a:lnTo>
                  <a:pt x="11304266" y="0"/>
                </a:lnTo>
                <a:cubicBezTo>
                  <a:pt x="11367394" y="0"/>
                  <a:pt x="11418570" y="51176"/>
                  <a:pt x="11418570" y="114304"/>
                </a:cubicBezTo>
                <a:lnTo>
                  <a:pt x="11418570" y="731516"/>
                </a:lnTo>
                <a:cubicBezTo>
                  <a:pt x="11418570" y="794644"/>
                  <a:pt x="11367394" y="845820"/>
                  <a:pt x="11304266" y="845820"/>
                </a:cubicBezTo>
                <a:lnTo>
                  <a:pt x="114304" y="845820"/>
                </a:lnTo>
                <a:cubicBezTo>
                  <a:pt x="51176" y="845820"/>
                  <a:pt x="0" y="794644"/>
                  <a:pt x="0" y="7315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1020" y="55079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7708" y="566035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1226820" y="5527002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Speed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26820" y="5717502"/>
            <a:ext cx="1057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100ms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399228" y="5546052"/>
            <a:ext cx="7620" cy="457200"/>
          </a:xfrm>
          <a:custGeom>
            <a:avLst/>
            <a:gdLst/>
            <a:ahLst/>
            <a:cxnLst/>
            <a:rect l="l" t="t" r="r" b="b"/>
            <a:pathLst>
              <a:path w="7620" h="457200">
                <a:moveTo>
                  <a:pt x="0" y="0"/>
                </a:moveTo>
                <a:lnTo>
                  <a:pt x="7620" y="0"/>
                </a:lnTo>
                <a:lnTo>
                  <a:pt x="762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631638" y="5546052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are loaded once at application startup, enabling fast real-time predictions through the REST API with minimal latency.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76955" y="5527002"/>
            <a:ext cx="676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00767" y="5831681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175" y="369175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73835" y="0"/>
                </a:moveTo>
                <a:lnTo>
                  <a:pt x="295340" y="0"/>
                </a:lnTo>
                <a:cubicBezTo>
                  <a:pt x="336091" y="0"/>
                  <a:pt x="369175" y="33084"/>
                  <a:pt x="369175" y="73835"/>
                </a:cubicBezTo>
                <a:lnTo>
                  <a:pt x="369175" y="295340"/>
                </a:lnTo>
                <a:cubicBezTo>
                  <a:pt x="369175" y="336091"/>
                  <a:pt x="336091" y="369175"/>
                  <a:pt x="295340" y="369175"/>
                </a:cubicBezTo>
                <a:lnTo>
                  <a:pt x="73835" y="369175"/>
                </a:lnTo>
                <a:cubicBezTo>
                  <a:pt x="33084" y="369175"/>
                  <a:pt x="0" y="336091"/>
                  <a:pt x="0" y="295340"/>
                </a:cubicBezTo>
                <a:lnTo>
                  <a:pt x="0" y="73835"/>
                </a:lnTo>
                <a:cubicBezTo>
                  <a:pt x="0" y="33084"/>
                  <a:pt x="33084" y="0"/>
                  <a:pt x="7383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8386" y="479927"/>
            <a:ext cx="110752" cy="147670"/>
          </a:xfrm>
          <a:custGeom>
            <a:avLst/>
            <a:gdLst/>
            <a:ahLst/>
            <a:cxnLst/>
            <a:rect l="l" t="t" r="r" b="b"/>
            <a:pathLst>
              <a:path w="110752" h="147670">
                <a:moveTo>
                  <a:pt x="89813" y="9229"/>
                </a:moveTo>
                <a:lnTo>
                  <a:pt x="92294" y="9229"/>
                </a:lnTo>
                <a:cubicBezTo>
                  <a:pt x="102475" y="9229"/>
                  <a:pt x="110752" y="17507"/>
                  <a:pt x="110752" y="27688"/>
                </a:cubicBezTo>
                <a:lnTo>
                  <a:pt x="110752" y="129211"/>
                </a:lnTo>
                <a:cubicBezTo>
                  <a:pt x="110752" y="139392"/>
                  <a:pt x="102475" y="147670"/>
                  <a:pt x="92294" y="147670"/>
                </a:cubicBezTo>
                <a:lnTo>
                  <a:pt x="18459" y="147670"/>
                </a:lnTo>
                <a:cubicBezTo>
                  <a:pt x="8278" y="147670"/>
                  <a:pt x="0" y="139392"/>
                  <a:pt x="0" y="129211"/>
                </a:cubicBezTo>
                <a:lnTo>
                  <a:pt x="0" y="27688"/>
                </a:lnTo>
                <a:cubicBezTo>
                  <a:pt x="0" y="17507"/>
                  <a:pt x="8278" y="9229"/>
                  <a:pt x="18459" y="9229"/>
                </a:cubicBezTo>
                <a:lnTo>
                  <a:pt x="20939" y="9229"/>
                </a:lnTo>
                <a:cubicBezTo>
                  <a:pt x="24112" y="3721"/>
                  <a:pt x="30082" y="0"/>
                  <a:pt x="36917" y="0"/>
                </a:cubicBezTo>
                <a:lnTo>
                  <a:pt x="73835" y="0"/>
                </a:lnTo>
                <a:cubicBezTo>
                  <a:pt x="80670" y="0"/>
                  <a:pt x="86641" y="3721"/>
                  <a:pt x="89813" y="9229"/>
                </a:cubicBezTo>
                <a:close/>
                <a:moveTo>
                  <a:pt x="71528" y="32303"/>
                </a:moveTo>
                <a:cubicBezTo>
                  <a:pt x="75364" y="32303"/>
                  <a:pt x="78450" y="29217"/>
                  <a:pt x="78450" y="25381"/>
                </a:cubicBezTo>
                <a:cubicBezTo>
                  <a:pt x="78450" y="21545"/>
                  <a:pt x="75364" y="18459"/>
                  <a:pt x="71528" y="18459"/>
                </a:cubicBezTo>
                <a:lnTo>
                  <a:pt x="39225" y="18459"/>
                </a:lnTo>
                <a:cubicBezTo>
                  <a:pt x="35389" y="18459"/>
                  <a:pt x="32303" y="21545"/>
                  <a:pt x="32303" y="25381"/>
                </a:cubicBezTo>
                <a:cubicBezTo>
                  <a:pt x="32303" y="29217"/>
                  <a:pt x="35389" y="32303"/>
                  <a:pt x="39225" y="32303"/>
                </a:cubicBezTo>
                <a:lnTo>
                  <a:pt x="71528" y="32303"/>
                </a:lnTo>
                <a:close/>
                <a:moveTo>
                  <a:pt x="79719" y="75191"/>
                </a:moveTo>
                <a:cubicBezTo>
                  <a:pt x="81738" y="71960"/>
                  <a:pt x="80757" y="67692"/>
                  <a:pt x="77527" y="65644"/>
                </a:cubicBezTo>
                <a:cubicBezTo>
                  <a:pt x="74296" y="63596"/>
                  <a:pt x="70028" y="64606"/>
                  <a:pt x="67980" y="67836"/>
                </a:cubicBezTo>
                <a:lnTo>
                  <a:pt x="50271" y="96187"/>
                </a:lnTo>
                <a:lnTo>
                  <a:pt x="42484" y="85804"/>
                </a:lnTo>
                <a:cubicBezTo>
                  <a:pt x="40177" y="82747"/>
                  <a:pt x="35850" y="82113"/>
                  <a:pt x="32793" y="84420"/>
                </a:cubicBezTo>
                <a:cubicBezTo>
                  <a:pt x="29736" y="86727"/>
                  <a:pt x="29101" y="91054"/>
                  <a:pt x="31409" y="94111"/>
                </a:cubicBezTo>
                <a:lnTo>
                  <a:pt x="45253" y="112569"/>
                </a:lnTo>
                <a:cubicBezTo>
                  <a:pt x="46608" y="114387"/>
                  <a:pt x="48800" y="115425"/>
                  <a:pt x="51079" y="115338"/>
                </a:cubicBezTo>
                <a:cubicBezTo>
                  <a:pt x="53357" y="115252"/>
                  <a:pt x="55434" y="114040"/>
                  <a:pt x="56645" y="112079"/>
                </a:cubicBezTo>
                <a:lnTo>
                  <a:pt x="79719" y="75162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849102" y="461469"/>
            <a:ext cx="719891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kern="0" spc="5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9175" y="812185"/>
            <a:ext cx="11619779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Pipeline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2867" y="1369639"/>
            <a:ext cx="11442575" cy="2333185"/>
          </a:xfrm>
          <a:custGeom>
            <a:avLst/>
            <a:gdLst/>
            <a:ahLst/>
            <a:cxnLst/>
            <a:rect l="l" t="t" r="r" b="b"/>
            <a:pathLst>
              <a:path w="11442575" h="2333185">
                <a:moveTo>
                  <a:pt x="110756" y="0"/>
                </a:moveTo>
                <a:lnTo>
                  <a:pt x="11331819" y="0"/>
                </a:lnTo>
                <a:cubicBezTo>
                  <a:pt x="11392988" y="0"/>
                  <a:pt x="11442575" y="49587"/>
                  <a:pt x="11442575" y="110756"/>
                </a:cubicBezTo>
                <a:lnTo>
                  <a:pt x="11442575" y="2222429"/>
                </a:lnTo>
                <a:cubicBezTo>
                  <a:pt x="11442575" y="2283598"/>
                  <a:pt x="11392988" y="2333185"/>
                  <a:pt x="11331819" y="2333185"/>
                </a:cubicBezTo>
                <a:lnTo>
                  <a:pt x="110756" y="2333185"/>
                </a:lnTo>
                <a:cubicBezTo>
                  <a:pt x="49587" y="2333185"/>
                  <a:pt x="0" y="2283598"/>
                  <a:pt x="0" y="2222429"/>
                </a:cubicBezTo>
                <a:lnTo>
                  <a:pt x="0" y="110756"/>
                </a:lnTo>
                <a:cubicBezTo>
                  <a:pt x="0" y="49628"/>
                  <a:pt x="49628" y="0"/>
                  <a:pt x="110756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146" y="1557916"/>
            <a:ext cx="1115831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Phases &amp; Achievements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1146" y="1964008"/>
            <a:ext cx="2122755" cy="1550534"/>
          </a:xfrm>
          <a:custGeom>
            <a:avLst/>
            <a:gdLst/>
            <a:ahLst/>
            <a:cxnLst/>
            <a:rect l="l" t="t" r="r" b="b"/>
            <a:pathLst>
              <a:path w="2122755" h="1550534">
                <a:moveTo>
                  <a:pt x="73836" y="0"/>
                </a:moveTo>
                <a:lnTo>
                  <a:pt x="2048919" y="0"/>
                </a:lnTo>
                <a:cubicBezTo>
                  <a:pt x="2089698" y="0"/>
                  <a:pt x="2122755" y="33058"/>
                  <a:pt x="2122755" y="73836"/>
                </a:cubicBezTo>
                <a:lnTo>
                  <a:pt x="2122755" y="1476698"/>
                </a:lnTo>
                <a:cubicBezTo>
                  <a:pt x="2122755" y="1517477"/>
                  <a:pt x="2089698" y="1550534"/>
                  <a:pt x="2048919" y="1550534"/>
                </a:cubicBezTo>
                <a:lnTo>
                  <a:pt x="73836" y="1550534"/>
                </a:lnTo>
                <a:cubicBezTo>
                  <a:pt x="33058" y="1550534"/>
                  <a:pt x="0" y="1517477"/>
                  <a:pt x="0" y="1476698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2172" y="2111678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110752" y="0"/>
                </a:moveTo>
                <a:lnTo>
                  <a:pt x="332257" y="0"/>
                </a:lnTo>
                <a:cubicBezTo>
                  <a:pt x="393424" y="0"/>
                  <a:pt x="443010" y="49586"/>
                  <a:pt x="443010" y="110752"/>
                </a:cubicBezTo>
                <a:lnTo>
                  <a:pt x="443010" y="332257"/>
                </a:lnTo>
                <a:cubicBezTo>
                  <a:pt x="443010" y="393424"/>
                  <a:pt x="393424" y="443010"/>
                  <a:pt x="332257" y="443010"/>
                </a:cubicBezTo>
                <a:lnTo>
                  <a:pt x="110752" y="443010"/>
                </a:lnTo>
                <a:cubicBezTo>
                  <a:pt x="49586" y="443010"/>
                  <a:pt x="0" y="393424"/>
                  <a:pt x="0" y="332257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19847" y="2240890"/>
            <a:ext cx="207661" cy="184587"/>
          </a:xfrm>
          <a:custGeom>
            <a:avLst/>
            <a:gdLst/>
            <a:ahLst/>
            <a:cxnLst/>
            <a:rect l="l" t="t" r="r" b="b"/>
            <a:pathLst>
              <a:path w="207661" h="184587">
                <a:moveTo>
                  <a:pt x="204272" y="19685"/>
                </a:moveTo>
                <a:cubicBezTo>
                  <a:pt x="208778" y="15178"/>
                  <a:pt x="208778" y="7859"/>
                  <a:pt x="204272" y="3353"/>
                </a:cubicBezTo>
                <a:cubicBezTo>
                  <a:pt x="199765" y="-1154"/>
                  <a:pt x="192447" y="-1154"/>
                  <a:pt x="187940" y="3353"/>
                </a:cubicBezTo>
                <a:lnTo>
                  <a:pt x="118720" y="72573"/>
                </a:lnTo>
                <a:lnTo>
                  <a:pt x="106210" y="60063"/>
                </a:lnTo>
                <a:cubicBezTo>
                  <a:pt x="104696" y="58549"/>
                  <a:pt x="102605" y="57684"/>
                  <a:pt x="100442" y="57684"/>
                </a:cubicBezTo>
                <a:cubicBezTo>
                  <a:pt x="95935" y="57684"/>
                  <a:pt x="92294" y="61325"/>
                  <a:pt x="92294" y="65831"/>
                </a:cubicBezTo>
                <a:lnTo>
                  <a:pt x="92294" y="76323"/>
                </a:lnTo>
                <a:lnTo>
                  <a:pt x="131338" y="115367"/>
                </a:lnTo>
                <a:lnTo>
                  <a:pt x="141829" y="115367"/>
                </a:lnTo>
                <a:cubicBezTo>
                  <a:pt x="146336" y="115367"/>
                  <a:pt x="149977" y="111726"/>
                  <a:pt x="149977" y="107219"/>
                </a:cubicBezTo>
                <a:cubicBezTo>
                  <a:pt x="149977" y="105056"/>
                  <a:pt x="149112" y="102965"/>
                  <a:pt x="147598" y="101451"/>
                </a:cubicBezTo>
                <a:lnTo>
                  <a:pt x="135088" y="88941"/>
                </a:lnTo>
                <a:lnTo>
                  <a:pt x="204308" y="19721"/>
                </a:lnTo>
                <a:close/>
                <a:moveTo>
                  <a:pt x="122974" y="127409"/>
                </a:moveTo>
                <a:lnTo>
                  <a:pt x="80252" y="84687"/>
                </a:lnTo>
                <a:cubicBezTo>
                  <a:pt x="64858" y="83353"/>
                  <a:pt x="49536" y="88905"/>
                  <a:pt x="38504" y="99937"/>
                </a:cubicBezTo>
                <a:lnTo>
                  <a:pt x="35620" y="102821"/>
                </a:lnTo>
                <a:cubicBezTo>
                  <a:pt x="27580" y="110861"/>
                  <a:pt x="23073" y="121748"/>
                  <a:pt x="23073" y="133105"/>
                </a:cubicBezTo>
                <a:cubicBezTo>
                  <a:pt x="23073" y="135556"/>
                  <a:pt x="25633" y="137143"/>
                  <a:pt x="27832" y="136061"/>
                </a:cubicBezTo>
                <a:lnTo>
                  <a:pt x="46255" y="126868"/>
                </a:lnTo>
                <a:cubicBezTo>
                  <a:pt x="48058" y="125967"/>
                  <a:pt x="49680" y="128346"/>
                  <a:pt x="48202" y="129716"/>
                </a:cubicBezTo>
                <a:lnTo>
                  <a:pt x="2632" y="170671"/>
                </a:lnTo>
                <a:cubicBezTo>
                  <a:pt x="973" y="172185"/>
                  <a:pt x="0" y="174349"/>
                  <a:pt x="0" y="176620"/>
                </a:cubicBezTo>
                <a:cubicBezTo>
                  <a:pt x="0" y="181018"/>
                  <a:pt x="3569" y="184587"/>
                  <a:pt x="7968" y="184587"/>
                </a:cubicBezTo>
                <a:lnTo>
                  <a:pt x="70446" y="184587"/>
                </a:lnTo>
                <a:cubicBezTo>
                  <a:pt x="84434" y="184587"/>
                  <a:pt x="97810" y="179035"/>
                  <a:pt x="107724" y="169157"/>
                </a:cubicBezTo>
                <a:cubicBezTo>
                  <a:pt x="118756" y="158125"/>
                  <a:pt x="124272" y="142803"/>
                  <a:pt x="122974" y="12740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67284" y="2665441"/>
            <a:ext cx="191048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513" y="2997698"/>
            <a:ext cx="1892021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missing values, outliers capped using IQR method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96961" y="1964008"/>
            <a:ext cx="2122755" cy="1550534"/>
          </a:xfrm>
          <a:custGeom>
            <a:avLst/>
            <a:gdLst/>
            <a:ahLst/>
            <a:cxnLst/>
            <a:rect l="l" t="t" r="r" b="b"/>
            <a:pathLst>
              <a:path w="2122755" h="1550534">
                <a:moveTo>
                  <a:pt x="73836" y="0"/>
                </a:moveTo>
                <a:lnTo>
                  <a:pt x="2048919" y="0"/>
                </a:lnTo>
                <a:cubicBezTo>
                  <a:pt x="2089698" y="0"/>
                  <a:pt x="2122755" y="33058"/>
                  <a:pt x="2122755" y="73836"/>
                </a:cubicBezTo>
                <a:lnTo>
                  <a:pt x="2122755" y="1476698"/>
                </a:lnTo>
                <a:cubicBezTo>
                  <a:pt x="2122755" y="1517477"/>
                  <a:pt x="2089698" y="1550534"/>
                  <a:pt x="2048919" y="1550534"/>
                </a:cubicBezTo>
                <a:lnTo>
                  <a:pt x="73836" y="1550534"/>
                </a:lnTo>
                <a:cubicBezTo>
                  <a:pt x="33058" y="1550534"/>
                  <a:pt x="0" y="1517477"/>
                  <a:pt x="0" y="1476698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37988" y="2111678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110752" y="0"/>
                </a:moveTo>
                <a:lnTo>
                  <a:pt x="332257" y="0"/>
                </a:lnTo>
                <a:cubicBezTo>
                  <a:pt x="393424" y="0"/>
                  <a:pt x="443010" y="49586"/>
                  <a:pt x="443010" y="110752"/>
                </a:cubicBezTo>
                <a:lnTo>
                  <a:pt x="443010" y="332257"/>
                </a:lnTo>
                <a:cubicBezTo>
                  <a:pt x="443010" y="393424"/>
                  <a:pt x="393424" y="443010"/>
                  <a:pt x="332257" y="443010"/>
                </a:cubicBezTo>
                <a:lnTo>
                  <a:pt x="110752" y="443010"/>
                </a:lnTo>
                <a:cubicBezTo>
                  <a:pt x="49586" y="443010"/>
                  <a:pt x="0" y="393424"/>
                  <a:pt x="0" y="332257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44126" y="2240890"/>
            <a:ext cx="230734" cy="184587"/>
          </a:xfrm>
          <a:custGeom>
            <a:avLst/>
            <a:gdLst/>
            <a:ahLst/>
            <a:cxnLst/>
            <a:rect l="l" t="t" r="r" b="b"/>
            <a:pathLst>
              <a:path w="230734" h="184587">
                <a:moveTo>
                  <a:pt x="149941" y="75890"/>
                </a:moveTo>
                <a:cubicBezTo>
                  <a:pt x="154340" y="74700"/>
                  <a:pt x="158954" y="76791"/>
                  <a:pt x="160937" y="80865"/>
                </a:cubicBezTo>
                <a:lnTo>
                  <a:pt x="167643" y="94421"/>
                </a:lnTo>
                <a:cubicBezTo>
                  <a:pt x="171356" y="94926"/>
                  <a:pt x="174998" y="95935"/>
                  <a:pt x="178423" y="97341"/>
                </a:cubicBezTo>
                <a:lnTo>
                  <a:pt x="191041" y="88941"/>
                </a:lnTo>
                <a:cubicBezTo>
                  <a:pt x="194826" y="86417"/>
                  <a:pt x="199838" y="86922"/>
                  <a:pt x="203046" y="90131"/>
                </a:cubicBezTo>
                <a:lnTo>
                  <a:pt x="209968" y="97053"/>
                </a:lnTo>
                <a:cubicBezTo>
                  <a:pt x="213177" y="100261"/>
                  <a:pt x="213682" y="105309"/>
                  <a:pt x="211158" y="109058"/>
                </a:cubicBezTo>
                <a:lnTo>
                  <a:pt x="202758" y="121640"/>
                </a:lnTo>
                <a:cubicBezTo>
                  <a:pt x="203443" y="123335"/>
                  <a:pt x="204056" y="125101"/>
                  <a:pt x="204560" y="126940"/>
                </a:cubicBezTo>
                <a:cubicBezTo>
                  <a:pt x="205065" y="128779"/>
                  <a:pt x="205390" y="130581"/>
                  <a:pt x="205642" y="132420"/>
                </a:cubicBezTo>
                <a:lnTo>
                  <a:pt x="219234" y="139126"/>
                </a:lnTo>
                <a:cubicBezTo>
                  <a:pt x="223308" y="141144"/>
                  <a:pt x="225399" y="145759"/>
                  <a:pt x="224209" y="150121"/>
                </a:cubicBezTo>
                <a:lnTo>
                  <a:pt x="221685" y="159567"/>
                </a:lnTo>
                <a:cubicBezTo>
                  <a:pt x="220495" y="163930"/>
                  <a:pt x="216422" y="166886"/>
                  <a:pt x="211879" y="166597"/>
                </a:cubicBezTo>
                <a:lnTo>
                  <a:pt x="196737" y="165624"/>
                </a:lnTo>
                <a:cubicBezTo>
                  <a:pt x="194466" y="168544"/>
                  <a:pt x="191834" y="171248"/>
                  <a:pt x="188842" y="173555"/>
                </a:cubicBezTo>
                <a:lnTo>
                  <a:pt x="189815" y="188661"/>
                </a:lnTo>
                <a:cubicBezTo>
                  <a:pt x="190103" y="193204"/>
                  <a:pt x="187147" y="197314"/>
                  <a:pt x="182785" y="198468"/>
                </a:cubicBezTo>
                <a:lnTo>
                  <a:pt x="173339" y="200991"/>
                </a:lnTo>
                <a:cubicBezTo>
                  <a:pt x="168941" y="202181"/>
                  <a:pt x="164362" y="200090"/>
                  <a:pt x="162343" y="196016"/>
                </a:cubicBezTo>
                <a:lnTo>
                  <a:pt x="155637" y="182460"/>
                </a:lnTo>
                <a:cubicBezTo>
                  <a:pt x="151924" y="181956"/>
                  <a:pt x="148283" y="180946"/>
                  <a:pt x="144858" y="179540"/>
                </a:cubicBezTo>
                <a:lnTo>
                  <a:pt x="132240" y="187940"/>
                </a:lnTo>
                <a:cubicBezTo>
                  <a:pt x="128454" y="190464"/>
                  <a:pt x="123443" y="189959"/>
                  <a:pt x="120234" y="186751"/>
                </a:cubicBezTo>
                <a:lnTo>
                  <a:pt x="113312" y="179829"/>
                </a:lnTo>
                <a:cubicBezTo>
                  <a:pt x="110104" y="176620"/>
                  <a:pt x="109599" y="171609"/>
                  <a:pt x="112122" y="167823"/>
                </a:cubicBezTo>
                <a:lnTo>
                  <a:pt x="120523" y="155205"/>
                </a:lnTo>
                <a:cubicBezTo>
                  <a:pt x="119838" y="153510"/>
                  <a:pt x="119225" y="151744"/>
                  <a:pt x="118720" y="149905"/>
                </a:cubicBezTo>
                <a:cubicBezTo>
                  <a:pt x="118215" y="148067"/>
                  <a:pt x="117891" y="146228"/>
                  <a:pt x="117638" y="144425"/>
                </a:cubicBezTo>
                <a:lnTo>
                  <a:pt x="104047" y="137720"/>
                </a:lnTo>
                <a:cubicBezTo>
                  <a:pt x="99973" y="135701"/>
                  <a:pt x="97918" y="131086"/>
                  <a:pt x="99072" y="126724"/>
                </a:cubicBezTo>
                <a:lnTo>
                  <a:pt x="101595" y="117278"/>
                </a:lnTo>
                <a:cubicBezTo>
                  <a:pt x="102785" y="112916"/>
                  <a:pt x="106859" y="109959"/>
                  <a:pt x="111401" y="110248"/>
                </a:cubicBezTo>
                <a:lnTo>
                  <a:pt x="126507" y="111221"/>
                </a:lnTo>
                <a:cubicBezTo>
                  <a:pt x="128779" y="108301"/>
                  <a:pt x="131410" y="105597"/>
                  <a:pt x="134403" y="103290"/>
                </a:cubicBezTo>
                <a:lnTo>
                  <a:pt x="133429" y="88220"/>
                </a:lnTo>
                <a:cubicBezTo>
                  <a:pt x="133141" y="83677"/>
                  <a:pt x="136097" y="79567"/>
                  <a:pt x="140460" y="78414"/>
                </a:cubicBezTo>
                <a:lnTo>
                  <a:pt x="149905" y="75890"/>
                </a:lnTo>
                <a:close/>
                <a:moveTo>
                  <a:pt x="161658" y="122578"/>
                </a:moveTo>
                <a:cubicBezTo>
                  <a:pt x="152903" y="122588"/>
                  <a:pt x="145803" y="129704"/>
                  <a:pt x="145813" y="138459"/>
                </a:cubicBezTo>
                <a:cubicBezTo>
                  <a:pt x="145823" y="147214"/>
                  <a:pt x="152939" y="154314"/>
                  <a:pt x="161694" y="154304"/>
                </a:cubicBezTo>
                <a:cubicBezTo>
                  <a:pt x="170449" y="154294"/>
                  <a:pt x="177549" y="147178"/>
                  <a:pt x="177539" y="138423"/>
                </a:cubicBezTo>
                <a:cubicBezTo>
                  <a:pt x="177529" y="129668"/>
                  <a:pt x="170413" y="122568"/>
                  <a:pt x="161658" y="122578"/>
                </a:cubicBezTo>
                <a:close/>
                <a:moveTo>
                  <a:pt x="81081" y="-16404"/>
                </a:moveTo>
                <a:lnTo>
                  <a:pt x="90527" y="-13880"/>
                </a:lnTo>
                <a:cubicBezTo>
                  <a:pt x="94889" y="-12690"/>
                  <a:pt x="97846" y="-8580"/>
                  <a:pt x="97557" y="-4074"/>
                </a:cubicBezTo>
                <a:lnTo>
                  <a:pt x="96584" y="10996"/>
                </a:lnTo>
                <a:cubicBezTo>
                  <a:pt x="99576" y="13303"/>
                  <a:pt x="102208" y="15971"/>
                  <a:pt x="104479" y="18927"/>
                </a:cubicBezTo>
                <a:lnTo>
                  <a:pt x="119621" y="17954"/>
                </a:lnTo>
                <a:cubicBezTo>
                  <a:pt x="124128" y="17666"/>
                  <a:pt x="128238" y="20622"/>
                  <a:pt x="129428" y="24984"/>
                </a:cubicBezTo>
                <a:lnTo>
                  <a:pt x="131951" y="34430"/>
                </a:lnTo>
                <a:cubicBezTo>
                  <a:pt x="133105" y="38792"/>
                  <a:pt x="131050" y="43407"/>
                  <a:pt x="126976" y="45426"/>
                </a:cubicBezTo>
                <a:lnTo>
                  <a:pt x="113384" y="52132"/>
                </a:lnTo>
                <a:cubicBezTo>
                  <a:pt x="113132" y="53970"/>
                  <a:pt x="112771" y="55809"/>
                  <a:pt x="112303" y="57611"/>
                </a:cubicBezTo>
                <a:cubicBezTo>
                  <a:pt x="111834" y="59414"/>
                  <a:pt x="111185" y="61217"/>
                  <a:pt x="110500" y="62911"/>
                </a:cubicBezTo>
                <a:lnTo>
                  <a:pt x="118900" y="75529"/>
                </a:lnTo>
                <a:cubicBezTo>
                  <a:pt x="121424" y="79315"/>
                  <a:pt x="120919" y="84326"/>
                  <a:pt x="117711" y="87535"/>
                </a:cubicBezTo>
                <a:lnTo>
                  <a:pt x="110789" y="94457"/>
                </a:lnTo>
                <a:cubicBezTo>
                  <a:pt x="107580" y="97665"/>
                  <a:pt x="102569" y="98170"/>
                  <a:pt x="98783" y="95647"/>
                </a:cubicBezTo>
                <a:lnTo>
                  <a:pt x="86165" y="87246"/>
                </a:lnTo>
                <a:cubicBezTo>
                  <a:pt x="82740" y="88652"/>
                  <a:pt x="79099" y="89662"/>
                  <a:pt x="75385" y="90167"/>
                </a:cubicBezTo>
                <a:lnTo>
                  <a:pt x="68680" y="103722"/>
                </a:lnTo>
                <a:cubicBezTo>
                  <a:pt x="66661" y="107796"/>
                  <a:pt x="62046" y="109851"/>
                  <a:pt x="57684" y="108697"/>
                </a:cubicBezTo>
                <a:lnTo>
                  <a:pt x="48238" y="106174"/>
                </a:lnTo>
                <a:cubicBezTo>
                  <a:pt x="43840" y="104984"/>
                  <a:pt x="40919" y="100874"/>
                  <a:pt x="41208" y="96368"/>
                </a:cubicBezTo>
                <a:lnTo>
                  <a:pt x="42181" y="81262"/>
                </a:lnTo>
                <a:cubicBezTo>
                  <a:pt x="39189" y="78954"/>
                  <a:pt x="36557" y="76287"/>
                  <a:pt x="34286" y="73330"/>
                </a:cubicBezTo>
                <a:lnTo>
                  <a:pt x="19144" y="74304"/>
                </a:lnTo>
                <a:cubicBezTo>
                  <a:pt x="14637" y="74592"/>
                  <a:pt x="10527" y="71636"/>
                  <a:pt x="9338" y="67273"/>
                </a:cubicBezTo>
                <a:lnTo>
                  <a:pt x="6814" y="57828"/>
                </a:lnTo>
                <a:cubicBezTo>
                  <a:pt x="5660" y="53465"/>
                  <a:pt x="7715" y="48851"/>
                  <a:pt x="11789" y="46832"/>
                </a:cubicBezTo>
                <a:lnTo>
                  <a:pt x="25381" y="40126"/>
                </a:lnTo>
                <a:cubicBezTo>
                  <a:pt x="25633" y="38287"/>
                  <a:pt x="25994" y="36485"/>
                  <a:pt x="26462" y="34646"/>
                </a:cubicBezTo>
                <a:cubicBezTo>
                  <a:pt x="26967" y="32808"/>
                  <a:pt x="27544" y="31041"/>
                  <a:pt x="28265" y="29347"/>
                </a:cubicBezTo>
                <a:lnTo>
                  <a:pt x="19865" y="16764"/>
                </a:lnTo>
                <a:cubicBezTo>
                  <a:pt x="17341" y="12979"/>
                  <a:pt x="17846" y="7968"/>
                  <a:pt x="21055" y="4759"/>
                </a:cubicBezTo>
                <a:lnTo>
                  <a:pt x="27977" y="-2163"/>
                </a:lnTo>
                <a:cubicBezTo>
                  <a:pt x="31185" y="-5372"/>
                  <a:pt x="36196" y="-5877"/>
                  <a:pt x="39982" y="-3353"/>
                </a:cubicBezTo>
                <a:lnTo>
                  <a:pt x="52600" y="5047"/>
                </a:lnTo>
                <a:cubicBezTo>
                  <a:pt x="56025" y="3641"/>
                  <a:pt x="59666" y="2632"/>
                  <a:pt x="63380" y="2127"/>
                </a:cubicBezTo>
                <a:lnTo>
                  <a:pt x="70086" y="-11429"/>
                </a:lnTo>
                <a:cubicBezTo>
                  <a:pt x="72104" y="-15502"/>
                  <a:pt x="76683" y="-17557"/>
                  <a:pt x="81081" y="-16404"/>
                </a:cubicBezTo>
                <a:close/>
                <a:moveTo>
                  <a:pt x="69364" y="30284"/>
                </a:moveTo>
                <a:cubicBezTo>
                  <a:pt x="60609" y="30284"/>
                  <a:pt x="53502" y="37392"/>
                  <a:pt x="53502" y="46147"/>
                </a:cubicBezTo>
                <a:cubicBezTo>
                  <a:pt x="53502" y="54902"/>
                  <a:pt x="60609" y="62010"/>
                  <a:pt x="69364" y="62010"/>
                </a:cubicBezTo>
                <a:cubicBezTo>
                  <a:pt x="78120" y="62010"/>
                  <a:pt x="85227" y="54902"/>
                  <a:pt x="85227" y="46147"/>
                </a:cubicBezTo>
                <a:cubicBezTo>
                  <a:pt x="85227" y="37392"/>
                  <a:pt x="78120" y="30284"/>
                  <a:pt x="69364" y="3028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2903099" y="2665441"/>
            <a:ext cx="191048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12328" y="2997698"/>
            <a:ext cx="1892021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custom habitability metrics created and validated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32892" y="1964008"/>
            <a:ext cx="2122755" cy="1550534"/>
          </a:xfrm>
          <a:custGeom>
            <a:avLst/>
            <a:gdLst/>
            <a:ahLst/>
            <a:cxnLst/>
            <a:rect l="l" t="t" r="r" b="b"/>
            <a:pathLst>
              <a:path w="2122755" h="1550534">
                <a:moveTo>
                  <a:pt x="73836" y="0"/>
                </a:moveTo>
                <a:lnTo>
                  <a:pt x="2048919" y="0"/>
                </a:lnTo>
                <a:cubicBezTo>
                  <a:pt x="2089698" y="0"/>
                  <a:pt x="2122755" y="33058"/>
                  <a:pt x="2122755" y="73836"/>
                </a:cubicBezTo>
                <a:lnTo>
                  <a:pt x="2122755" y="1476698"/>
                </a:lnTo>
                <a:cubicBezTo>
                  <a:pt x="2122755" y="1517477"/>
                  <a:pt x="2089698" y="1550534"/>
                  <a:pt x="2048919" y="1550534"/>
                </a:cubicBezTo>
                <a:lnTo>
                  <a:pt x="73836" y="1550534"/>
                </a:lnTo>
                <a:cubicBezTo>
                  <a:pt x="33058" y="1550534"/>
                  <a:pt x="0" y="1517477"/>
                  <a:pt x="0" y="1476698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73918" y="2111678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110752" y="0"/>
                </a:moveTo>
                <a:lnTo>
                  <a:pt x="332257" y="0"/>
                </a:lnTo>
                <a:cubicBezTo>
                  <a:pt x="393424" y="0"/>
                  <a:pt x="443010" y="49586"/>
                  <a:pt x="443010" y="110752"/>
                </a:cubicBezTo>
                <a:lnTo>
                  <a:pt x="443010" y="332257"/>
                </a:lnTo>
                <a:cubicBezTo>
                  <a:pt x="443010" y="393424"/>
                  <a:pt x="393424" y="443010"/>
                  <a:pt x="332257" y="443010"/>
                </a:cubicBezTo>
                <a:lnTo>
                  <a:pt x="110752" y="443010"/>
                </a:lnTo>
                <a:cubicBezTo>
                  <a:pt x="49586" y="443010"/>
                  <a:pt x="0" y="393424"/>
                  <a:pt x="0" y="332257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03129" y="2240890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43263" y="20189"/>
                </a:moveTo>
                <a:cubicBezTo>
                  <a:pt x="43263" y="9049"/>
                  <a:pt x="52312" y="0"/>
                  <a:pt x="63452" y="0"/>
                </a:cubicBezTo>
                <a:lnTo>
                  <a:pt x="72104" y="0"/>
                </a:lnTo>
                <a:cubicBezTo>
                  <a:pt x="78486" y="0"/>
                  <a:pt x="83641" y="5155"/>
                  <a:pt x="83641" y="11537"/>
                </a:cubicBezTo>
                <a:lnTo>
                  <a:pt x="83641" y="173051"/>
                </a:lnTo>
                <a:cubicBezTo>
                  <a:pt x="83641" y="179432"/>
                  <a:pt x="78486" y="184587"/>
                  <a:pt x="72104" y="184587"/>
                </a:cubicBezTo>
                <a:lnTo>
                  <a:pt x="60568" y="184587"/>
                </a:lnTo>
                <a:cubicBezTo>
                  <a:pt x="49824" y="184587"/>
                  <a:pt x="40775" y="177233"/>
                  <a:pt x="38215" y="167282"/>
                </a:cubicBezTo>
                <a:cubicBezTo>
                  <a:pt x="37963" y="167282"/>
                  <a:pt x="37747" y="167282"/>
                  <a:pt x="37494" y="167282"/>
                </a:cubicBezTo>
                <a:cubicBezTo>
                  <a:pt x="21559" y="167282"/>
                  <a:pt x="8653" y="154376"/>
                  <a:pt x="8653" y="138441"/>
                </a:cubicBezTo>
                <a:cubicBezTo>
                  <a:pt x="8653" y="131951"/>
                  <a:pt x="10816" y="125967"/>
                  <a:pt x="14421" y="121136"/>
                </a:cubicBezTo>
                <a:cubicBezTo>
                  <a:pt x="7427" y="115872"/>
                  <a:pt x="2884" y="107508"/>
                  <a:pt x="2884" y="98062"/>
                </a:cubicBezTo>
                <a:cubicBezTo>
                  <a:pt x="2884" y="86922"/>
                  <a:pt x="9229" y="77224"/>
                  <a:pt x="18459" y="72429"/>
                </a:cubicBezTo>
                <a:cubicBezTo>
                  <a:pt x="15899" y="68103"/>
                  <a:pt x="14421" y="63055"/>
                  <a:pt x="14421" y="57684"/>
                </a:cubicBezTo>
                <a:cubicBezTo>
                  <a:pt x="14421" y="41748"/>
                  <a:pt x="27328" y="28842"/>
                  <a:pt x="43263" y="28842"/>
                </a:cubicBezTo>
                <a:lnTo>
                  <a:pt x="43263" y="20189"/>
                </a:lnTo>
                <a:close/>
                <a:moveTo>
                  <a:pt x="141325" y="20189"/>
                </a:moveTo>
                <a:lnTo>
                  <a:pt x="141325" y="28842"/>
                </a:lnTo>
                <a:cubicBezTo>
                  <a:pt x="157260" y="28842"/>
                  <a:pt x="170167" y="41748"/>
                  <a:pt x="170167" y="57684"/>
                </a:cubicBezTo>
                <a:cubicBezTo>
                  <a:pt x="170167" y="63091"/>
                  <a:pt x="168688" y="68139"/>
                  <a:pt x="166129" y="72429"/>
                </a:cubicBezTo>
                <a:cubicBezTo>
                  <a:pt x="175394" y="77224"/>
                  <a:pt x="181703" y="86886"/>
                  <a:pt x="181703" y="98062"/>
                </a:cubicBezTo>
                <a:cubicBezTo>
                  <a:pt x="181703" y="107508"/>
                  <a:pt x="177161" y="115872"/>
                  <a:pt x="170167" y="121136"/>
                </a:cubicBezTo>
                <a:cubicBezTo>
                  <a:pt x="173772" y="125967"/>
                  <a:pt x="175935" y="131951"/>
                  <a:pt x="175935" y="138441"/>
                </a:cubicBezTo>
                <a:cubicBezTo>
                  <a:pt x="175935" y="154376"/>
                  <a:pt x="163028" y="167282"/>
                  <a:pt x="147093" y="167282"/>
                </a:cubicBezTo>
                <a:cubicBezTo>
                  <a:pt x="146841" y="167282"/>
                  <a:pt x="146624" y="167282"/>
                  <a:pt x="146372" y="167282"/>
                </a:cubicBezTo>
                <a:cubicBezTo>
                  <a:pt x="143812" y="177233"/>
                  <a:pt x="134763" y="184587"/>
                  <a:pt x="124020" y="184587"/>
                </a:cubicBezTo>
                <a:lnTo>
                  <a:pt x="112483" y="184587"/>
                </a:lnTo>
                <a:cubicBezTo>
                  <a:pt x="106102" y="184587"/>
                  <a:pt x="100946" y="179432"/>
                  <a:pt x="100946" y="173051"/>
                </a:cubicBezTo>
                <a:lnTo>
                  <a:pt x="100946" y="11537"/>
                </a:lnTo>
                <a:cubicBezTo>
                  <a:pt x="100946" y="5155"/>
                  <a:pt x="106102" y="0"/>
                  <a:pt x="112483" y="0"/>
                </a:cubicBezTo>
                <a:lnTo>
                  <a:pt x="121136" y="0"/>
                </a:lnTo>
                <a:cubicBezTo>
                  <a:pt x="132276" y="0"/>
                  <a:pt x="141325" y="9049"/>
                  <a:pt x="141325" y="20189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139030" y="2665441"/>
            <a:ext cx="191048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Dev.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48259" y="2997698"/>
            <a:ext cx="1892021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algorithms compared, Random Forest selected as best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68707" y="1964008"/>
            <a:ext cx="2122755" cy="1550534"/>
          </a:xfrm>
          <a:custGeom>
            <a:avLst/>
            <a:gdLst/>
            <a:ahLst/>
            <a:cxnLst/>
            <a:rect l="l" t="t" r="r" b="b"/>
            <a:pathLst>
              <a:path w="2122755" h="1550534">
                <a:moveTo>
                  <a:pt x="73836" y="0"/>
                </a:moveTo>
                <a:lnTo>
                  <a:pt x="2048919" y="0"/>
                </a:lnTo>
                <a:cubicBezTo>
                  <a:pt x="2089698" y="0"/>
                  <a:pt x="2122755" y="33058"/>
                  <a:pt x="2122755" y="73836"/>
                </a:cubicBezTo>
                <a:lnTo>
                  <a:pt x="2122755" y="1476698"/>
                </a:lnTo>
                <a:cubicBezTo>
                  <a:pt x="2122755" y="1517477"/>
                  <a:pt x="2089698" y="1550534"/>
                  <a:pt x="2048919" y="1550534"/>
                </a:cubicBezTo>
                <a:lnTo>
                  <a:pt x="73836" y="1550534"/>
                </a:lnTo>
                <a:cubicBezTo>
                  <a:pt x="33058" y="1550534"/>
                  <a:pt x="0" y="1517477"/>
                  <a:pt x="0" y="1476698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09734" y="2111678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110752" y="0"/>
                </a:moveTo>
                <a:lnTo>
                  <a:pt x="332257" y="0"/>
                </a:lnTo>
                <a:cubicBezTo>
                  <a:pt x="393424" y="0"/>
                  <a:pt x="443010" y="49586"/>
                  <a:pt x="443010" y="110752"/>
                </a:cubicBezTo>
                <a:lnTo>
                  <a:pt x="443010" y="332257"/>
                </a:lnTo>
                <a:cubicBezTo>
                  <a:pt x="443010" y="393424"/>
                  <a:pt x="393424" y="443010"/>
                  <a:pt x="332257" y="443010"/>
                </a:cubicBezTo>
                <a:lnTo>
                  <a:pt x="110752" y="443010"/>
                </a:lnTo>
                <a:cubicBezTo>
                  <a:pt x="49586" y="443010"/>
                  <a:pt x="0" y="393424"/>
                  <a:pt x="0" y="332257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238945" y="2240890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23073" y="23073"/>
                </a:moveTo>
                <a:cubicBezTo>
                  <a:pt x="23073" y="16692"/>
                  <a:pt x="17918" y="11537"/>
                  <a:pt x="11537" y="11537"/>
                </a:cubicBezTo>
                <a:cubicBezTo>
                  <a:pt x="5155" y="11537"/>
                  <a:pt x="0" y="16692"/>
                  <a:pt x="0" y="23073"/>
                </a:cubicBezTo>
                <a:lnTo>
                  <a:pt x="0" y="144209"/>
                </a:lnTo>
                <a:cubicBezTo>
                  <a:pt x="0" y="160144"/>
                  <a:pt x="12907" y="173051"/>
                  <a:pt x="28842" y="173051"/>
                </a:cubicBezTo>
                <a:lnTo>
                  <a:pt x="173051" y="173051"/>
                </a:lnTo>
                <a:cubicBezTo>
                  <a:pt x="179432" y="173051"/>
                  <a:pt x="184587" y="167895"/>
                  <a:pt x="184587" y="161514"/>
                </a:cubicBezTo>
                <a:cubicBezTo>
                  <a:pt x="184587" y="155133"/>
                  <a:pt x="179432" y="149977"/>
                  <a:pt x="173051" y="149977"/>
                </a:cubicBezTo>
                <a:lnTo>
                  <a:pt x="28842" y="149977"/>
                </a:lnTo>
                <a:cubicBezTo>
                  <a:pt x="25669" y="149977"/>
                  <a:pt x="23073" y="147382"/>
                  <a:pt x="23073" y="144209"/>
                </a:cubicBezTo>
                <a:lnTo>
                  <a:pt x="23073" y="23073"/>
                </a:lnTo>
                <a:close/>
                <a:moveTo>
                  <a:pt x="169662" y="54295"/>
                </a:moveTo>
                <a:cubicBezTo>
                  <a:pt x="174168" y="49788"/>
                  <a:pt x="174168" y="42470"/>
                  <a:pt x="169662" y="37963"/>
                </a:cubicBezTo>
                <a:cubicBezTo>
                  <a:pt x="165155" y="33456"/>
                  <a:pt x="157837" y="33456"/>
                  <a:pt x="153330" y="37963"/>
                </a:cubicBezTo>
                <a:lnTo>
                  <a:pt x="115367" y="75962"/>
                </a:lnTo>
                <a:lnTo>
                  <a:pt x="94673" y="55304"/>
                </a:lnTo>
                <a:cubicBezTo>
                  <a:pt x="90167" y="50798"/>
                  <a:pt x="82848" y="50798"/>
                  <a:pt x="78342" y="55304"/>
                </a:cubicBezTo>
                <a:lnTo>
                  <a:pt x="43731" y="89914"/>
                </a:lnTo>
                <a:cubicBezTo>
                  <a:pt x="39225" y="94421"/>
                  <a:pt x="39225" y="101739"/>
                  <a:pt x="43731" y="106246"/>
                </a:cubicBezTo>
                <a:cubicBezTo>
                  <a:pt x="48238" y="110752"/>
                  <a:pt x="55556" y="110752"/>
                  <a:pt x="60063" y="106246"/>
                </a:cubicBezTo>
                <a:lnTo>
                  <a:pt x="86525" y="79784"/>
                </a:lnTo>
                <a:lnTo>
                  <a:pt x="107219" y="100478"/>
                </a:lnTo>
                <a:cubicBezTo>
                  <a:pt x="111726" y="104984"/>
                  <a:pt x="119044" y="104984"/>
                  <a:pt x="123551" y="100478"/>
                </a:cubicBezTo>
                <a:lnTo>
                  <a:pt x="169698" y="5433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74845" y="2665441"/>
            <a:ext cx="191048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84074" y="2997698"/>
            <a:ext cx="1892021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99.97% accuracy, 0.98 F1-score on test set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04638" y="1964008"/>
            <a:ext cx="2122755" cy="1550534"/>
          </a:xfrm>
          <a:custGeom>
            <a:avLst/>
            <a:gdLst/>
            <a:ahLst/>
            <a:cxnLst/>
            <a:rect l="l" t="t" r="r" b="b"/>
            <a:pathLst>
              <a:path w="2122755" h="1550534">
                <a:moveTo>
                  <a:pt x="73836" y="0"/>
                </a:moveTo>
                <a:lnTo>
                  <a:pt x="2048919" y="0"/>
                </a:lnTo>
                <a:cubicBezTo>
                  <a:pt x="2089698" y="0"/>
                  <a:pt x="2122755" y="33058"/>
                  <a:pt x="2122755" y="73836"/>
                </a:cubicBezTo>
                <a:lnTo>
                  <a:pt x="2122755" y="1476698"/>
                </a:lnTo>
                <a:cubicBezTo>
                  <a:pt x="2122755" y="1517477"/>
                  <a:pt x="2089698" y="1550534"/>
                  <a:pt x="2048919" y="1550534"/>
                </a:cubicBezTo>
                <a:lnTo>
                  <a:pt x="73836" y="1550534"/>
                </a:lnTo>
                <a:cubicBezTo>
                  <a:pt x="33058" y="1550534"/>
                  <a:pt x="0" y="1517477"/>
                  <a:pt x="0" y="1476698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345665" y="2111678"/>
            <a:ext cx="443010" cy="443010"/>
          </a:xfrm>
          <a:custGeom>
            <a:avLst/>
            <a:gdLst/>
            <a:ahLst/>
            <a:cxnLst/>
            <a:rect l="l" t="t" r="r" b="b"/>
            <a:pathLst>
              <a:path w="443010" h="443010">
                <a:moveTo>
                  <a:pt x="110752" y="0"/>
                </a:moveTo>
                <a:lnTo>
                  <a:pt x="332257" y="0"/>
                </a:lnTo>
                <a:cubicBezTo>
                  <a:pt x="393424" y="0"/>
                  <a:pt x="443010" y="49586"/>
                  <a:pt x="443010" y="110752"/>
                </a:cubicBezTo>
                <a:lnTo>
                  <a:pt x="443010" y="332257"/>
                </a:lnTo>
                <a:cubicBezTo>
                  <a:pt x="443010" y="393424"/>
                  <a:pt x="393424" y="443010"/>
                  <a:pt x="332257" y="443010"/>
                </a:cubicBezTo>
                <a:lnTo>
                  <a:pt x="110752" y="443010"/>
                </a:lnTo>
                <a:cubicBezTo>
                  <a:pt x="49586" y="443010"/>
                  <a:pt x="0" y="393424"/>
                  <a:pt x="0" y="332257"/>
                </a:cubicBezTo>
                <a:lnTo>
                  <a:pt x="0" y="110752"/>
                </a:lnTo>
                <a:cubicBezTo>
                  <a:pt x="0" y="49627"/>
                  <a:pt x="49627" y="0"/>
                  <a:pt x="11075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474876" y="2240890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46147" y="115367"/>
                </a:moveTo>
                <a:lnTo>
                  <a:pt x="8833" y="115367"/>
                </a:lnTo>
                <a:cubicBezTo>
                  <a:pt x="-144" y="115367"/>
                  <a:pt x="-5660" y="105597"/>
                  <a:pt x="-1046" y="97882"/>
                </a:cubicBezTo>
                <a:lnTo>
                  <a:pt x="18026" y="66084"/>
                </a:lnTo>
                <a:cubicBezTo>
                  <a:pt x="21163" y="60856"/>
                  <a:pt x="26787" y="57684"/>
                  <a:pt x="32880" y="57684"/>
                </a:cubicBezTo>
                <a:lnTo>
                  <a:pt x="67129" y="57684"/>
                </a:lnTo>
                <a:cubicBezTo>
                  <a:pt x="94565" y="11212"/>
                  <a:pt x="135484" y="8869"/>
                  <a:pt x="162848" y="12871"/>
                </a:cubicBezTo>
                <a:cubicBezTo>
                  <a:pt x="167463" y="13556"/>
                  <a:pt x="171068" y="17161"/>
                  <a:pt x="171717" y="21739"/>
                </a:cubicBezTo>
                <a:cubicBezTo>
                  <a:pt x="175719" y="49103"/>
                  <a:pt x="173375" y="90022"/>
                  <a:pt x="126904" y="117458"/>
                </a:cubicBezTo>
                <a:lnTo>
                  <a:pt x="126904" y="151708"/>
                </a:lnTo>
                <a:cubicBezTo>
                  <a:pt x="126904" y="157801"/>
                  <a:pt x="123731" y="163425"/>
                  <a:pt x="118504" y="166561"/>
                </a:cubicBezTo>
                <a:lnTo>
                  <a:pt x="86706" y="185633"/>
                </a:lnTo>
                <a:cubicBezTo>
                  <a:pt x="79026" y="190248"/>
                  <a:pt x="69220" y="184696"/>
                  <a:pt x="69220" y="175755"/>
                </a:cubicBezTo>
                <a:lnTo>
                  <a:pt x="69220" y="138441"/>
                </a:lnTo>
                <a:cubicBezTo>
                  <a:pt x="69220" y="125714"/>
                  <a:pt x="58873" y="115367"/>
                  <a:pt x="46147" y="115367"/>
                </a:cubicBezTo>
                <a:lnTo>
                  <a:pt x="46111" y="115367"/>
                </a:lnTo>
                <a:close/>
                <a:moveTo>
                  <a:pt x="144209" y="57684"/>
                </a:moveTo>
                <a:cubicBezTo>
                  <a:pt x="144209" y="48133"/>
                  <a:pt x="136455" y="40379"/>
                  <a:pt x="126904" y="40379"/>
                </a:cubicBezTo>
                <a:cubicBezTo>
                  <a:pt x="117353" y="40379"/>
                  <a:pt x="109599" y="48133"/>
                  <a:pt x="109599" y="57684"/>
                </a:cubicBezTo>
                <a:cubicBezTo>
                  <a:pt x="109599" y="67235"/>
                  <a:pt x="117353" y="74989"/>
                  <a:pt x="126904" y="74989"/>
                </a:cubicBezTo>
                <a:cubicBezTo>
                  <a:pt x="136455" y="74989"/>
                  <a:pt x="144209" y="67235"/>
                  <a:pt x="144209" y="57684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9610776" y="2665441"/>
            <a:ext cx="1910480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20006" y="2997698"/>
            <a:ext cx="1892021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Serialized models integrated with Flask API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2867" y="3857883"/>
            <a:ext cx="5628071" cy="2443938"/>
          </a:xfrm>
          <a:custGeom>
            <a:avLst/>
            <a:gdLst/>
            <a:ahLst/>
            <a:cxnLst/>
            <a:rect l="l" t="t" r="r" b="b"/>
            <a:pathLst>
              <a:path w="5628071" h="2443938">
                <a:moveTo>
                  <a:pt x="110759" y="0"/>
                </a:moveTo>
                <a:lnTo>
                  <a:pt x="5517312" y="0"/>
                </a:lnTo>
                <a:cubicBezTo>
                  <a:pt x="5578482" y="0"/>
                  <a:pt x="5628071" y="49589"/>
                  <a:pt x="5628071" y="110759"/>
                </a:cubicBezTo>
                <a:lnTo>
                  <a:pt x="5628071" y="2333178"/>
                </a:lnTo>
                <a:cubicBezTo>
                  <a:pt x="5628071" y="2394349"/>
                  <a:pt x="5578482" y="2443938"/>
                  <a:pt x="5517312" y="2443938"/>
                </a:cubicBezTo>
                <a:lnTo>
                  <a:pt x="110759" y="2443938"/>
                </a:lnTo>
                <a:cubicBezTo>
                  <a:pt x="49630" y="2443938"/>
                  <a:pt x="0" y="2394308"/>
                  <a:pt x="0" y="2333178"/>
                </a:cubicBezTo>
                <a:lnTo>
                  <a:pt x="0" y="110759"/>
                </a:lnTo>
                <a:cubicBezTo>
                  <a:pt x="0" y="49630"/>
                  <a:pt x="49630" y="0"/>
                  <a:pt x="110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4219" y="4083078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52023" y="0"/>
                </a:moveTo>
                <a:lnTo>
                  <a:pt x="132780" y="0"/>
                </a:lnTo>
                <a:cubicBezTo>
                  <a:pt x="142334" y="0"/>
                  <a:pt x="150121" y="7859"/>
                  <a:pt x="149761" y="17377"/>
                </a:cubicBezTo>
                <a:cubicBezTo>
                  <a:pt x="149689" y="19288"/>
                  <a:pt x="149617" y="21199"/>
                  <a:pt x="149509" y="23073"/>
                </a:cubicBezTo>
                <a:lnTo>
                  <a:pt x="167391" y="23073"/>
                </a:lnTo>
                <a:cubicBezTo>
                  <a:pt x="176800" y="23073"/>
                  <a:pt x="185092" y="30861"/>
                  <a:pt x="184371" y="41027"/>
                </a:cubicBezTo>
                <a:cubicBezTo>
                  <a:pt x="181667" y="78414"/>
                  <a:pt x="162560" y="98963"/>
                  <a:pt x="141829" y="109707"/>
                </a:cubicBezTo>
                <a:cubicBezTo>
                  <a:pt x="136133" y="112663"/>
                  <a:pt x="130329" y="114862"/>
                  <a:pt x="124813" y="116485"/>
                </a:cubicBezTo>
                <a:cubicBezTo>
                  <a:pt x="117530" y="126796"/>
                  <a:pt x="109959" y="132240"/>
                  <a:pt x="103939" y="135160"/>
                </a:cubicBezTo>
                <a:lnTo>
                  <a:pt x="103939" y="161514"/>
                </a:lnTo>
                <a:lnTo>
                  <a:pt x="127012" y="161514"/>
                </a:lnTo>
                <a:cubicBezTo>
                  <a:pt x="133393" y="161514"/>
                  <a:pt x="138549" y="166669"/>
                  <a:pt x="138549" y="173051"/>
                </a:cubicBezTo>
                <a:cubicBezTo>
                  <a:pt x="138549" y="179432"/>
                  <a:pt x="133393" y="184587"/>
                  <a:pt x="127012" y="184587"/>
                </a:cubicBezTo>
                <a:lnTo>
                  <a:pt x="57792" y="184587"/>
                </a:lnTo>
                <a:cubicBezTo>
                  <a:pt x="51410" y="184587"/>
                  <a:pt x="46255" y="179432"/>
                  <a:pt x="46255" y="173051"/>
                </a:cubicBezTo>
                <a:cubicBezTo>
                  <a:pt x="46255" y="166669"/>
                  <a:pt x="51410" y="161514"/>
                  <a:pt x="57792" y="161514"/>
                </a:cubicBezTo>
                <a:lnTo>
                  <a:pt x="80865" y="161514"/>
                </a:lnTo>
                <a:lnTo>
                  <a:pt x="80865" y="135160"/>
                </a:lnTo>
                <a:cubicBezTo>
                  <a:pt x="75097" y="132384"/>
                  <a:pt x="67922" y="127228"/>
                  <a:pt x="60928" y="117747"/>
                </a:cubicBezTo>
                <a:cubicBezTo>
                  <a:pt x="54295" y="116016"/>
                  <a:pt x="47084" y="113384"/>
                  <a:pt x="40054" y="109419"/>
                </a:cubicBezTo>
                <a:cubicBezTo>
                  <a:pt x="20550" y="98495"/>
                  <a:pt x="2956" y="77909"/>
                  <a:pt x="433" y="40955"/>
                </a:cubicBezTo>
                <a:cubicBezTo>
                  <a:pt x="-252" y="30825"/>
                  <a:pt x="8004" y="23037"/>
                  <a:pt x="17413" y="23037"/>
                </a:cubicBezTo>
                <a:lnTo>
                  <a:pt x="35295" y="23037"/>
                </a:lnTo>
                <a:cubicBezTo>
                  <a:pt x="35187" y="21163"/>
                  <a:pt x="35115" y="19288"/>
                  <a:pt x="35043" y="17341"/>
                </a:cubicBezTo>
                <a:cubicBezTo>
                  <a:pt x="34682" y="7787"/>
                  <a:pt x="42470" y="-36"/>
                  <a:pt x="52023" y="-36"/>
                </a:cubicBezTo>
                <a:close/>
                <a:moveTo>
                  <a:pt x="36593" y="40379"/>
                </a:moveTo>
                <a:lnTo>
                  <a:pt x="17702" y="40379"/>
                </a:lnTo>
                <a:cubicBezTo>
                  <a:pt x="19937" y="70915"/>
                  <a:pt x="33961" y="86201"/>
                  <a:pt x="48418" y="94313"/>
                </a:cubicBezTo>
                <a:cubicBezTo>
                  <a:pt x="43227" y="80865"/>
                  <a:pt x="38936" y="63308"/>
                  <a:pt x="36593" y="40379"/>
                </a:cubicBezTo>
                <a:close/>
                <a:moveTo>
                  <a:pt x="136998" y="92582"/>
                </a:moveTo>
                <a:cubicBezTo>
                  <a:pt x="151600" y="84002"/>
                  <a:pt x="164795" y="68752"/>
                  <a:pt x="167030" y="40379"/>
                </a:cubicBezTo>
                <a:lnTo>
                  <a:pt x="148175" y="40379"/>
                </a:lnTo>
                <a:cubicBezTo>
                  <a:pt x="145939" y="62334"/>
                  <a:pt x="141902" y="79387"/>
                  <a:pt x="136998" y="9258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91880" y="4046160"/>
            <a:ext cx="5113072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Model: Random Forest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1146" y="4452253"/>
            <a:ext cx="2565765" cy="775267"/>
          </a:xfrm>
          <a:custGeom>
            <a:avLst/>
            <a:gdLst/>
            <a:ahLst/>
            <a:cxnLst/>
            <a:rect l="l" t="t" r="r" b="b"/>
            <a:pathLst>
              <a:path w="2565765" h="775267">
                <a:moveTo>
                  <a:pt x="73836" y="0"/>
                </a:moveTo>
                <a:lnTo>
                  <a:pt x="2491929" y="0"/>
                </a:lnTo>
                <a:cubicBezTo>
                  <a:pt x="2532708" y="0"/>
                  <a:pt x="2565765" y="33058"/>
                  <a:pt x="2565765" y="73836"/>
                </a:cubicBezTo>
                <a:lnTo>
                  <a:pt x="2565765" y="701431"/>
                </a:lnTo>
                <a:cubicBezTo>
                  <a:pt x="2565765" y="742210"/>
                  <a:pt x="2532708" y="775267"/>
                  <a:pt x="2491929" y="775267"/>
                </a:cubicBezTo>
                <a:lnTo>
                  <a:pt x="73836" y="775267"/>
                </a:lnTo>
                <a:cubicBezTo>
                  <a:pt x="33058" y="775267"/>
                  <a:pt x="0" y="742210"/>
                  <a:pt x="0" y="701431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39595" y="4563005"/>
            <a:ext cx="240886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2678" y="4784510"/>
            <a:ext cx="2482701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99.97%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41471" y="4452253"/>
            <a:ext cx="2565765" cy="775267"/>
          </a:xfrm>
          <a:custGeom>
            <a:avLst/>
            <a:gdLst/>
            <a:ahLst/>
            <a:cxnLst/>
            <a:rect l="l" t="t" r="r" b="b"/>
            <a:pathLst>
              <a:path w="2565765" h="775267">
                <a:moveTo>
                  <a:pt x="73836" y="0"/>
                </a:moveTo>
                <a:lnTo>
                  <a:pt x="2491929" y="0"/>
                </a:lnTo>
                <a:cubicBezTo>
                  <a:pt x="2532708" y="0"/>
                  <a:pt x="2565765" y="33058"/>
                  <a:pt x="2565765" y="73836"/>
                </a:cubicBezTo>
                <a:lnTo>
                  <a:pt x="2565765" y="701431"/>
                </a:lnTo>
                <a:cubicBezTo>
                  <a:pt x="2565765" y="742210"/>
                  <a:pt x="2532708" y="775267"/>
                  <a:pt x="2491929" y="775267"/>
                </a:cubicBezTo>
                <a:lnTo>
                  <a:pt x="73836" y="775267"/>
                </a:lnTo>
                <a:cubicBezTo>
                  <a:pt x="33058" y="775267"/>
                  <a:pt x="0" y="742210"/>
                  <a:pt x="0" y="701431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319920" y="4563005"/>
            <a:ext cx="240886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283003" y="4784510"/>
            <a:ext cx="2482701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1146" y="5338272"/>
            <a:ext cx="2565765" cy="775267"/>
          </a:xfrm>
          <a:custGeom>
            <a:avLst/>
            <a:gdLst/>
            <a:ahLst/>
            <a:cxnLst/>
            <a:rect l="l" t="t" r="r" b="b"/>
            <a:pathLst>
              <a:path w="2565765" h="775267">
                <a:moveTo>
                  <a:pt x="73836" y="0"/>
                </a:moveTo>
                <a:lnTo>
                  <a:pt x="2491929" y="0"/>
                </a:lnTo>
                <a:cubicBezTo>
                  <a:pt x="2532708" y="0"/>
                  <a:pt x="2565765" y="33058"/>
                  <a:pt x="2565765" y="73836"/>
                </a:cubicBezTo>
                <a:lnTo>
                  <a:pt x="2565765" y="701431"/>
                </a:lnTo>
                <a:cubicBezTo>
                  <a:pt x="2565765" y="742210"/>
                  <a:pt x="2532708" y="775267"/>
                  <a:pt x="2491929" y="775267"/>
                </a:cubicBezTo>
                <a:lnTo>
                  <a:pt x="73836" y="775267"/>
                </a:lnTo>
                <a:cubicBezTo>
                  <a:pt x="33058" y="775267"/>
                  <a:pt x="0" y="742210"/>
                  <a:pt x="0" y="701431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39595" y="5449025"/>
            <a:ext cx="240886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2678" y="5670530"/>
            <a:ext cx="2482701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97%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41471" y="5338272"/>
            <a:ext cx="2565765" cy="775267"/>
          </a:xfrm>
          <a:custGeom>
            <a:avLst/>
            <a:gdLst/>
            <a:ahLst/>
            <a:cxnLst/>
            <a:rect l="l" t="t" r="r" b="b"/>
            <a:pathLst>
              <a:path w="2565765" h="775267">
                <a:moveTo>
                  <a:pt x="73836" y="0"/>
                </a:moveTo>
                <a:lnTo>
                  <a:pt x="2491929" y="0"/>
                </a:lnTo>
                <a:cubicBezTo>
                  <a:pt x="2532708" y="0"/>
                  <a:pt x="2565765" y="33058"/>
                  <a:pt x="2565765" y="73836"/>
                </a:cubicBezTo>
                <a:lnTo>
                  <a:pt x="2565765" y="701431"/>
                </a:lnTo>
                <a:cubicBezTo>
                  <a:pt x="2565765" y="742210"/>
                  <a:pt x="2532708" y="775267"/>
                  <a:pt x="2491929" y="775267"/>
                </a:cubicBezTo>
                <a:lnTo>
                  <a:pt x="73836" y="775267"/>
                </a:lnTo>
                <a:cubicBezTo>
                  <a:pt x="33058" y="775267"/>
                  <a:pt x="0" y="742210"/>
                  <a:pt x="0" y="701431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319920" y="5449025"/>
            <a:ext cx="240886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83003" y="5670530"/>
            <a:ext cx="2482701" cy="33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0.98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1409" y="3857883"/>
            <a:ext cx="5628071" cy="2443938"/>
          </a:xfrm>
          <a:custGeom>
            <a:avLst/>
            <a:gdLst/>
            <a:ahLst/>
            <a:cxnLst/>
            <a:rect l="l" t="t" r="r" b="b"/>
            <a:pathLst>
              <a:path w="5628071" h="2443938">
                <a:moveTo>
                  <a:pt x="110759" y="0"/>
                </a:moveTo>
                <a:lnTo>
                  <a:pt x="5517312" y="0"/>
                </a:lnTo>
                <a:cubicBezTo>
                  <a:pt x="5578482" y="0"/>
                  <a:pt x="5628071" y="49589"/>
                  <a:pt x="5628071" y="110759"/>
                </a:cubicBezTo>
                <a:lnTo>
                  <a:pt x="5628071" y="2333178"/>
                </a:lnTo>
                <a:cubicBezTo>
                  <a:pt x="5628071" y="2394349"/>
                  <a:pt x="5578482" y="2443938"/>
                  <a:pt x="5517312" y="2443938"/>
                </a:cubicBezTo>
                <a:lnTo>
                  <a:pt x="110759" y="2443938"/>
                </a:lnTo>
                <a:cubicBezTo>
                  <a:pt x="49630" y="2443938"/>
                  <a:pt x="0" y="2394308"/>
                  <a:pt x="0" y="2333178"/>
                </a:cubicBezTo>
                <a:lnTo>
                  <a:pt x="0" y="110759"/>
                </a:lnTo>
                <a:cubicBezTo>
                  <a:pt x="0" y="49630"/>
                  <a:pt x="49630" y="0"/>
                  <a:pt x="11075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2761" y="4083078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126868" y="100946"/>
                </a:moveTo>
                <a:lnTo>
                  <a:pt x="58044" y="100946"/>
                </a:lnTo>
                <a:cubicBezTo>
                  <a:pt x="59090" y="124200"/>
                  <a:pt x="64245" y="145615"/>
                  <a:pt x="71564" y="161298"/>
                </a:cubicBezTo>
                <a:cubicBezTo>
                  <a:pt x="75674" y="170130"/>
                  <a:pt x="80108" y="176368"/>
                  <a:pt x="84218" y="180189"/>
                </a:cubicBezTo>
                <a:cubicBezTo>
                  <a:pt x="88256" y="183975"/>
                  <a:pt x="91032" y="184587"/>
                  <a:pt x="92474" y="184587"/>
                </a:cubicBezTo>
                <a:cubicBezTo>
                  <a:pt x="93916" y="184587"/>
                  <a:pt x="96692" y="183975"/>
                  <a:pt x="100730" y="180189"/>
                </a:cubicBezTo>
                <a:cubicBezTo>
                  <a:pt x="104840" y="176368"/>
                  <a:pt x="109274" y="170094"/>
                  <a:pt x="113384" y="161298"/>
                </a:cubicBezTo>
                <a:cubicBezTo>
                  <a:pt x="120703" y="145615"/>
                  <a:pt x="125858" y="124200"/>
                  <a:pt x="126904" y="100946"/>
                </a:cubicBezTo>
                <a:close/>
                <a:moveTo>
                  <a:pt x="58008" y="83641"/>
                </a:moveTo>
                <a:lnTo>
                  <a:pt x="126832" y="83641"/>
                </a:lnTo>
                <a:cubicBezTo>
                  <a:pt x="125822" y="60387"/>
                  <a:pt x="120667" y="38972"/>
                  <a:pt x="113348" y="23290"/>
                </a:cubicBezTo>
                <a:cubicBezTo>
                  <a:pt x="109238" y="14493"/>
                  <a:pt x="104804" y="8220"/>
                  <a:pt x="100694" y="4398"/>
                </a:cubicBezTo>
                <a:cubicBezTo>
                  <a:pt x="96656" y="613"/>
                  <a:pt x="93880" y="0"/>
                  <a:pt x="92438" y="0"/>
                </a:cubicBezTo>
                <a:cubicBezTo>
                  <a:pt x="90996" y="0"/>
                  <a:pt x="88220" y="613"/>
                  <a:pt x="84182" y="4398"/>
                </a:cubicBezTo>
                <a:cubicBezTo>
                  <a:pt x="80072" y="8220"/>
                  <a:pt x="75638" y="14493"/>
                  <a:pt x="71528" y="23290"/>
                </a:cubicBezTo>
                <a:cubicBezTo>
                  <a:pt x="64209" y="38972"/>
                  <a:pt x="59054" y="60387"/>
                  <a:pt x="58008" y="83641"/>
                </a:cubicBezTo>
                <a:close/>
                <a:moveTo>
                  <a:pt x="40703" y="83641"/>
                </a:moveTo>
                <a:cubicBezTo>
                  <a:pt x="41965" y="52780"/>
                  <a:pt x="49932" y="24119"/>
                  <a:pt x="61577" y="5300"/>
                </a:cubicBezTo>
                <a:cubicBezTo>
                  <a:pt x="28373" y="17053"/>
                  <a:pt x="3930" y="47301"/>
                  <a:pt x="541" y="83641"/>
                </a:cubicBezTo>
                <a:lnTo>
                  <a:pt x="40703" y="83641"/>
                </a:lnTo>
                <a:close/>
                <a:moveTo>
                  <a:pt x="541" y="100946"/>
                </a:moveTo>
                <a:cubicBezTo>
                  <a:pt x="3930" y="137287"/>
                  <a:pt x="28373" y="167535"/>
                  <a:pt x="61577" y="179288"/>
                </a:cubicBezTo>
                <a:cubicBezTo>
                  <a:pt x="49932" y="160468"/>
                  <a:pt x="41965" y="131807"/>
                  <a:pt x="40703" y="100946"/>
                </a:cubicBezTo>
                <a:lnTo>
                  <a:pt x="541" y="100946"/>
                </a:lnTo>
                <a:close/>
                <a:moveTo>
                  <a:pt x="144173" y="100946"/>
                </a:moveTo>
                <a:cubicBezTo>
                  <a:pt x="142911" y="131807"/>
                  <a:pt x="134944" y="160468"/>
                  <a:pt x="123299" y="179288"/>
                </a:cubicBezTo>
                <a:cubicBezTo>
                  <a:pt x="156503" y="167499"/>
                  <a:pt x="180946" y="137287"/>
                  <a:pt x="184335" y="100946"/>
                </a:cubicBezTo>
                <a:lnTo>
                  <a:pt x="144173" y="100946"/>
                </a:lnTo>
                <a:close/>
                <a:moveTo>
                  <a:pt x="184335" y="83641"/>
                </a:moveTo>
                <a:cubicBezTo>
                  <a:pt x="180946" y="47301"/>
                  <a:pt x="156503" y="17053"/>
                  <a:pt x="123299" y="5300"/>
                </a:cubicBezTo>
                <a:cubicBezTo>
                  <a:pt x="134944" y="24119"/>
                  <a:pt x="142911" y="52780"/>
                  <a:pt x="144173" y="83641"/>
                </a:cubicBezTo>
                <a:lnTo>
                  <a:pt x="184335" y="8364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610422" y="4046160"/>
            <a:ext cx="5113072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 Application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9688" y="4452253"/>
            <a:ext cx="5251512" cy="849102"/>
          </a:xfrm>
          <a:custGeom>
            <a:avLst/>
            <a:gdLst/>
            <a:ahLst/>
            <a:cxnLst/>
            <a:rect l="l" t="t" r="r" b="b"/>
            <a:pathLst>
              <a:path w="5251512" h="849102">
                <a:moveTo>
                  <a:pt x="73838" y="0"/>
                </a:moveTo>
                <a:lnTo>
                  <a:pt x="5177675" y="0"/>
                </a:lnTo>
                <a:cubicBezTo>
                  <a:pt x="5218454" y="0"/>
                  <a:pt x="5251512" y="33058"/>
                  <a:pt x="5251512" y="73838"/>
                </a:cubicBezTo>
                <a:lnTo>
                  <a:pt x="5251512" y="775264"/>
                </a:lnTo>
                <a:cubicBezTo>
                  <a:pt x="5251512" y="816044"/>
                  <a:pt x="5218454" y="849102"/>
                  <a:pt x="5177675" y="849102"/>
                </a:cubicBezTo>
                <a:lnTo>
                  <a:pt x="73838" y="849102"/>
                </a:lnTo>
                <a:cubicBezTo>
                  <a:pt x="33058" y="849102"/>
                  <a:pt x="0" y="816044"/>
                  <a:pt x="0" y="775264"/>
                </a:cubicBezTo>
                <a:lnTo>
                  <a:pt x="0" y="73838"/>
                </a:lnTo>
                <a:cubicBezTo>
                  <a:pt x="0" y="33086"/>
                  <a:pt x="33086" y="0"/>
                  <a:pt x="73838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538894" y="4729134"/>
            <a:ext cx="207661" cy="184587"/>
          </a:xfrm>
          <a:custGeom>
            <a:avLst/>
            <a:gdLst/>
            <a:ahLst/>
            <a:cxnLst/>
            <a:rect l="l" t="t" r="r" b="b"/>
            <a:pathLst>
              <a:path w="207661" h="184587">
                <a:moveTo>
                  <a:pt x="151239" y="34610"/>
                </a:moveTo>
                <a:cubicBezTo>
                  <a:pt x="145254" y="34610"/>
                  <a:pt x="139450" y="36232"/>
                  <a:pt x="134367" y="39189"/>
                </a:cubicBezTo>
                <a:cubicBezTo>
                  <a:pt x="128670" y="33420"/>
                  <a:pt x="122037" y="28589"/>
                  <a:pt x="114718" y="24948"/>
                </a:cubicBezTo>
                <a:cubicBezTo>
                  <a:pt x="124885" y="16296"/>
                  <a:pt x="137828" y="11537"/>
                  <a:pt x="151239" y="11537"/>
                </a:cubicBezTo>
                <a:cubicBezTo>
                  <a:pt x="182388" y="11537"/>
                  <a:pt x="207661" y="36773"/>
                  <a:pt x="207661" y="67958"/>
                </a:cubicBezTo>
                <a:cubicBezTo>
                  <a:pt x="207661" y="82920"/>
                  <a:pt x="201712" y="97269"/>
                  <a:pt x="191149" y="107832"/>
                </a:cubicBezTo>
                <a:lnTo>
                  <a:pt x="165516" y="133465"/>
                </a:lnTo>
                <a:cubicBezTo>
                  <a:pt x="154952" y="144029"/>
                  <a:pt x="140604" y="149977"/>
                  <a:pt x="125642" y="149977"/>
                </a:cubicBezTo>
                <a:cubicBezTo>
                  <a:pt x="94493" y="149977"/>
                  <a:pt x="69220" y="124741"/>
                  <a:pt x="69220" y="93556"/>
                </a:cubicBezTo>
                <a:cubicBezTo>
                  <a:pt x="69220" y="93015"/>
                  <a:pt x="69220" y="92474"/>
                  <a:pt x="69256" y="91933"/>
                </a:cubicBezTo>
                <a:cubicBezTo>
                  <a:pt x="69437" y="85552"/>
                  <a:pt x="74736" y="80541"/>
                  <a:pt x="81118" y="80721"/>
                </a:cubicBezTo>
                <a:cubicBezTo>
                  <a:pt x="87499" y="80901"/>
                  <a:pt x="92510" y="86201"/>
                  <a:pt x="92330" y="92582"/>
                </a:cubicBezTo>
                <a:cubicBezTo>
                  <a:pt x="92330" y="92907"/>
                  <a:pt x="92330" y="93231"/>
                  <a:pt x="92330" y="93519"/>
                </a:cubicBezTo>
                <a:cubicBezTo>
                  <a:pt x="92330" y="111942"/>
                  <a:pt x="107255" y="126868"/>
                  <a:pt x="125678" y="126868"/>
                </a:cubicBezTo>
                <a:cubicBezTo>
                  <a:pt x="134511" y="126868"/>
                  <a:pt x="142983" y="123371"/>
                  <a:pt x="149256" y="117098"/>
                </a:cubicBezTo>
                <a:lnTo>
                  <a:pt x="174889" y="91465"/>
                </a:lnTo>
                <a:cubicBezTo>
                  <a:pt x="181126" y="85227"/>
                  <a:pt x="184660" y="76719"/>
                  <a:pt x="184660" y="67886"/>
                </a:cubicBezTo>
                <a:cubicBezTo>
                  <a:pt x="184660" y="49464"/>
                  <a:pt x="169734" y="34538"/>
                  <a:pt x="151311" y="34538"/>
                </a:cubicBezTo>
                <a:close/>
                <a:moveTo>
                  <a:pt x="99216" y="62479"/>
                </a:moveTo>
                <a:cubicBezTo>
                  <a:pt x="98531" y="62190"/>
                  <a:pt x="97846" y="61794"/>
                  <a:pt x="97233" y="61361"/>
                </a:cubicBezTo>
                <a:cubicBezTo>
                  <a:pt x="92690" y="59018"/>
                  <a:pt x="87499" y="57684"/>
                  <a:pt x="82055" y="57684"/>
                </a:cubicBezTo>
                <a:cubicBezTo>
                  <a:pt x="73222" y="57684"/>
                  <a:pt x="64750" y="61181"/>
                  <a:pt x="58477" y="67454"/>
                </a:cubicBezTo>
                <a:lnTo>
                  <a:pt x="32844" y="93087"/>
                </a:lnTo>
                <a:cubicBezTo>
                  <a:pt x="26607" y="99324"/>
                  <a:pt x="23073" y="107832"/>
                  <a:pt x="23073" y="116665"/>
                </a:cubicBezTo>
                <a:cubicBezTo>
                  <a:pt x="23073" y="135088"/>
                  <a:pt x="37999" y="150013"/>
                  <a:pt x="56422" y="150013"/>
                </a:cubicBezTo>
                <a:cubicBezTo>
                  <a:pt x="62370" y="150013"/>
                  <a:pt x="68175" y="148427"/>
                  <a:pt x="73258" y="145471"/>
                </a:cubicBezTo>
                <a:cubicBezTo>
                  <a:pt x="78954" y="151239"/>
                  <a:pt x="85588" y="156070"/>
                  <a:pt x="92943" y="159711"/>
                </a:cubicBezTo>
                <a:cubicBezTo>
                  <a:pt x="82776" y="168328"/>
                  <a:pt x="69869" y="173123"/>
                  <a:pt x="56422" y="173123"/>
                </a:cubicBezTo>
                <a:cubicBezTo>
                  <a:pt x="25273" y="173123"/>
                  <a:pt x="0" y="147886"/>
                  <a:pt x="0" y="116701"/>
                </a:cubicBezTo>
                <a:cubicBezTo>
                  <a:pt x="0" y="101739"/>
                  <a:pt x="5949" y="87391"/>
                  <a:pt x="16512" y="76827"/>
                </a:cubicBezTo>
                <a:lnTo>
                  <a:pt x="42145" y="51194"/>
                </a:lnTo>
                <a:cubicBezTo>
                  <a:pt x="52708" y="40631"/>
                  <a:pt x="67057" y="34682"/>
                  <a:pt x="82019" y="34682"/>
                </a:cubicBezTo>
                <a:cubicBezTo>
                  <a:pt x="113240" y="34682"/>
                  <a:pt x="138441" y="60135"/>
                  <a:pt x="138441" y="91248"/>
                </a:cubicBezTo>
                <a:cubicBezTo>
                  <a:pt x="138441" y="91717"/>
                  <a:pt x="138441" y="92186"/>
                  <a:pt x="138441" y="92654"/>
                </a:cubicBezTo>
                <a:cubicBezTo>
                  <a:pt x="138296" y="99035"/>
                  <a:pt x="132997" y="104047"/>
                  <a:pt x="126615" y="103903"/>
                </a:cubicBezTo>
                <a:cubicBezTo>
                  <a:pt x="120234" y="103758"/>
                  <a:pt x="115223" y="98459"/>
                  <a:pt x="115367" y="92077"/>
                </a:cubicBezTo>
                <a:cubicBezTo>
                  <a:pt x="115367" y="91789"/>
                  <a:pt x="115367" y="91537"/>
                  <a:pt x="115367" y="91248"/>
                </a:cubicBezTo>
                <a:cubicBezTo>
                  <a:pt x="115367" y="79099"/>
                  <a:pt x="108878" y="68427"/>
                  <a:pt x="99216" y="6255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6868844" y="4599922"/>
            <a:ext cx="2307343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URL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68844" y="4784510"/>
            <a:ext cx="2325802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exohabit-ai-3ni1.onrender.com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9688" y="5449025"/>
            <a:ext cx="1292112" cy="332257"/>
          </a:xfrm>
          <a:custGeom>
            <a:avLst/>
            <a:gdLst/>
            <a:ahLst/>
            <a:cxnLst/>
            <a:rect l="l" t="t" r="r" b="b"/>
            <a:pathLst>
              <a:path w="1292112" h="332257">
                <a:moveTo>
                  <a:pt x="73834" y="0"/>
                </a:moveTo>
                <a:lnTo>
                  <a:pt x="1218278" y="0"/>
                </a:lnTo>
                <a:cubicBezTo>
                  <a:pt x="1259055" y="0"/>
                  <a:pt x="1292112" y="33057"/>
                  <a:pt x="1292112" y="73834"/>
                </a:cubicBezTo>
                <a:lnTo>
                  <a:pt x="1292112" y="258423"/>
                </a:lnTo>
                <a:cubicBezTo>
                  <a:pt x="1292112" y="299201"/>
                  <a:pt x="1259055" y="332257"/>
                  <a:pt x="1218278" y="332257"/>
                </a:cubicBezTo>
                <a:lnTo>
                  <a:pt x="73834" y="332257"/>
                </a:lnTo>
                <a:cubicBezTo>
                  <a:pt x="33084" y="332257"/>
                  <a:pt x="0" y="299173"/>
                  <a:pt x="0" y="258423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527358" y="5569006"/>
            <a:ext cx="92294" cy="92294"/>
          </a:xfrm>
          <a:custGeom>
            <a:avLst/>
            <a:gdLst/>
            <a:ahLst/>
            <a:cxnLst/>
            <a:rect l="l" t="t" r="r" b="b"/>
            <a:pathLst>
              <a:path w="92294" h="92294">
                <a:moveTo>
                  <a:pt x="46147" y="0"/>
                </a:moveTo>
                <a:lnTo>
                  <a:pt x="46147" y="0"/>
                </a:lnTo>
                <a:cubicBezTo>
                  <a:pt x="71616" y="0"/>
                  <a:pt x="92294" y="20678"/>
                  <a:pt x="92294" y="46147"/>
                </a:cubicBezTo>
                <a:lnTo>
                  <a:pt x="92294" y="46147"/>
                </a:lnTo>
                <a:cubicBezTo>
                  <a:pt x="92294" y="71616"/>
                  <a:pt x="71616" y="92294"/>
                  <a:pt x="46147" y="92294"/>
                </a:cubicBezTo>
                <a:lnTo>
                  <a:pt x="46147" y="92294"/>
                </a:lnTo>
                <a:cubicBezTo>
                  <a:pt x="20678" y="92294"/>
                  <a:pt x="0" y="71616"/>
                  <a:pt x="0" y="46147"/>
                </a:cubicBezTo>
                <a:lnTo>
                  <a:pt x="0" y="46147"/>
                </a:lnTo>
                <a:cubicBezTo>
                  <a:pt x="0" y="20678"/>
                  <a:pt x="20678" y="0"/>
                  <a:pt x="46147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693486" y="5522860"/>
            <a:ext cx="89524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&amp; Running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785206" y="5449025"/>
            <a:ext cx="1292112" cy="332257"/>
          </a:xfrm>
          <a:custGeom>
            <a:avLst/>
            <a:gdLst/>
            <a:ahLst/>
            <a:cxnLst/>
            <a:rect l="l" t="t" r="r" b="b"/>
            <a:pathLst>
              <a:path w="1292112" h="332257">
                <a:moveTo>
                  <a:pt x="73834" y="0"/>
                </a:moveTo>
                <a:lnTo>
                  <a:pt x="1218278" y="0"/>
                </a:lnTo>
                <a:cubicBezTo>
                  <a:pt x="1259055" y="0"/>
                  <a:pt x="1292112" y="33057"/>
                  <a:pt x="1292112" y="73834"/>
                </a:cubicBezTo>
                <a:lnTo>
                  <a:pt x="1292112" y="258423"/>
                </a:lnTo>
                <a:cubicBezTo>
                  <a:pt x="1292112" y="299201"/>
                  <a:pt x="1259055" y="332257"/>
                  <a:pt x="1218278" y="332257"/>
                </a:cubicBezTo>
                <a:lnTo>
                  <a:pt x="73834" y="332257"/>
                </a:lnTo>
                <a:cubicBezTo>
                  <a:pt x="33084" y="332257"/>
                  <a:pt x="0" y="299173"/>
                  <a:pt x="0" y="258423"/>
                </a:cubicBezTo>
                <a:lnTo>
                  <a:pt x="0" y="73834"/>
                </a:lnTo>
                <a:cubicBezTo>
                  <a:pt x="0" y="33084"/>
                  <a:pt x="33084" y="0"/>
                  <a:pt x="7383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932876" y="5541318"/>
            <a:ext cx="184587" cy="147670"/>
          </a:xfrm>
          <a:custGeom>
            <a:avLst/>
            <a:gdLst/>
            <a:ahLst/>
            <a:cxnLst/>
            <a:rect l="l" t="t" r="r" b="b"/>
            <a:pathLst>
              <a:path w="184587" h="147670">
                <a:moveTo>
                  <a:pt x="92294" y="4615"/>
                </a:moveTo>
                <a:cubicBezTo>
                  <a:pt x="108849" y="4615"/>
                  <a:pt x="122289" y="18055"/>
                  <a:pt x="122289" y="34610"/>
                </a:cubicBezTo>
                <a:cubicBezTo>
                  <a:pt x="122289" y="51165"/>
                  <a:pt x="108849" y="64606"/>
                  <a:pt x="92294" y="64606"/>
                </a:cubicBezTo>
                <a:cubicBezTo>
                  <a:pt x="75739" y="64606"/>
                  <a:pt x="62298" y="51165"/>
                  <a:pt x="62298" y="34610"/>
                </a:cubicBezTo>
                <a:cubicBezTo>
                  <a:pt x="62298" y="18055"/>
                  <a:pt x="75739" y="4615"/>
                  <a:pt x="92294" y="4615"/>
                </a:cubicBezTo>
                <a:close/>
                <a:moveTo>
                  <a:pt x="27688" y="25381"/>
                </a:moveTo>
                <a:cubicBezTo>
                  <a:pt x="39149" y="25381"/>
                  <a:pt x="48454" y="34686"/>
                  <a:pt x="48454" y="46147"/>
                </a:cubicBezTo>
                <a:cubicBezTo>
                  <a:pt x="48454" y="57608"/>
                  <a:pt x="39149" y="66913"/>
                  <a:pt x="27688" y="66913"/>
                </a:cubicBezTo>
                <a:cubicBezTo>
                  <a:pt x="16227" y="66913"/>
                  <a:pt x="6922" y="57608"/>
                  <a:pt x="6922" y="46147"/>
                </a:cubicBezTo>
                <a:cubicBezTo>
                  <a:pt x="6922" y="34686"/>
                  <a:pt x="16227" y="25381"/>
                  <a:pt x="27688" y="25381"/>
                </a:cubicBezTo>
                <a:close/>
                <a:moveTo>
                  <a:pt x="0" y="119982"/>
                </a:moveTo>
                <a:cubicBezTo>
                  <a:pt x="0" y="99591"/>
                  <a:pt x="16526" y="83064"/>
                  <a:pt x="36917" y="83064"/>
                </a:cubicBezTo>
                <a:cubicBezTo>
                  <a:pt x="40609" y="83064"/>
                  <a:pt x="44186" y="83612"/>
                  <a:pt x="47560" y="84622"/>
                </a:cubicBezTo>
                <a:cubicBezTo>
                  <a:pt x="38071" y="95236"/>
                  <a:pt x="32303" y="109253"/>
                  <a:pt x="32303" y="124597"/>
                </a:cubicBezTo>
                <a:lnTo>
                  <a:pt x="32303" y="129211"/>
                </a:lnTo>
                <a:cubicBezTo>
                  <a:pt x="32303" y="132499"/>
                  <a:pt x="32995" y="135614"/>
                  <a:pt x="34235" y="138441"/>
                </a:cubicBezTo>
                <a:lnTo>
                  <a:pt x="9229" y="138441"/>
                </a:lnTo>
                <a:cubicBezTo>
                  <a:pt x="4124" y="138441"/>
                  <a:pt x="0" y="134316"/>
                  <a:pt x="0" y="129211"/>
                </a:cubicBezTo>
                <a:lnTo>
                  <a:pt x="0" y="119982"/>
                </a:lnTo>
                <a:close/>
                <a:moveTo>
                  <a:pt x="150352" y="138441"/>
                </a:moveTo>
                <a:cubicBezTo>
                  <a:pt x="151592" y="135614"/>
                  <a:pt x="152285" y="132499"/>
                  <a:pt x="152285" y="129211"/>
                </a:cubicBezTo>
                <a:lnTo>
                  <a:pt x="152285" y="124597"/>
                </a:lnTo>
                <a:cubicBezTo>
                  <a:pt x="152285" y="109253"/>
                  <a:pt x="146516" y="95236"/>
                  <a:pt x="137027" y="84622"/>
                </a:cubicBezTo>
                <a:cubicBezTo>
                  <a:pt x="140402" y="83612"/>
                  <a:pt x="143978" y="83064"/>
                  <a:pt x="147670" y="83064"/>
                </a:cubicBezTo>
                <a:cubicBezTo>
                  <a:pt x="168061" y="83064"/>
                  <a:pt x="184587" y="99591"/>
                  <a:pt x="184587" y="119982"/>
                </a:cubicBezTo>
                <a:lnTo>
                  <a:pt x="184587" y="129211"/>
                </a:lnTo>
                <a:cubicBezTo>
                  <a:pt x="184587" y="134316"/>
                  <a:pt x="180463" y="138441"/>
                  <a:pt x="175358" y="138441"/>
                </a:cubicBezTo>
                <a:lnTo>
                  <a:pt x="150352" y="138441"/>
                </a:lnTo>
                <a:close/>
                <a:moveTo>
                  <a:pt x="136133" y="46147"/>
                </a:moveTo>
                <a:cubicBezTo>
                  <a:pt x="136133" y="34686"/>
                  <a:pt x="145438" y="25381"/>
                  <a:pt x="156899" y="25381"/>
                </a:cubicBezTo>
                <a:cubicBezTo>
                  <a:pt x="168360" y="25381"/>
                  <a:pt x="177665" y="34686"/>
                  <a:pt x="177665" y="46147"/>
                </a:cubicBezTo>
                <a:cubicBezTo>
                  <a:pt x="177665" y="57608"/>
                  <a:pt x="168360" y="66913"/>
                  <a:pt x="156899" y="66913"/>
                </a:cubicBezTo>
                <a:cubicBezTo>
                  <a:pt x="145438" y="66913"/>
                  <a:pt x="136133" y="57608"/>
                  <a:pt x="136133" y="46147"/>
                </a:cubicBezTo>
                <a:close/>
                <a:moveTo>
                  <a:pt x="46147" y="124597"/>
                </a:moveTo>
                <a:cubicBezTo>
                  <a:pt x="46147" y="99100"/>
                  <a:pt x="66798" y="78450"/>
                  <a:pt x="92294" y="78450"/>
                </a:cubicBezTo>
                <a:cubicBezTo>
                  <a:pt x="117790" y="78450"/>
                  <a:pt x="138441" y="99100"/>
                  <a:pt x="138441" y="124597"/>
                </a:cubicBezTo>
                <a:lnTo>
                  <a:pt x="138441" y="129211"/>
                </a:lnTo>
                <a:cubicBezTo>
                  <a:pt x="138441" y="134316"/>
                  <a:pt x="134316" y="138441"/>
                  <a:pt x="129211" y="138441"/>
                </a:cubicBezTo>
                <a:lnTo>
                  <a:pt x="55376" y="138441"/>
                </a:lnTo>
                <a:cubicBezTo>
                  <a:pt x="50271" y="138441"/>
                  <a:pt x="46147" y="134316"/>
                  <a:pt x="46147" y="129211"/>
                </a:cubicBezTo>
                <a:lnTo>
                  <a:pt x="46147" y="12459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8191298" y="5522860"/>
            <a:ext cx="802955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Access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0688" y="4127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-7937"/>
                </a:moveTo>
                <a:cubicBezTo>
                  <a:pt x="36140" y="-7937"/>
                  <a:pt x="39688" y="-4390"/>
                  <a:pt x="39688" y="0"/>
                </a:cubicBezTo>
                <a:lnTo>
                  <a:pt x="39688" y="23812"/>
                </a:lnTo>
                <a:lnTo>
                  <a:pt x="71438" y="23812"/>
                </a:lnTo>
                <a:lnTo>
                  <a:pt x="71438" y="0"/>
                </a:lnTo>
                <a:cubicBezTo>
                  <a:pt x="71438" y="-4390"/>
                  <a:pt x="74985" y="-7937"/>
                  <a:pt x="79375" y="-7937"/>
                </a:cubicBezTo>
                <a:cubicBezTo>
                  <a:pt x="83765" y="-7937"/>
                  <a:pt x="87313" y="-4390"/>
                  <a:pt x="87313" y="0"/>
                </a:cubicBezTo>
                <a:lnTo>
                  <a:pt x="87313" y="23812"/>
                </a:ln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cubicBezTo>
                  <a:pt x="111125" y="36140"/>
                  <a:pt x="107578" y="39688"/>
                  <a:pt x="103188" y="39688"/>
                </a:cubicBezTo>
                <a:lnTo>
                  <a:pt x="103188" y="55563"/>
                </a:lnTo>
                <a:cubicBezTo>
                  <a:pt x="103188" y="79152"/>
                  <a:pt x="86023" y="98747"/>
                  <a:pt x="63500" y="102518"/>
                </a:cubicBezTo>
                <a:lnTo>
                  <a:pt x="63500" y="119063"/>
                </a:lnTo>
                <a:cubicBezTo>
                  <a:pt x="63500" y="123453"/>
                  <a:pt x="59953" y="127000"/>
                  <a:pt x="55563" y="127000"/>
                </a:cubicBezTo>
                <a:cubicBezTo>
                  <a:pt x="51172" y="127000"/>
                  <a:pt x="47625" y="123453"/>
                  <a:pt x="47625" y="119063"/>
                </a:cubicBezTo>
                <a:lnTo>
                  <a:pt x="47625" y="102518"/>
                </a:lnTo>
                <a:cubicBezTo>
                  <a:pt x="25102" y="98747"/>
                  <a:pt x="7938" y="79152"/>
                  <a:pt x="7938" y="55563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lnTo>
                  <a:pt x="23812" y="0"/>
                </a:lnTo>
                <a:cubicBezTo>
                  <a:pt x="23812" y="-4390"/>
                  <a:pt x="27360" y="-7937"/>
                  <a:pt x="31750" y="-79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396875"/>
            <a:ext cx="23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98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 Endpoints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177925"/>
            <a:ext cx="11547475" cy="3800475"/>
          </a:xfrm>
          <a:custGeom>
            <a:avLst/>
            <a:gdLst/>
            <a:ahLst/>
            <a:cxnLst/>
            <a:rect l="l" t="t" r="r" b="b"/>
            <a:pathLst>
              <a:path w="11547475" h="3800475">
                <a:moveTo>
                  <a:pt x="95240" y="0"/>
                </a:moveTo>
                <a:lnTo>
                  <a:pt x="11452235" y="0"/>
                </a:lnTo>
                <a:cubicBezTo>
                  <a:pt x="11504835" y="0"/>
                  <a:pt x="11547475" y="42640"/>
                  <a:pt x="11547475" y="95240"/>
                </a:cubicBezTo>
                <a:lnTo>
                  <a:pt x="11547475" y="3705235"/>
                </a:lnTo>
                <a:cubicBezTo>
                  <a:pt x="11547475" y="3757835"/>
                  <a:pt x="11504835" y="3800475"/>
                  <a:pt x="11452235" y="3800475"/>
                </a:cubicBezTo>
                <a:lnTo>
                  <a:pt x="95240" y="3800475"/>
                </a:lnTo>
                <a:cubicBezTo>
                  <a:pt x="42640" y="3800475"/>
                  <a:pt x="0" y="3757835"/>
                  <a:pt x="0" y="3705235"/>
                </a:cubicBezTo>
                <a:lnTo>
                  <a:pt x="0" y="95240"/>
                </a:lnTo>
                <a:cubicBezTo>
                  <a:pt x="0" y="42676"/>
                  <a:pt x="42676" y="0"/>
                  <a:pt x="9524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600" y="1339848"/>
            <a:ext cx="1130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Endpoints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689098"/>
            <a:ext cx="11223625" cy="539750"/>
          </a:xfrm>
          <a:custGeom>
            <a:avLst/>
            <a:gdLst/>
            <a:ahLst/>
            <a:cxnLst/>
            <a:rect l="l" t="t" r="r" b="b"/>
            <a:pathLst>
              <a:path w="11223625" h="539750">
                <a:moveTo>
                  <a:pt x="63502" y="0"/>
                </a:moveTo>
                <a:lnTo>
                  <a:pt x="11160123" y="0"/>
                </a:lnTo>
                <a:cubicBezTo>
                  <a:pt x="11195194" y="0"/>
                  <a:pt x="11223625" y="28431"/>
                  <a:pt x="11223625" y="63502"/>
                </a:cubicBezTo>
                <a:lnTo>
                  <a:pt x="11223625" y="476248"/>
                </a:lnTo>
                <a:cubicBezTo>
                  <a:pt x="11223625" y="511319"/>
                  <a:pt x="11195194" y="539750"/>
                  <a:pt x="1116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816098"/>
            <a:ext cx="381000" cy="222250"/>
          </a:xfrm>
          <a:custGeom>
            <a:avLst/>
            <a:gdLst/>
            <a:ahLst/>
            <a:cxnLst/>
            <a:rect l="l" t="t" r="r" b="b"/>
            <a:pathLst>
              <a:path w="381000" h="222250">
                <a:moveTo>
                  <a:pt x="63499" y="0"/>
                </a:moveTo>
                <a:lnTo>
                  <a:pt x="317501" y="0"/>
                </a:lnTo>
                <a:cubicBezTo>
                  <a:pt x="352571" y="0"/>
                  <a:pt x="381000" y="28429"/>
                  <a:pt x="381000" y="63499"/>
                </a:cubicBezTo>
                <a:lnTo>
                  <a:pt x="381000" y="158751"/>
                </a:lnTo>
                <a:cubicBezTo>
                  <a:pt x="381000" y="193821"/>
                  <a:pt x="352571" y="222250"/>
                  <a:pt x="317501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1816098"/>
            <a:ext cx="436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7338" y="1831973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22620" y="1847848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information and status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2600" y="2324098"/>
            <a:ext cx="11223625" cy="539750"/>
          </a:xfrm>
          <a:custGeom>
            <a:avLst/>
            <a:gdLst/>
            <a:ahLst/>
            <a:cxnLst/>
            <a:rect l="l" t="t" r="r" b="b"/>
            <a:pathLst>
              <a:path w="11223625" h="539750">
                <a:moveTo>
                  <a:pt x="63502" y="0"/>
                </a:moveTo>
                <a:lnTo>
                  <a:pt x="11160123" y="0"/>
                </a:lnTo>
                <a:cubicBezTo>
                  <a:pt x="11195194" y="0"/>
                  <a:pt x="11223625" y="28431"/>
                  <a:pt x="11223625" y="63502"/>
                </a:cubicBezTo>
                <a:lnTo>
                  <a:pt x="11223625" y="476248"/>
                </a:lnTo>
                <a:cubicBezTo>
                  <a:pt x="11223625" y="511319"/>
                  <a:pt x="11195194" y="539750"/>
                  <a:pt x="1116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2451098"/>
            <a:ext cx="381000" cy="222250"/>
          </a:xfrm>
          <a:custGeom>
            <a:avLst/>
            <a:gdLst/>
            <a:ahLst/>
            <a:cxnLst/>
            <a:rect l="l" t="t" r="r" b="b"/>
            <a:pathLst>
              <a:path w="381000" h="222250">
                <a:moveTo>
                  <a:pt x="63499" y="0"/>
                </a:moveTo>
                <a:lnTo>
                  <a:pt x="317501" y="0"/>
                </a:lnTo>
                <a:cubicBezTo>
                  <a:pt x="352571" y="0"/>
                  <a:pt x="381000" y="28429"/>
                  <a:pt x="381000" y="63499"/>
                </a:cubicBezTo>
                <a:lnTo>
                  <a:pt x="381000" y="158751"/>
                </a:lnTo>
                <a:cubicBezTo>
                  <a:pt x="381000" y="193821"/>
                  <a:pt x="352571" y="222250"/>
                  <a:pt x="317501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2451098"/>
            <a:ext cx="436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7338" y="2466973"/>
            <a:ext cx="55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/health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04686" y="2482848"/>
            <a:ext cx="1135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check endpoint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2600" y="2959098"/>
            <a:ext cx="11223625" cy="539750"/>
          </a:xfrm>
          <a:custGeom>
            <a:avLst/>
            <a:gdLst/>
            <a:ahLst/>
            <a:cxnLst/>
            <a:rect l="l" t="t" r="r" b="b"/>
            <a:pathLst>
              <a:path w="11223625" h="539750">
                <a:moveTo>
                  <a:pt x="63502" y="0"/>
                </a:moveTo>
                <a:lnTo>
                  <a:pt x="11160123" y="0"/>
                </a:lnTo>
                <a:cubicBezTo>
                  <a:pt x="11195194" y="0"/>
                  <a:pt x="11223625" y="28431"/>
                  <a:pt x="11223625" y="63502"/>
                </a:cubicBezTo>
                <a:lnTo>
                  <a:pt x="11223625" y="476248"/>
                </a:lnTo>
                <a:cubicBezTo>
                  <a:pt x="11223625" y="511319"/>
                  <a:pt x="11195194" y="539750"/>
                  <a:pt x="1116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086098"/>
            <a:ext cx="381000" cy="222250"/>
          </a:xfrm>
          <a:custGeom>
            <a:avLst/>
            <a:gdLst/>
            <a:ahLst/>
            <a:cxnLst/>
            <a:rect l="l" t="t" r="r" b="b"/>
            <a:pathLst>
              <a:path w="381000" h="222250">
                <a:moveTo>
                  <a:pt x="63499" y="0"/>
                </a:moveTo>
                <a:lnTo>
                  <a:pt x="317501" y="0"/>
                </a:lnTo>
                <a:cubicBezTo>
                  <a:pt x="352571" y="0"/>
                  <a:pt x="381000" y="28429"/>
                  <a:pt x="381000" y="63499"/>
                </a:cubicBezTo>
                <a:lnTo>
                  <a:pt x="381000" y="158751"/>
                </a:lnTo>
                <a:cubicBezTo>
                  <a:pt x="381000" y="193821"/>
                  <a:pt x="352571" y="222250"/>
                  <a:pt x="317501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" y="3086098"/>
            <a:ext cx="436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7338" y="3101973"/>
            <a:ext cx="69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/features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75379" y="3117848"/>
            <a:ext cx="1460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of required input features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8950" y="3600448"/>
            <a:ext cx="11212513" cy="552450"/>
          </a:xfrm>
          <a:custGeom>
            <a:avLst/>
            <a:gdLst/>
            <a:ahLst/>
            <a:cxnLst/>
            <a:rect l="l" t="t" r="r" b="b"/>
            <a:pathLst>
              <a:path w="11212513" h="552450">
                <a:moveTo>
                  <a:pt x="63499" y="0"/>
                </a:moveTo>
                <a:lnTo>
                  <a:pt x="11149014" y="0"/>
                </a:lnTo>
                <a:cubicBezTo>
                  <a:pt x="11184083" y="0"/>
                  <a:pt x="11212513" y="28429"/>
                  <a:pt x="11212513" y="63499"/>
                </a:cubicBezTo>
                <a:lnTo>
                  <a:pt x="11212513" y="488951"/>
                </a:lnTo>
                <a:cubicBezTo>
                  <a:pt x="11212513" y="524021"/>
                  <a:pt x="11184083" y="552450"/>
                  <a:pt x="11149014" y="552450"/>
                </a:cubicBezTo>
                <a:lnTo>
                  <a:pt x="63499" y="552450"/>
                </a:lnTo>
                <a:cubicBezTo>
                  <a:pt x="28429" y="552450"/>
                  <a:pt x="0" y="524021"/>
                  <a:pt x="0" y="4889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 w="2032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300" y="3733803"/>
            <a:ext cx="452438" cy="222250"/>
          </a:xfrm>
          <a:custGeom>
            <a:avLst/>
            <a:gdLst/>
            <a:ahLst/>
            <a:cxnLst/>
            <a:rect l="l" t="t" r="r" b="b"/>
            <a:pathLst>
              <a:path w="452438" h="222250">
                <a:moveTo>
                  <a:pt x="63499" y="0"/>
                </a:moveTo>
                <a:lnTo>
                  <a:pt x="388938" y="0"/>
                </a:lnTo>
                <a:cubicBezTo>
                  <a:pt x="424008" y="0"/>
                  <a:pt x="452438" y="28429"/>
                  <a:pt x="452438" y="63499"/>
                </a:cubicBezTo>
                <a:lnTo>
                  <a:pt x="452438" y="158751"/>
                </a:lnTo>
                <a:cubicBezTo>
                  <a:pt x="452438" y="193821"/>
                  <a:pt x="424008" y="222250"/>
                  <a:pt x="388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2300" y="3733803"/>
            <a:ext cx="508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1377" y="3749678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/predict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63783" y="3765553"/>
            <a:ext cx="1365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exoplanet prediction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8950" y="4260850"/>
            <a:ext cx="11212513" cy="552450"/>
          </a:xfrm>
          <a:custGeom>
            <a:avLst/>
            <a:gdLst/>
            <a:ahLst/>
            <a:cxnLst/>
            <a:rect l="l" t="t" r="r" b="b"/>
            <a:pathLst>
              <a:path w="11212513" h="552450">
                <a:moveTo>
                  <a:pt x="63499" y="0"/>
                </a:moveTo>
                <a:lnTo>
                  <a:pt x="11149014" y="0"/>
                </a:lnTo>
                <a:cubicBezTo>
                  <a:pt x="11184083" y="0"/>
                  <a:pt x="11212513" y="28429"/>
                  <a:pt x="11212513" y="63499"/>
                </a:cubicBezTo>
                <a:lnTo>
                  <a:pt x="11212513" y="488951"/>
                </a:lnTo>
                <a:cubicBezTo>
                  <a:pt x="11212513" y="524021"/>
                  <a:pt x="11184083" y="552450"/>
                  <a:pt x="11149014" y="552450"/>
                </a:cubicBezTo>
                <a:lnTo>
                  <a:pt x="63499" y="552450"/>
                </a:lnTo>
                <a:cubicBezTo>
                  <a:pt x="28429" y="552450"/>
                  <a:pt x="0" y="524021"/>
                  <a:pt x="0" y="4889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 w="2032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2300" y="4394205"/>
            <a:ext cx="452438" cy="222250"/>
          </a:xfrm>
          <a:custGeom>
            <a:avLst/>
            <a:gdLst/>
            <a:ahLst/>
            <a:cxnLst/>
            <a:rect l="l" t="t" r="r" b="b"/>
            <a:pathLst>
              <a:path w="452438" h="222250">
                <a:moveTo>
                  <a:pt x="63499" y="0"/>
                </a:moveTo>
                <a:lnTo>
                  <a:pt x="388938" y="0"/>
                </a:lnTo>
                <a:cubicBezTo>
                  <a:pt x="424008" y="0"/>
                  <a:pt x="452438" y="28429"/>
                  <a:pt x="452438" y="63499"/>
                </a:cubicBezTo>
                <a:lnTo>
                  <a:pt x="452438" y="158751"/>
                </a:lnTo>
                <a:cubicBezTo>
                  <a:pt x="452438" y="193821"/>
                  <a:pt x="424008" y="222250"/>
                  <a:pt x="388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2300" y="4394205"/>
            <a:ext cx="508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71377" y="4410080"/>
            <a:ext cx="1039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/batch-predict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10254" y="4425955"/>
            <a:ext cx="181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predictions (up to 100 planets)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0675" y="5114925"/>
            <a:ext cx="11547475" cy="2355850"/>
          </a:xfrm>
          <a:custGeom>
            <a:avLst/>
            <a:gdLst/>
            <a:ahLst/>
            <a:cxnLst/>
            <a:rect l="l" t="t" r="r" b="b"/>
            <a:pathLst>
              <a:path w="11547475" h="2355850">
                <a:moveTo>
                  <a:pt x="95247" y="0"/>
                </a:moveTo>
                <a:lnTo>
                  <a:pt x="11452228" y="0"/>
                </a:lnTo>
                <a:cubicBezTo>
                  <a:pt x="11504831" y="0"/>
                  <a:pt x="11547475" y="42644"/>
                  <a:pt x="11547475" y="95247"/>
                </a:cubicBezTo>
                <a:lnTo>
                  <a:pt x="11547475" y="2260603"/>
                </a:lnTo>
                <a:cubicBezTo>
                  <a:pt x="11547475" y="2313206"/>
                  <a:pt x="11504831" y="2355850"/>
                  <a:pt x="11452228" y="2355850"/>
                </a:cubicBezTo>
                <a:lnTo>
                  <a:pt x="95247" y="2355850"/>
                </a:lnTo>
                <a:cubicBezTo>
                  <a:pt x="42644" y="2355850"/>
                  <a:pt x="0" y="2313206"/>
                  <a:pt x="0" y="22606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2522" y="5308598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1869" y="372"/>
                </a:moveTo>
                <a:cubicBezTo>
                  <a:pt x="106598" y="-1147"/>
                  <a:pt x="101110" y="1922"/>
                  <a:pt x="99591" y="7193"/>
                </a:cubicBezTo>
                <a:lnTo>
                  <a:pt x="59903" y="146100"/>
                </a:lnTo>
                <a:cubicBezTo>
                  <a:pt x="58384" y="151371"/>
                  <a:pt x="61454" y="156859"/>
                  <a:pt x="66725" y="158378"/>
                </a:cubicBezTo>
                <a:cubicBezTo>
                  <a:pt x="71996" y="159897"/>
                  <a:pt x="77484" y="156828"/>
                  <a:pt x="79003" y="151557"/>
                </a:cubicBezTo>
                <a:lnTo>
                  <a:pt x="118690" y="12650"/>
                </a:lnTo>
                <a:cubicBezTo>
                  <a:pt x="120210" y="7379"/>
                  <a:pt x="117140" y="1891"/>
                  <a:pt x="111869" y="372"/>
                </a:cubicBezTo>
                <a:close/>
                <a:moveTo>
                  <a:pt x="131899" y="42571"/>
                </a:moveTo>
                <a:cubicBezTo>
                  <a:pt x="128023" y="46447"/>
                  <a:pt x="128023" y="52741"/>
                  <a:pt x="131899" y="56617"/>
                </a:cubicBezTo>
                <a:lnTo>
                  <a:pt x="154657" y="79375"/>
                </a:lnTo>
                <a:lnTo>
                  <a:pt x="131899" y="102133"/>
                </a:lnTo>
                <a:cubicBezTo>
                  <a:pt x="128023" y="106009"/>
                  <a:pt x="128023" y="112303"/>
                  <a:pt x="131899" y="116179"/>
                </a:cubicBezTo>
                <a:cubicBezTo>
                  <a:pt x="135775" y="120055"/>
                  <a:pt x="142069" y="120055"/>
                  <a:pt x="145945" y="116179"/>
                </a:cubicBezTo>
                <a:lnTo>
                  <a:pt x="175710" y="86413"/>
                </a:lnTo>
                <a:cubicBezTo>
                  <a:pt x="179586" y="82538"/>
                  <a:pt x="179586" y="76243"/>
                  <a:pt x="175710" y="72368"/>
                </a:cubicBezTo>
                <a:lnTo>
                  <a:pt x="145945" y="42602"/>
                </a:lnTo>
                <a:cubicBezTo>
                  <a:pt x="142069" y="38726"/>
                  <a:pt x="135775" y="38726"/>
                  <a:pt x="131899" y="42602"/>
                </a:cubicBezTo>
                <a:close/>
                <a:moveTo>
                  <a:pt x="46726" y="42571"/>
                </a:moveTo>
                <a:cubicBezTo>
                  <a:pt x="42850" y="38695"/>
                  <a:pt x="36556" y="38695"/>
                  <a:pt x="32680" y="42571"/>
                </a:cubicBezTo>
                <a:lnTo>
                  <a:pt x="2915" y="72337"/>
                </a:lnTo>
                <a:cubicBezTo>
                  <a:pt x="-961" y="76212"/>
                  <a:pt x="-961" y="82507"/>
                  <a:pt x="2915" y="86382"/>
                </a:cubicBezTo>
                <a:lnTo>
                  <a:pt x="32680" y="116148"/>
                </a:lnTo>
                <a:cubicBezTo>
                  <a:pt x="36556" y="120024"/>
                  <a:pt x="42850" y="120024"/>
                  <a:pt x="46726" y="116148"/>
                </a:cubicBezTo>
                <a:cubicBezTo>
                  <a:pt x="50602" y="112272"/>
                  <a:pt x="50602" y="105978"/>
                  <a:pt x="46726" y="102102"/>
                </a:cubicBezTo>
                <a:lnTo>
                  <a:pt x="23968" y="79375"/>
                </a:lnTo>
                <a:lnTo>
                  <a:pt x="46695" y="56617"/>
                </a:lnTo>
                <a:cubicBezTo>
                  <a:pt x="50571" y="52741"/>
                  <a:pt x="50571" y="46447"/>
                  <a:pt x="46695" y="4257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81037" y="5276848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Response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2600" y="5626098"/>
            <a:ext cx="11223625" cy="1682750"/>
          </a:xfrm>
          <a:custGeom>
            <a:avLst/>
            <a:gdLst/>
            <a:ahLst/>
            <a:cxnLst/>
            <a:rect l="l" t="t" r="r" b="b"/>
            <a:pathLst>
              <a:path w="11223625" h="1682750">
                <a:moveTo>
                  <a:pt x="63507" y="0"/>
                </a:moveTo>
                <a:lnTo>
                  <a:pt x="11160118" y="0"/>
                </a:lnTo>
                <a:cubicBezTo>
                  <a:pt x="11195192" y="0"/>
                  <a:pt x="11223625" y="28433"/>
                  <a:pt x="11223625" y="63507"/>
                </a:cubicBezTo>
                <a:lnTo>
                  <a:pt x="11223625" y="1619243"/>
                </a:lnTo>
                <a:cubicBezTo>
                  <a:pt x="11223625" y="1654317"/>
                  <a:pt x="11195192" y="1682750"/>
                  <a:pt x="11160118" y="1682750"/>
                </a:cubicBezTo>
                <a:lnTo>
                  <a:pt x="63507" y="1682750"/>
                </a:lnTo>
                <a:cubicBezTo>
                  <a:pt x="28433" y="1682750"/>
                  <a:pt x="0" y="1654317"/>
                  <a:pt x="0" y="16192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09600" y="5753098"/>
            <a:ext cx="11025188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"success"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875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"prediction"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{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"is_habitable"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"habitability_probability"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0.85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"confidence"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"High"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"classification"</a:t>
            </a: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 </a:t>
            </a:r>
            <a:r>
              <a:rPr lang="en-US" sz="875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"Habitable"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 }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E2E8F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2750" y="412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538" y="7938"/>
                </a:moveTo>
                <a:lnTo>
                  <a:pt x="36637" y="7938"/>
                </a:lnTo>
                <a:cubicBezTo>
                  <a:pt x="29344" y="7938"/>
                  <a:pt x="22969" y="12923"/>
                  <a:pt x="21233" y="19993"/>
                </a:cubicBezTo>
                <a:lnTo>
                  <a:pt x="347" y="104304"/>
                </a:lnTo>
                <a:cubicBezTo>
                  <a:pt x="-1513" y="111795"/>
                  <a:pt x="4167" y="119063"/>
                  <a:pt x="11906" y="119063"/>
                </a:cubicBezTo>
                <a:lnTo>
                  <a:pt x="55538" y="119063"/>
                </a:lnTo>
                <a:lnTo>
                  <a:pt x="55538" y="103188"/>
                </a:lnTo>
                <a:cubicBezTo>
                  <a:pt x="55538" y="98797"/>
                  <a:pt x="59085" y="95250"/>
                  <a:pt x="63475" y="95250"/>
                </a:cubicBezTo>
                <a:cubicBezTo>
                  <a:pt x="67866" y="95250"/>
                  <a:pt x="71413" y="98797"/>
                  <a:pt x="71413" y="103188"/>
                </a:cubicBezTo>
                <a:lnTo>
                  <a:pt x="71413" y="119063"/>
                </a:lnTo>
                <a:lnTo>
                  <a:pt x="115094" y="119063"/>
                </a:lnTo>
                <a:cubicBezTo>
                  <a:pt x="122833" y="119063"/>
                  <a:pt x="128513" y="111795"/>
                  <a:pt x="126653" y="104304"/>
                </a:cubicBezTo>
                <a:lnTo>
                  <a:pt x="105792" y="19993"/>
                </a:lnTo>
                <a:cubicBezTo>
                  <a:pt x="104031" y="12923"/>
                  <a:pt x="97681" y="7938"/>
                  <a:pt x="90363" y="7938"/>
                </a:cubicBezTo>
                <a:lnTo>
                  <a:pt x="71413" y="7938"/>
                </a:lnTo>
                <a:lnTo>
                  <a:pt x="71413" y="23812"/>
                </a:lnTo>
                <a:cubicBezTo>
                  <a:pt x="71413" y="28203"/>
                  <a:pt x="67866" y="31750"/>
                  <a:pt x="63475" y="31750"/>
                </a:cubicBezTo>
                <a:cubicBezTo>
                  <a:pt x="59085" y="31750"/>
                  <a:pt x="55538" y="28203"/>
                  <a:pt x="55538" y="23812"/>
                </a:cubicBezTo>
                <a:lnTo>
                  <a:pt x="55538" y="7938"/>
                </a:lnTo>
                <a:close/>
                <a:moveTo>
                  <a:pt x="71413" y="55563"/>
                </a:moveTo>
                <a:lnTo>
                  <a:pt x="71413" y="71438"/>
                </a:lnTo>
                <a:cubicBezTo>
                  <a:pt x="71413" y="75828"/>
                  <a:pt x="67866" y="79375"/>
                  <a:pt x="63475" y="79375"/>
                </a:cubicBezTo>
                <a:cubicBezTo>
                  <a:pt x="59085" y="79375"/>
                  <a:pt x="55538" y="75828"/>
                  <a:pt x="55538" y="71438"/>
                </a:cubicBezTo>
                <a:lnTo>
                  <a:pt x="55538" y="55563"/>
                </a:lnTo>
                <a:cubicBezTo>
                  <a:pt x="55538" y="51172"/>
                  <a:pt x="59085" y="47625"/>
                  <a:pt x="63475" y="47625"/>
                </a:cubicBezTo>
                <a:cubicBezTo>
                  <a:pt x="67866" y="47625"/>
                  <a:pt x="71413" y="51172"/>
                  <a:pt x="71413" y="55563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396875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98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Roadmap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675" y="1177925"/>
            <a:ext cx="11547475" cy="847725"/>
          </a:xfrm>
          <a:custGeom>
            <a:avLst/>
            <a:gdLst/>
            <a:ahLst/>
            <a:cxnLst/>
            <a:rect l="l" t="t" r="r" b="b"/>
            <a:pathLst>
              <a:path w="11547475" h="847725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752475"/>
                </a:lnTo>
                <a:cubicBezTo>
                  <a:pt x="11547475" y="805080"/>
                  <a:pt x="11504830" y="847725"/>
                  <a:pt x="11452225" y="847725"/>
                </a:cubicBezTo>
                <a:lnTo>
                  <a:pt x="95250" y="847725"/>
                </a:lnTo>
                <a:cubicBezTo>
                  <a:pt x="42645" y="847725"/>
                  <a:pt x="0" y="805080"/>
                  <a:pt x="0" y="752475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0850" y="134778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4029" y="1474786"/>
            <a:ext cx="214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1308098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0: Setup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83887" y="1308098"/>
            <a:ext cx="960438" cy="222250"/>
          </a:xfrm>
          <a:custGeom>
            <a:avLst/>
            <a:gdLst/>
            <a:ahLst/>
            <a:cxnLst/>
            <a:rect l="l" t="t" r="r" b="b"/>
            <a:pathLst>
              <a:path w="960438" h="222250">
                <a:moveTo>
                  <a:pt x="63499" y="0"/>
                </a:moveTo>
                <a:lnTo>
                  <a:pt x="896938" y="0"/>
                </a:lnTo>
                <a:cubicBezTo>
                  <a:pt x="932008" y="0"/>
                  <a:pt x="960438" y="28429"/>
                  <a:pt x="960438" y="63499"/>
                </a:cubicBezTo>
                <a:lnTo>
                  <a:pt x="960438" y="158751"/>
                </a:lnTo>
                <a:cubicBezTo>
                  <a:pt x="960438" y="193821"/>
                  <a:pt x="932008" y="222250"/>
                  <a:pt x="896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783887" y="1308098"/>
            <a:ext cx="1016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Complete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17600" y="1593848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7600" y="1593848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1117600" y="1736723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initialization and repository setup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675" y="2127255"/>
            <a:ext cx="11547475" cy="847725"/>
          </a:xfrm>
          <a:custGeom>
            <a:avLst/>
            <a:gdLst/>
            <a:ahLst/>
            <a:cxnLst/>
            <a:rect l="l" t="t" r="r" b="b"/>
            <a:pathLst>
              <a:path w="11547475" h="847725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752475"/>
                </a:lnTo>
                <a:cubicBezTo>
                  <a:pt x="11547475" y="805080"/>
                  <a:pt x="11504830" y="847725"/>
                  <a:pt x="11452225" y="847725"/>
                </a:cubicBezTo>
                <a:lnTo>
                  <a:pt x="95250" y="847725"/>
                </a:lnTo>
                <a:cubicBezTo>
                  <a:pt x="42645" y="847725"/>
                  <a:pt x="0" y="805080"/>
                  <a:pt x="0" y="752475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850" y="2297116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6750" y="2424116"/>
            <a:ext cx="17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" y="2257428"/>
            <a:ext cx="161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Data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83887" y="2257428"/>
            <a:ext cx="960438" cy="222250"/>
          </a:xfrm>
          <a:custGeom>
            <a:avLst/>
            <a:gdLst/>
            <a:ahLst/>
            <a:cxnLst/>
            <a:rect l="l" t="t" r="r" b="b"/>
            <a:pathLst>
              <a:path w="960438" h="222250">
                <a:moveTo>
                  <a:pt x="63499" y="0"/>
                </a:moveTo>
                <a:lnTo>
                  <a:pt x="896938" y="0"/>
                </a:lnTo>
                <a:cubicBezTo>
                  <a:pt x="932008" y="0"/>
                  <a:pt x="960438" y="28429"/>
                  <a:pt x="960438" y="63499"/>
                </a:cubicBezTo>
                <a:lnTo>
                  <a:pt x="960438" y="158751"/>
                </a:lnTo>
                <a:cubicBezTo>
                  <a:pt x="960438" y="193821"/>
                  <a:pt x="932008" y="222250"/>
                  <a:pt x="896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783887" y="2257428"/>
            <a:ext cx="1016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Complete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17600" y="2543178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17600" y="2543178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1117600" y="2686053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exoplanet data exploration and analysis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675" y="3076577"/>
            <a:ext cx="11547475" cy="847725"/>
          </a:xfrm>
          <a:custGeom>
            <a:avLst/>
            <a:gdLst/>
            <a:ahLst/>
            <a:cxnLst/>
            <a:rect l="l" t="t" r="r" b="b"/>
            <a:pathLst>
              <a:path w="11547475" h="847725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752475"/>
                </a:lnTo>
                <a:cubicBezTo>
                  <a:pt x="11547475" y="805080"/>
                  <a:pt x="11504830" y="847725"/>
                  <a:pt x="11452225" y="847725"/>
                </a:cubicBezTo>
                <a:lnTo>
                  <a:pt x="95250" y="847725"/>
                </a:lnTo>
                <a:cubicBezTo>
                  <a:pt x="42645" y="847725"/>
                  <a:pt x="0" y="805080"/>
                  <a:pt x="0" y="752475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850" y="32464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9486" y="3373438"/>
            <a:ext cx="20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7600" y="3206750"/>
            <a:ext cx="1714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Preprocessing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83887" y="3206750"/>
            <a:ext cx="960438" cy="222250"/>
          </a:xfrm>
          <a:custGeom>
            <a:avLst/>
            <a:gdLst/>
            <a:ahLst/>
            <a:cxnLst/>
            <a:rect l="l" t="t" r="r" b="b"/>
            <a:pathLst>
              <a:path w="960438" h="222250">
                <a:moveTo>
                  <a:pt x="63499" y="0"/>
                </a:moveTo>
                <a:lnTo>
                  <a:pt x="896938" y="0"/>
                </a:lnTo>
                <a:cubicBezTo>
                  <a:pt x="932008" y="0"/>
                  <a:pt x="960438" y="28429"/>
                  <a:pt x="960438" y="63499"/>
                </a:cubicBezTo>
                <a:lnTo>
                  <a:pt x="960438" y="158751"/>
                </a:lnTo>
                <a:cubicBezTo>
                  <a:pt x="960438" y="193821"/>
                  <a:pt x="932008" y="222250"/>
                  <a:pt x="896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783887" y="3206750"/>
            <a:ext cx="1016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Complete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17600" y="3492500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17600" y="3492500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32" name="Text 30"/>
          <p:cNvSpPr/>
          <p:nvPr/>
        </p:nvSpPr>
        <p:spPr>
          <a:xfrm>
            <a:off x="1117600" y="3635375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 and feature engineering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0675" y="4025898"/>
            <a:ext cx="11547475" cy="847725"/>
          </a:xfrm>
          <a:custGeom>
            <a:avLst/>
            <a:gdLst/>
            <a:ahLst/>
            <a:cxnLst/>
            <a:rect l="l" t="t" r="r" b="b"/>
            <a:pathLst>
              <a:path w="11547475" h="847725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752475"/>
                </a:lnTo>
                <a:cubicBezTo>
                  <a:pt x="11547475" y="805080"/>
                  <a:pt x="11504830" y="847725"/>
                  <a:pt x="11452225" y="847725"/>
                </a:cubicBezTo>
                <a:lnTo>
                  <a:pt x="95250" y="847725"/>
                </a:lnTo>
                <a:cubicBezTo>
                  <a:pt x="42645" y="847725"/>
                  <a:pt x="0" y="805080"/>
                  <a:pt x="0" y="752475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850" y="419576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8593" y="4322767"/>
            <a:ext cx="20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7600" y="4156080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ML Models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783887" y="4156080"/>
            <a:ext cx="960438" cy="222250"/>
          </a:xfrm>
          <a:custGeom>
            <a:avLst/>
            <a:gdLst/>
            <a:ahLst/>
            <a:cxnLst/>
            <a:rect l="l" t="t" r="r" b="b"/>
            <a:pathLst>
              <a:path w="960438" h="222250">
                <a:moveTo>
                  <a:pt x="63499" y="0"/>
                </a:moveTo>
                <a:lnTo>
                  <a:pt x="896938" y="0"/>
                </a:lnTo>
                <a:cubicBezTo>
                  <a:pt x="932008" y="0"/>
                  <a:pt x="960438" y="28429"/>
                  <a:pt x="960438" y="63499"/>
                </a:cubicBezTo>
                <a:lnTo>
                  <a:pt x="960438" y="158751"/>
                </a:lnTo>
                <a:cubicBezTo>
                  <a:pt x="960438" y="193821"/>
                  <a:pt x="932008" y="222250"/>
                  <a:pt x="896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783887" y="4156080"/>
            <a:ext cx="1016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Complete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17600" y="4441830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17600" y="4441830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1" name="Text 39"/>
          <p:cNvSpPr/>
          <p:nvPr/>
        </p:nvSpPr>
        <p:spPr>
          <a:xfrm>
            <a:off x="1117600" y="4584705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Forest, XGBoost, Logistic Regression development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0675" y="4975228"/>
            <a:ext cx="11547475" cy="847725"/>
          </a:xfrm>
          <a:custGeom>
            <a:avLst/>
            <a:gdLst/>
            <a:ahLst/>
            <a:cxnLst/>
            <a:rect l="l" t="t" r="r" b="b"/>
            <a:pathLst>
              <a:path w="11547475" h="847725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752475"/>
                </a:lnTo>
                <a:cubicBezTo>
                  <a:pt x="11547475" y="805080"/>
                  <a:pt x="11504830" y="847725"/>
                  <a:pt x="11452225" y="847725"/>
                </a:cubicBezTo>
                <a:lnTo>
                  <a:pt x="95250" y="847725"/>
                </a:lnTo>
                <a:cubicBezTo>
                  <a:pt x="42645" y="847725"/>
                  <a:pt x="0" y="805080"/>
                  <a:pt x="0" y="752475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0B981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850" y="514508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8692" y="5272089"/>
            <a:ext cx="20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17600" y="5105402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4: Web App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783887" y="5105402"/>
            <a:ext cx="960438" cy="222250"/>
          </a:xfrm>
          <a:custGeom>
            <a:avLst/>
            <a:gdLst/>
            <a:ahLst/>
            <a:cxnLst/>
            <a:rect l="l" t="t" r="r" b="b"/>
            <a:pathLst>
              <a:path w="960438" h="222250">
                <a:moveTo>
                  <a:pt x="63499" y="0"/>
                </a:moveTo>
                <a:lnTo>
                  <a:pt x="896938" y="0"/>
                </a:lnTo>
                <a:cubicBezTo>
                  <a:pt x="932008" y="0"/>
                  <a:pt x="960438" y="28429"/>
                  <a:pt x="960438" y="63499"/>
                </a:cubicBezTo>
                <a:lnTo>
                  <a:pt x="960438" y="158751"/>
                </a:lnTo>
                <a:cubicBezTo>
                  <a:pt x="960438" y="193821"/>
                  <a:pt x="932008" y="222250"/>
                  <a:pt x="896938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783887" y="5105402"/>
            <a:ext cx="1016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Complete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17600" y="5391152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17600" y="5391152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0" name="Text 48"/>
          <p:cNvSpPr/>
          <p:nvPr/>
        </p:nvSpPr>
        <p:spPr>
          <a:xfrm>
            <a:off x="1117600" y="5534027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 backend and interactive frontend development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20675" y="5924550"/>
            <a:ext cx="11547475" cy="847725"/>
          </a:xfrm>
          <a:custGeom>
            <a:avLst/>
            <a:gdLst/>
            <a:ahLst/>
            <a:cxnLst/>
            <a:rect l="l" t="t" r="r" b="b"/>
            <a:pathLst>
              <a:path w="11547475" h="847725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752475"/>
                </a:lnTo>
                <a:cubicBezTo>
                  <a:pt x="11547475" y="805080"/>
                  <a:pt x="11504830" y="847725"/>
                  <a:pt x="11452225" y="847725"/>
                </a:cubicBezTo>
                <a:lnTo>
                  <a:pt x="95250" y="847725"/>
                </a:lnTo>
                <a:cubicBezTo>
                  <a:pt x="42645" y="847725"/>
                  <a:pt x="0" y="805080"/>
                  <a:pt x="0" y="752475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850" y="609441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9982" y="6221411"/>
            <a:ext cx="206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7600" y="6054723"/>
            <a:ext cx="155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5: Deployment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829132" y="6054723"/>
            <a:ext cx="912813" cy="222250"/>
          </a:xfrm>
          <a:custGeom>
            <a:avLst/>
            <a:gdLst/>
            <a:ahLst/>
            <a:cxnLst/>
            <a:rect l="l" t="t" r="r" b="b"/>
            <a:pathLst>
              <a:path w="912813" h="222250">
                <a:moveTo>
                  <a:pt x="63499" y="0"/>
                </a:moveTo>
                <a:lnTo>
                  <a:pt x="849313" y="0"/>
                </a:lnTo>
                <a:cubicBezTo>
                  <a:pt x="884383" y="0"/>
                  <a:pt x="912813" y="28429"/>
                  <a:pt x="912813" y="63499"/>
                </a:cubicBezTo>
                <a:lnTo>
                  <a:pt x="912813" y="158751"/>
                </a:lnTo>
                <a:cubicBezTo>
                  <a:pt x="912813" y="193821"/>
                  <a:pt x="884383" y="222250"/>
                  <a:pt x="849313" y="222250"/>
                </a:cubicBezTo>
                <a:lnTo>
                  <a:pt x="63499" y="222250"/>
                </a:lnTo>
                <a:cubicBezTo>
                  <a:pt x="28429" y="222250"/>
                  <a:pt x="0" y="193821"/>
                  <a:pt x="0" y="1587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829132" y="6054723"/>
            <a:ext cx="968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Complete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17600" y="6340481"/>
            <a:ext cx="10620375" cy="79375"/>
          </a:xfrm>
          <a:custGeom>
            <a:avLst/>
            <a:gdLst/>
            <a:ahLst/>
            <a:cxnLst/>
            <a:rect l="l" t="t" r="r" b="b"/>
            <a:pathLst>
              <a:path w="10620375" h="79375">
                <a:moveTo>
                  <a:pt x="39688" y="0"/>
                </a:moveTo>
                <a:lnTo>
                  <a:pt x="10580688" y="0"/>
                </a:lnTo>
                <a:cubicBezTo>
                  <a:pt x="10602592" y="0"/>
                  <a:pt x="10620375" y="17783"/>
                  <a:pt x="10620375" y="39688"/>
                </a:cubicBezTo>
                <a:lnTo>
                  <a:pt x="10620375" y="39688"/>
                </a:lnTo>
                <a:cubicBezTo>
                  <a:pt x="10620375" y="61592"/>
                  <a:pt x="10602592" y="79375"/>
                  <a:pt x="10580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0B0F19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17600" y="6340481"/>
            <a:ext cx="8501063" cy="79375"/>
          </a:xfrm>
          <a:custGeom>
            <a:avLst/>
            <a:gdLst/>
            <a:ahLst/>
            <a:cxnLst/>
            <a:rect l="l" t="t" r="r" b="b"/>
            <a:pathLst>
              <a:path w="8501063" h="79375">
                <a:moveTo>
                  <a:pt x="39688" y="0"/>
                </a:moveTo>
                <a:lnTo>
                  <a:pt x="8461375" y="0"/>
                </a:lnTo>
                <a:cubicBezTo>
                  <a:pt x="8483279" y="0"/>
                  <a:pt x="8501063" y="17783"/>
                  <a:pt x="8501063" y="39688"/>
                </a:cubicBezTo>
                <a:lnTo>
                  <a:pt x="8501063" y="39688"/>
                </a:lnTo>
                <a:cubicBezTo>
                  <a:pt x="8501063" y="61592"/>
                  <a:pt x="8483279" y="79375"/>
                  <a:pt x="846137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3B82F6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9" name="Text 57"/>
          <p:cNvSpPr/>
          <p:nvPr/>
        </p:nvSpPr>
        <p:spPr>
          <a:xfrm>
            <a:off x="1117600" y="6483356"/>
            <a:ext cx="10675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Deployed on Render cloud platform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Exoplanet Statistics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51610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7621" y="168402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081927" y="18459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46027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5,600+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979427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Confirmed Exoplanets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8270" y="1451610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081" y="168402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55387" y="1845952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17859"/>
                </a:moveTo>
                <a:cubicBezTo>
                  <a:pt x="285750" y="78191"/>
                  <a:pt x="242999" y="128532"/>
                  <a:pt x="186184" y="140308"/>
                </a:cubicBezTo>
                <a:cubicBezTo>
                  <a:pt x="181775" y="107882"/>
                  <a:pt x="167208" y="78693"/>
                  <a:pt x="145721" y="56090"/>
                </a:cubicBezTo>
                <a:cubicBezTo>
                  <a:pt x="168101" y="22324"/>
                  <a:pt x="206443" y="0"/>
                  <a:pt x="250031" y="0"/>
                </a:cubicBezTo>
                <a:lnTo>
                  <a:pt x="267891" y="0"/>
                </a:lnTo>
                <a:cubicBezTo>
                  <a:pt x="277769" y="0"/>
                  <a:pt x="285750" y="7981"/>
                  <a:pt x="285750" y="17859"/>
                </a:cubicBezTo>
                <a:close/>
                <a:moveTo>
                  <a:pt x="0" y="53578"/>
                </a:moveTo>
                <a:cubicBezTo>
                  <a:pt x="0" y="43700"/>
                  <a:pt x="7981" y="35719"/>
                  <a:pt x="17859" y="35719"/>
                </a:cubicBezTo>
                <a:lnTo>
                  <a:pt x="35719" y="35719"/>
                </a:lnTo>
                <a:cubicBezTo>
                  <a:pt x="104756" y="35719"/>
                  <a:pt x="160734" y="91697"/>
                  <a:pt x="160734" y="160734"/>
                </a:cubicBezTo>
                <a:lnTo>
                  <a:pt x="160734" y="267891"/>
                </a:lnTo>
                <a:cubicBezTo>
                  <a:pt x="160734" y="277769"/>
                  <a:pt x="152753" y="285750"/>
                  <a:pt x="142875" y="285750"/>
                </a:cubicBezTo>
                <a:cubicBezTo>
                  <a:pt x="132997" y="285750"/>
                  <a:pt x="125016" y="277769"/>
                  <a:pt x="125016" y="267891"/>
                </a:cubicBezTo>
                <a:lnTo>
                  <a:pt x="125016" y="178594"/>
                </a:lnTo>
                <a:cubicBezTo>
                  <a:pt x="55978" y="178594"/>
                  <a:pt x="0" y="122616"/>
                  <a:pt x="0" y="5357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376380" y="2446027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2580" y="2979427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Potentially Habitable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1731" y="1451610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64661" y="168402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11107" y="184595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16700" y="288094"/>
                </a:moveTo>
                <a:cubicBezTo>
                  <a:pt x="106263" y="298531"/>
                  <a:pt x="89297" y="298531"/>
                  <a:pt x="78804" y="288094"/>
                </a:cubicBezTo>
                <a:lnTo>
                  <a:pt x="15683" y="224972"/>
                </a:lnTo>
                <a:cubicBezTo>
                  <a:pt x="5246" y="214536"/>
                  <a:pt x="5246" y="197569"/>
                  <a:pt x="15683" y="187077"/>
                </a:cubicBezTo>
                <a:lnTo>
                  <a:pt x="25171" y="177589"/>
                </a:lnTo>
                <a:lnTo>
                  <a:pt x="66191" y="218610"/>
                </a:lnTo>
                <a:cubicBezTo>
                  <a:pt x="71438" y="223856"/>
                  <a:pt x="79921" y="223856"/>
                  <a:pt x="85111" y="218610"/>
                </a:cubicBezTo>
                <a:cubicBezTo>
                  <a:pt x="90301" y="213364"/>
                  <a:pt x="90357" y="204881"/>
                  <a:pt x="85111" y="199690"/>
                </a:cubicBezTo>
                <a:lnTo>
                  <a:pt x="44090" y="158669"/>
                </a:lnTo>
                <a:lnTo>
                  <a:pt x="63010" y="139750"/>
                </a:lnTo>
                <a:lnTo>
                  <a:pt x="91418" y="168157"/>
                </a:lnTo>
                <a:cubicBezTo>
                  <a:pt x="96664" y="173403"/>
                  <a:pt x="105147" y="173403"/>
                  <a:pt x="110337" y="168157"/>
                </a:cubicBezTo>
                <a:cubicBezTo>
                  <a:pt x="115528" y="162911"/>
                  <a:pt x="115584" y="154428"/>
                  <a:pt x="110337" y="149237"/>
                </a:cubicBezTo>
                <a:lnTo>
                  <a:pt x="81930" y="120830"/>
                </a:lnTo>
                <a:lnTo>
                  <a:pt x="100850" y="101910"/>
                </a:lnTo>
                <a:lnTo>
                  <a:pt x="141870" y="142931"/>
                </a:lnTo>
                <a:cubicBezTo>
                  <a:pt x="147117" y="148177"/>
                  <a:pt x="155600" y="148177"/>
                  <a:pt x="160790" y="142931"/>
                </a:cubicBezTo>
                <a:cubicBezTo>
                  <a:pt x="165981" y="137685"/>
                  <a:pt x="166036" y="129201"/>
                  <a:pt x="160790" y="124011"/>
                </a:cubicBezTo>
                <a:lnTo>
                  <a:pt x="119769" y="82990"/>
                </a:lnTo>
                <a:lnTo>
                  <a:pt x="138689" y="64071"/>
                </a:lnTo>
                <a:lnTo>
                  <a:pt x="167097" y="92478"/>
                </a:lnTo>
                <a:cubicBezTo>
                  <a:pt x="172343" y="97724"/>
                  <a:pt x="180826" y="97724"/>
                  <a:pt x="186017" y="92478"/>
                </a:cubicBezTo>
                <a:cubicBezTo>
                  <a:pt x="191207" y="87232"/>
                  <a:pt x="191263" y="78749"/>
                  <a:pt x="186017" y="73558"/>
                </a:cubicBezTo>
                <a:lnTo>
                  <a:pt x="157609" y="45151"/>
                </a:lnTo>
                <a:lnTo>
                  <a:pt x="176529" y="26231"/>
                </a:lnTo>
                <a:lnTo>
                  <a:pt x="217550" y="67252"/>
                </a:lnTo>
                <a:cubicBezTo>
                  <a:pt x="222796" y="72498"/>
                  <a:pt x="231279" y="72498"/>
                  <a:pt x="236469" y="67252"/>
                </a:cubicBezTo>
                <a:cubicBezTo>
                  <a:pt x="241660" y="62006"/>
                  <a:pt x="241715" y="53522"/>
                  <a:pt x="236469" y="48332"/>
                </a:cubicBezTo>
                <a:lnTo>
                  <a:pt x="195449" y="7311"/>
                </a:lnTo>
                <a:lnTo>
                  <a:pt x="204936" y="-2177"/>
                </a:lnTo>
                <a:cubicBezTo>
                  <a:pt x="215373" y="-12613"/>
                  <a:pt x="232339" y="-12613"/>
                  <a:pt x="242832" y="-2177"/>
                </a:cubicBezTo>
                <a:lnTo>
                  <a:pt x="306121" y="60778"/>
                </a:lnTo>
                <a:cubicBezTo>
                  <a:pt x="316557" y="71214"/>
                  <a:pt x="316557" y="88181"/>
                  <a:pt x="306121" y="98673"/>
                </a:cubicBezTo>
                <a:lnTo>
                  <a:pt x="116700" y="288094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49841" y="2446027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6041" y="2979427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 Years to Proxima 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810" y="3638546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7621" y="387096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1927" y="403288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1063" y="3907"/>
                </a:moveTo>
                <a:cubicBezTo>
                  <a:pt x="116309" y="-1339"/>
                  <a:pt x="124792" y="-1339"/>
                  <a:pt x="129983" y="3907"/>
                </a:cubicBezTo>
                <a:lnTo>
                  <a:pt x="179877" y="53801"/>
                </a:lnTo>
                <a:lnTo>
                  <a:pt x="210573" y="23106"/>
                </a:lnTo>
                <a:cubicBezTo>
                  <a:pt x="217550" y="16129"/>
                  <a:pt x="228879" y="16129"/>
                  <a:pt x="235855" y="23106"/>
                </a:cubicBezTo>
                <a:lnTo>
                  <a:pt x="262644" y="49895"/>
                </a:lnTo>
                <a:cubicBezTo>
                  <a:pt x="269621" y="56871"/>
                  <a:pt x="269621" y="68200"/>
                  <a:pt x="262644" y="75177"/>
                </a:cubicBezTo>
                <a:lnTo>
                  <a:pt x="231949" y="105873"/>
                </a:lnTo>
                <a:lnTo>
                  <a:pt x="281843" y="155767"/>
                </a:lnTo>
                <a:cubicBezTo>
                  <a:pt x="287089" y="161013"/>
                  <a:pt x="287089" y="169497"/>
                  <a:pt x="281843" y="174687"/>
                </a:cubicBezTo>
                <a:lnTo>
                  <a:pt x="228265" y="228265"/>
                </a:lnTo>
                <a:cubicBezTo>
                  <a:pt x="223019" y="233511"/>
                  <a:pt x="214536" y="233511"/>
                  <a:pt x="209345" y="228265"/>
                </a:cubicBezTo>
                <a:lnTo>
                  <a:pt x="159451" y="178371"/>
                </a:lnTo>
                <a:lnTo>
                  <a:pt x="150800" y="187021"/>
                </a:lnTo>
                <a:cubicBezTo>
                  <a:pt x="157163" y="200751"/>
                  <a:pt x="160734" y="216043"/>
                  <a:pt x="160734" y="232172"/>
                </a:cubicBezTo>
                <a:cubicBezTo>
                  <a:pt x="160734" y="249864"/>
                  <a:pt x="156437" y="266495"/>
                  <a:pt x="148903" y="281174"/>
                </a:cubicBezTo>
                <a:cubicBezTo>
                  <a:pt x="146279" y="286196"/>
                  <a:pt x="139582" y="286922"/>
                  <a:pt x="135620" y="282904"/>
                </a:cubicBezTo>
                <a:lnTo>
                  <a:pt x="81874" y="229158"/>
                </a:lnTo>
                <a:lnTo>
                  <a:pt x="48388" y="262644"/>
                </a:lnTo>
                <a:cubicBezTo>
                  <a:pt x="41411" y="269621"/>
                  <a:pt x="30082" y="269621"/>
                  <a:pt x="23106" y="262644"/>
                </a:cubicBezTo>
                <a:cubicBezTo>
                  <a:pt x="16129" y="255668"/>
                  <a:pt x="16129" y="244339"/>
                  <a:pt x="23106" y="237362"/>
                </a:cubicBezTo>
                <a:lnTo>
                  <a:pt x="56592" y="203876"/>
                </a:lnTo>
                <a:lnTo>
                  <a:pt x="2846" y="150130"/>
                </a:lnTo>
                <a:cubicBezTo>
                  <a:pt x="-1172" y="146112"/>
                  <a:pt x="-446" y="139415"/>
                  <a:pt x="4576" y="136847"/>
                </a:cubicBezTo>
                <a:cubicBezTo>
                  <a:pt x="19255" y="129257"/>
                  <a:pt x="35942" y="125016"/>
                  <a:pt x="53578" y="125016"/>
                </a:cubicBezTo>
                <a:cubicBezTo>
                  <a:pt x="69707" y="125016"/>
                  <a:pt x="84999" y="128588"/>
                  <a:pt x="98729" y="134950"/>
                </a:cubicBezTo>
                <a:lnTo>
                  <a:pt x="107379" y="126299"/>
                </a:lnTo>
                <a:lnTo>
                  <a:pt x="57485" y="76460"/>
                </a:lnTo>
                <a:cubicBezTo>
                  <a:pt x="52239" y="71214"/>
                  <a:pt x="52239" y="62731"/>
                  <a:pt x="57485" y="57541"/>
                </a:cubicBezTo>
                <a:lnTo>
                  <a:pt x="111063" y="3907"/>
                </a:lnTo>
                <a:close/>
                <a:moveTo>
                  <a:pt x="120551" y="32314"/>
                </a:moveTo>
                <a:lnTo>
                  <a:pt x="85892" y="66973"/>
                </a:lnTo>
                <a:lnTo>
                  <a:pt x="126299" y="107379"/>
                </a:lnTo>
                <a:lnTo>
                  <a:pt x="160958" y="72721"/>
                </a:lnTo>
                <a:lnTo>
                  <a:pt x="120551" y="32314"/>
                </a:lnTo>
                <a:close/>
                <a:moveTo>
                  <a:pt x="218777" y="199858"/>
                </a:moveTo>
                <a:lnTo>
                  <a:pt x="253436" y="165199"/>
                </a:lnTo>
                <a:lnTo>
                  <a:pt x="213029" y="124792"/>
                </a:lnTo>
                <a:lnTo>
                  <a:pt x="178371" y="159451"/>
                </a:lnTo>
                <a:lnTo>
                  <a:pt x="218777" y="19985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632964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9120" y="5166364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Discovery Methods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58270" y="3638546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1081" y="387096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73246" y="403288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61559" y="0"/>
                  <a:pt x="53578" y="7981"/>
                  <a:pt x="53578" y="17859"/>
                </a:cubicBezTo>
                <a:lnTo>
                  <a:pt x="53578" y="35719"/>
                </a:lnTo>
                <a:lnTo>
                  <a:pt x="35719" y="35719"/>
                </a:lnTo>
                <a:cubicBezTo>
                  <a:pt x="16018" y="35719"/>
                  <a:pt x="0" y="51736"/>
                  <a:pt x="0" y="71438"/>
                </a:cubicBezTo>
                <a:lnTo>
                  <a:pt x="0" y="98227"/>
                </a:lnTo>
                <a:lnTo>
                  <a:pt x="250031" y="98227"/>
                </a:ln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196453" y="35719"/>
                </a:lnTo>
                <a:lnTo>
                  <a:pt x="196453" y="17859"/>
                </a:lnTo>
                <a:cubicBezTo>
                  <a:pt x="196453" y="7981"/>
                  <a:pt x="188472" y="0"/>
                  <a:pt x="178594" y="0"/>
                </a:cubicBezTo>
                <a:cubicBezTo>
                  <a:pt x="168715" y="0"/>
                  <a:pt x="160734" y="7981"/>
                  <a:pt x="160734" y="17859"/>
                </a:cubicBezTo>
                <a:lnTo>
                  <a:pt x="160734" y="35719"/>
                </a:lnTo>
                <a:lnTo>
                  <a:pt x="89297" y="35719"/>
                </a:lnTo>
                <a:lnTo>
                  <a:pt x="89297" y="17859"/>
                </a:lnTo>
                <a:cubicBezTo>
                  <a:pt x="89297" y="7981"/>
                  <a:pt x="81316" y="0"/>
                  <a:pt x="71438" y="0"/>
                </a:cubicBezTo>
                <a:close/>
                <a:moveTo>
                  <a:pt x="0" y="125016"/>
                </a:move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125016"/>
                </a:lnTo>
                <a:lnTo>
                  <a:pt x="0" y="125016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4376380" y="4632964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1992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52580" y="5166364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Exoplanets Found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1731" y="3638546"/>
            <a:ext cx="3674745" cy="1988820"/>
          </a:xfrm>
          <a:custGeom>
            <a:avLst/>
            <a:gdLst/>
            <a:ahLst/>
            <a:cxnLst/>
            <a:rect l="l" t="t" r="r" b="b"/>
            <a:pathLst>
              <a:path w="3674745" h="19888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874523"/>
                </a:lnTo>
                <a:cubicBezTo>
                  <a:pt x="3674745" y="1937647"/>
                  <a:pt x="3623572" y="1988820"/>
                  <a:pt x="3560448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64661" y="387096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828966" y="403288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35719"/>
                </a:moveTo>
                <a:cubicBezTo>
                  <a:pt x="7981" y="35719"/>
                  <a:pt x="0" y="43700"/>
                  <a:pt x="0" y="53578"/>
                </a:cubicBezTo>
                <a:cubicBezTo>
                  <a:pt x="0" y="63457"/>
                  <a:pt x="7981" y="71438"/>
                  <a:pt x="17859" y="71438"/>
                </a:cubicBezTo>
                <a:lnTo>
                  <a:pt x="66247" y="71438"/>
                </a:lnTo>
                <a:cubicBezTo>
                  <a:pt x="73112" y="87232"/>
                  <a:pt x="88850" y="98227"/>
                  <a:pt x="107156" y="98227"/>
                </a:cubicBezTo>
                <a:cubicBezTo>
                  <a:pt x="125462" y="98227"/>
                  <a:pt x="141201" y="87232"/>
                  <a:pt x="148065" y="71438"/>
                </a:cubicBezTo>
                <a:lnTo>
                  <a:pt x="267891" y="71438"/>
                </a:lnTo>
                <a:cubicBezTo>
                  <a:pt x="277769" y="71438"/>
                  <a:pt x="285750" y="63457"/>
                  <a:pt x="285750" y="53578"/>
                </a:cubicBezTo>
                <a:cubicBezTo>
                  <a:pt x="285750" y="43700"/>
                  <a:pt x="277769" y="35719"/>
                  <a:pt x="267891" y="35719"/>
                </a:cubicBezTo>
                <a:lnTo>
                  <a:pt x="148065" y="35719"/>
                </a:lnTo>
                <a:cubicBezTo>
                  <a:pt x="141201" y="19924"/>
                  <a:pt x="125462" y="8930"/>
                  <a:pt x="107156" y="8930"/>
                </a:cubicBezTo>
                <a:cubicBezTo>
                  <a:pt x="88850" y="8930"/>
                  <a:pt x="73112" y="19924"/>
                  <a:pt x="66247" y="35719"/>
                </a:cubicBezTo>
                <a:lnTo>
                  <a:pt x="17859" y="35719"/>
                </a:lnTo>
                <a:close/>
                <a:moveTo>
                  <a:pt x="17859" y="125016"/>
                </a:move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155544" y="160734"/>
                </a:lnTo>
                <a:cubicBezTo>
                  <a:pt x="162409" y="176529"/>
                  <a:pt x="178147" y="187523"/>
                  <a:pt x="196453" y="187523"/>
                </a:cubicBezTo>
                <a:cubicBezTo>
                  <a:pt x="214759" y="187523"/>
                  <a:pt x="230498" y="176529"/>
                  <a:pt x="237362" y="160734"/>
                </a:cubicBezTo>
                <a:lnTo>
                  <a:pt x="267891" y="160734"/>
                </a:lnTo>
                <a:cubicBezTo>
                  <a:pt x="277769" y="160734"/>
                  <a:pt x="285750" y="152753"/>
                  <a:pt x="285750" y="142875"/>
                </a:cubicBezTo>
                <a:cubicBezTo>
                  <a:pt x="285750" y="132997"/>
                  <a:pt x="277769" y="125016"/>
                  <a:pt x="267891" y="125016"/>
                </a:cubicBezTo>
                <a:lnTo>
                  <a:pt x="237362" y="125016"/>
                </a:lnTo>
                <a:cubicBezTo>
                  <a:pt x="230498" y="109221"/>
                  <a:pt x="214759" y="98227"/>
                  <a:pt x="196453" y="98227"/>
                </a:cubicBezTo>
                <a:cubicBezTo>
                  <a:pt x="178147" y="98227"/>
                  <a:pt x="162409" y="109221"/>
                  <a:pt x="155544" y="125016"/>
                </a:cubicBezTo>
                <a:lnTo>
                  <a:pt x="17859" y="125016"/>
                </a:lnTo>
                <a:close/>
                <a:moveTo>
                  <a:pt x="17859" y="214313"/>
                </a:moveTo>
                <a:cubicBezTo>
                  <a:pt x="7981" y="214313"/>
                  <a:pt x="0" y="222293"/>
                  <a:pt x="0" y="232172"/>
                </a:cubicBezTo>
                <a:cubicBezTo>
                  <a:pt x="0" y="242050"/>
                  <a:pt x="7981" y="250031"/>
                  <a:pt x="17859" y="250031"/>
                </a:cubicBezTo>
                <a:lnTo>
                  <a:pt x="48388" y="250031"/>
                </a:lnTo>
                <a:cubicBezTo>
                  <a:pt x="55252" y="265826"/>
                  <a:pt x="70991" y="276820"/>
                  <a:pt x="89297" y="276820"/>
                </a:cubicBezTo>
                <a:cubicBezTo>
                  <a:pt x="107603" y="276820"/>
                  <a:pt x="123341" y="265826"/>
                  <a:pt x="130206" y="250031"/>
                </a:cubicBez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ubicBezTo>
                  <a:pt x="285750" y="222293"/>
                  <a:pt x="277769" y="214313"/>
                  <a:pt x="267891" y="214313"/>
                </a:cubicBezTo>
                <a:lnTo>
                  <a:pt x="130206" y="214313"/>
                </a:lnTo>
                <a:cubicBezTo>
                  <a:pt x="123341" y="198518"/>
                  <a:pt x="107603" y="187523"/>
                  <a:pt x="89297" y="187523"/>
                </a:cubicBezTo>
                <a:cubicBezTo>
                  <a:pt x="70991" y="187523"/>
                  <a:pt x="55252" y="198518"/>
                  <a:pt x="48388" y="214313"/>
                </a:cubicBezTo>
                <a:lnTo>
                  <a:pt x="17859" y="21431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8249841" y="4632964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6041" y="5166364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Features Analyzed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6250" y="495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 &amp;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5608320" cy="3284220"/>
          </a:xfrm>
          <a:custGeom>
            <a:avLst/>
            <a:gdLst/>
            <a:ahLst/>
            <a:cxnLst/>
            <a:rect l="l" t="t" r="r" b="b"/>
            <a:pathLst>
              <a:path w="5608320" h="3284220">
                <a:moveTo>
                  <a:pt x="114291" y="0"/>
                </a:moveTo>
                <a:lnTo>
                  <a:pt x="5494029" y="0"/>
                </a:lnTo>
                <a:cubicBezTo>
                  <a:pt x="5557108" y="0"/>
                  <a:pt x="5608320" y="51212"/>
                  <a:pt x="5608320" y="114291"/>
                </a:cubicBezTo>
                <a:lnTo>
                  <a:pt x="5608320" y="3169929"/>
                </a:lnTo>
                <a:cubicBezTo>
                  <a:pt x="5608320" y="3233008"/>
                  <a:pt x="5557108" y="3284220"/>
                  <a:pt x="5494029" y="3284220"/>
                </a:cubicBezTo>
                <a:lnTo>
                  <a:pt x="114291" y="3284220"/>
                </a:lnTo>
                <a:cubicBezTo>
                  <a:pt x="51212" y="3284220"/>
                  <a:pt x="0" y="3233008"/>
                  <a:pt x="0" y="3169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6078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7233" y="176022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64920" y="1722127"/>
            <a:ext cx="2333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&amp; Education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23317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4845" y="24079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98220" y="2331727"/>
            <a:ext cx="477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8220" y="2598427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platform for students to learn about exoplanets and habitability factors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" y="2903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4845" y="29794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998220" y="2903227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Astronomy Enthusiasts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8220" y="3169927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real exoplanet data and understand planetary parameters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34747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4845" y="35509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98220" y="3474727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Assessments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8220" y="3741427"/>
            <a:ext cx="393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habitability evaluation for research and educational purposes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" y="4046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4845" y="41224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998220" y="4046227"/>
            <a:ext cx="418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Learning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8220" y="4312927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visualizations and real data create engaging educational experiences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060" y="1413510"/>
            <a:ext cx="5608320" cy="3284220"/>
          </a:xfrm>
          <a:custGeom>
            <a:avLst/>
            <a:gdLst/>
            <a:ahLst/>
            <a:cxnLst/>
            <a:rect l="l" t="t" r="r" b="b"/>
            <a:pathLst>
              <a:path w="5608320" h="3284220">
                <a:moveTo>
                  <a:pt x="114291" y="0"/>
                </a:moveTo>
                <a:lnTo>
                  <a:pt x="5494029" y="0"/>
                </a:lnTo>
                <a:cubicBezTo>
                  <a:pt x="5557108" y="0"/>
                  <a:pt x="5608320" y="51212"/>
                  <a:pt x="5608320" y="114291"/>
                </a:cubicBezTo>
                <a:lnTo>
                  <a:pt x="5608320" y="3169929"/>
                </a:lnTo>
                <a:cubicBezTo>
                  <a:pt x="5608320" y="3233008"/>
                  <a:pt x="5557108" y="3284220"/>
                  <a:pt x="5494029" y="3284220"/>
                </a:cubicBezTo>
                <a:lnTo>
                  <a:pt x="114291" y="3284220"/>
                </a:lnTo>
                <a:cubicBezTo>
                  <a:pt x="51212" y="3284220"/>
                  <a:pt x="0" y="3233008"/>
                  <a:pt x="0" y="3169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9370" y="160782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56057" y="176022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075170" y="1722127"/>
            <a:ext cx="160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Integration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9370" y="23317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75095" y="24079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808470" y="2331727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Third-Party Apps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08470" y="2598427"/>
            <a:ext cx="415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habitability predictions into external applications and services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9370" y="2903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5095" y="29794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808470" y="2903227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Analysis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8470" y="3169927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multiple planets simultaneously for large-scale studies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9370" y="34747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5095" y="35509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6808470" y="3474727"/>
            <a:ext cx="3848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 Projects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08470" y="3741427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as a component in larger astronomical data analysis pipelines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9370" y="404622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5095" y="412242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6808470" y="4046227"/>
            <a:ext cx="4029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Visualizations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8470" y="4312927"/>
            <a:ext cx="401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specialized dashboards and visualization tools on top of the API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5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74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413510"/>
            <a:ext cx="5627370" cy="1226820"/>
          </a:xfrm>
          <a:custGeom>
            <a:avLst/>
            <a:gdLst/>
            <a:ahLst/>
            <a:cxnLst/>
            <a:rect l="l" t="t" r="r" b="b"/>
            <a:pathLst>
              <a:path w="5627370" h="1226820">
                <a:moveTo>
                  <a:pt x="114303" y="0"/>
                </a:moveTo>
                <a:lnTo>
                  <a:pt x="5513067" y="0"/>
                </a:lnTo>
                <a:cubicBezTo>
                  <a:pt x="5576195" y="0"/>
                  <a:pt x="5627370" y="51175"/>
                  <a:pt x="5627370" y="114303"/>
                </a:cubicBezTo>
                <a:lnTo>
                  <a:pt x="5627370" y="1112517"/>
                </a:lnTo>
                <a:cubicBezTo>
                  <a:pt x="5627370" y="1175603"/>
                  <a:pt x="5576153" y="1226820"/>
                  <a:pt x="55130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6078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2470" y="17411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4042" y="2604"/>
                </a:moveTo>
                <a:cubicBezTo>
                  <a:pt x="77539" y="-893"/>
                  <a:pt x="83195" y="-893"/>
                  <a:pt x="86655" y="2604"/>
                </a:cubicBezTo>
                <a:lnTo>
                  <a:pt x="119918" y="35868"/>
                </a:lnTo>
                <a:lnTo>
                  <a:pt x="140382" y="15404"/>
                </a:lnTo>
                <a:cubicBezTo>
                  <a:pt x="145033" y="10753"/>
                  <a:pt x="152586" y="10753"/>
                  <a:pt x="157237" y="15404"/>
                </a:cubicBezTo>
                <a:lnTo>
                  <a:pt x="175096" y="33263"/>
                </a:lnTo>
                <a:cubicBezTo>
                  <a:pt x="179747" y="37914"/>
                  <a:pt x="179747" y="45467"/>
                  <a:pt x="175096" y="50118"/>
                </a:cubicBezTo>
                <a:lnTo>
                  <a:pt x="154632" y="70582"/>
                </a:lnTo>
                <a:lnTo>
                  <a:pt x="187896" y="103845"/>
                </a:lnTo>
                <a:cubicBezTo>
                  <a:pt x="191393" y="107342"/>
                  <a:pt x="191393" y="112998"/>
                  <a:pt x="187896" y="116458"/>
                </a:cubicBezTo>
                <a:lnTo>
                  <a:pt x="152177" y="152177"/>
                </a:lnTo>
                <a:cubicBezTo>
                  <a:pt x="148679" y="155674"/>
                  <a:pt x="143024" y="155674"/>
                  <a:pt x="139564" y="152177"/>
                </a:cubicBezTo>
                <a:lnTo>
                  <a:pt x="106300" y="118914"/>
                </a:lnTo>
                <a:lnTo>
                  <a:pt x="100533" y="124681"/>
                </a:lnTo>
                <a:cubicBezTo>
                  <a:pt x="104775" y="133834"/>
                  <a:pt x="107156" y="144028"/>
                  <a:pt x="107156" y="154781"/>
                </a:cubicBezTo>
                <a:cubicBezTo>
                  <a:pt x="107156" y="166576"/>
                  <a:pt x="104291" y="177664"/>
                  <a:pt x="99268" y="187449"/>
                </a:cubicBezTo>
                <a:cubicBezTo>
                  <a:pt x="97520" y="190798"/>
                  <a:pt x="93055" y="191281"/>
                  <a:pt x="90413" y="188602"/>
                </a:cubicBezTo>
                <a:lnTo>
                  <a:pt x="54583" y="152772"/>
                </a:lnTo>
                <a:lnTo>
                  <a:pt x="32258" y="175096"/>
                </a:lnTo>
                <a:cubicBezTo>
                  <a:pt x="27608" y="179747"/>
                  <a:pt x="20055" y="179747"/>
                  <a:pt x="15404" y="175096"/>
                </a:cubicBezTo>
                <a:cubicBezTo>
                  <a:pt x="10753" y="170445"/>
                  <a:pt x="10753" y="162892"/>
                  <a:pt x="15404" y="158242"/>
                </a:cubicBezTo>
                <a:lnTo>
                  <a:pt x="37728" y="135917"/>
                </a:lnTo>
                <a:lnTo>
                  <a:pt x="1898" y="100087"/>
                </a:lnTo>
                <a:cubicBezTo>
                  <a:pt x="-781" y="97408"/>
                  <a:pt x="-298" y="92943"/>
                  <a:pt x="3051" y="91232"/>
                </a:cubicBezTo>
                <a:cubicBezTo>
                  <a:pt x="12836" y="86171"/>
                  <a:pt x="23961" y="83344"/>
                  <a:pt x="35719" y="83344"/>
                </a:cubicBezTo>
                <a:cubicBezTo>
                  <a:pt x="46472" y="83344"/>
                  <a:pt x="56666" y="85725"/>
                  <a:pt x="65819" y="89967"/>
                </a:cubicBezTo>
                <a:lnTo>
                  <a:pt x="71586" y="84200"/>
                </a:lnTo>
                <a:lnTo>
                  <a:pt x="38323" y="50974"/>
                </a:lnTo>
                <a:cubicBezTo>
                  <a:pt x="34826" y="47476"/>
                  <a:pt x="34826" y="41821"/>
                  <a:pt x="38323" y="38360"/>
                </a:cubicBezTo>
                <a:lnTo>
                  <a:pt x="74042" y="2604"/>
                </a:lnTo>
                <a:close/>
                <a:moveTo>
                  <a:pt x="80367" y="21543"/>
                </a:moveTo>
                <a:lnTo>
                  <a:pt x="57262" y="44648"/>
                </a:lnTo>
                <a:lnTo>
                  <a:pt x="84200" y="71586"/>
                </a:lnTo>
                <a:lnTo>
                  <a:pt x="107305" y="48481"/>
                </a:lnTo>
                <a:lnTo>
                  <a:pt x="80367" y="21543"/>
                </a:lnTo>
                <a:close/>
                <a:moveTo>
                  <a:pt x="145852" y="133238"/>
                </a:moveTo>
                <a:lnTo>
                  <a:pt x="168957" y="110133"/>
                </a:lnTo>
                <a:lnTo>
                  <a:pt x="142019" y="83195"/>
                </a:lnTo>
                <a:lnTo>
                  <a:pt x="118914" y="106300"/>
                </a:lnTo>
                <a:lnTo>
                  <a:pt x="145852" y="13323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07827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API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50727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integration with NASA Exoplanet Archive API for up-to-date data and discoveries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2800346"/>
            <a:ext cx="5627370" cy="1226820"/>
          </a:xfrm>
          <a:custGeom>
            <a:avLst/>
            <a:gdLst/>
            <a:ahLst/>
            <a:cxnLst/>
            <a:rect l="l" t="t" r="r" b="b"/>
            <a:pathLst>
              <a:path w="5627370" h="1226820">
                <a:moveTo>
                  <a:pt x="114303" y="0"/>
                </a:moveTo>
                <a:lnTo>
                  <a:pt x="5513067" y="0"/>
                </a:lnTo>
                <a:cubicBezTo>
                  <a:pt x="5576195" y="0"/>
                  <a:pt x="5627370" y="51175"/>
                  <a:pt x="5627370" y="114303"/>
                </a:cubicBezTo>
                <a:lnTo>
                  <a:pt x="5627370" y="1112517"/>
                </a:lnTo>
                <a:cubicBezTo>
                  <a:pt x="5627370" y="1175603"/>
                  <a:pt x="5576153" y="1226820"/>
                  <a:pt x="55130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9120" y="29946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2470" y="31280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156" y="11906"/>
                </a:moveTo>
                <a:cubicBezTo>
                  <a:pt x="107156" y="18492"/>
                  <a:pt x="112477" y="23812"/>
                  <a:pt x="119063" y="23812"/>
                </a:cubicBezTo>
                <a:lnTo>
                  <a:pt x="133945" y="23812"/>
                </a:lnTo>
                <a:cubicBezTo>
                  <a:pt x="138894" y="23812"/>
                  <a:pt x="142875" y="27794"/>
                  <a:pt x="142875" y="32742"/>
                </a:cubicBezTo>
                <a:cubicBezTo>
                  <a:pt x="142875" y="37691"/>
                  <a:pt x="138894" y="41672"/>
                  <a:pt x="133945" y="41672"/>
                </a:cubicBezTo>
                <a:lnTo>
                  <a:pt x="11906" y="41672"/>
                </a:lnTo>
                <a:cubicBezTo>
                  <a:pt x="5321" y="41672"/>
                  <a:pt x="0" y="46992"/>
                  <a:pt x="0" y="53578"/>
                </a:cubicBezTo>
                <a:cubicBezTo>
                  <a:pt x="0" y="60164"/>
                  <a:pt x="5321" y="65484"/>
                  <a:pt x="11906" y="65484"/>
                </a:cubicBezTo>
                <a:lnTo>
                  <a:pt x="133945" y="65484"/>
                </a:lnTo>
                <a:cubicBezTo>
                  <a:pt x="152028" y="65484"/>
                  <a:pt x="166688" y="50825"/>
                  <a:pt x="166688" y="32742"/>
                </a:cubicBezTo>
                <a:cubicBezTo>
                  <a:pt x="166688" y="14660"/>
                  <a:pt x="152028" y="0"/>
                  <a:pt x="133945" y="0"/>
                </a:cubicBezTo>
                <a:lnTo>
                  <a:pt x="119063" y="0"/>
                </a:lnTo>
                <a:cubicBezTo>
                  <a:pt x="112477" y="0"/>
                  <a:pt x="107156" y="5321"/>
                  <a:pt x="107156" y="11906"/>
                </a:cubicBezTo>
                <a:close/>
                <a:moveTo>
                  <a:pt x="130969" y="142875"/>
                </a:moveTo>
                <a:cubicBezTo>
                  <a:pt x="130969" y="149461"/>
                  <a:pt x="136289" y="154781"/>
                  <a:pt x="142875" y="154781"/>
                </a:cubicBezTo>
                <a:lnTo>
                  <a:pt x="154781" y="154781"/>
                </a:lnTo>
                <a:cubicBezTo>
                  <a:pt x="174501" y="154781"/>
                  <a:pt x="190500" y="138782"/>
                  <a:pt x="190500" y="119063"/>
                </a:cubicBezTo>
                <a:cubicBezTo>
                  <a:pt x="190500" y="99343"/>
                  <a:pt x="174501" y="83344"/>
                  <a:pt x="154781" y="83344"/>
                </a:cubicBez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42875" y="130969"/>
                </a:lnTo>
                <a:cubicBezTo>
                  <a:pt x="136289" y="130969"/>
                  <a:pt x="130969" y="136289"/>
                  <a:pt x="130969" y="142875"/>
                </a:cubicBezTo>
                <a:close/>
                <a:moveTo>
                  <a:pt x="47625" y="190500"/>
                </a:moveTo>
                <a:lnTo>
                  <a:pt x="62508" y="190500"/>
                </a:lnTo>
                <a:cubicBezTo>
                  <a:pt x="80590" y="190500"/>
                  <a:pt x="95250" y="175840"/>
                  <a:pt x="95250" y="157758"/>
                </a:cubicBezTo>
                <a:cubicBezTo>
                  <a:pt x="95250" y="139675"/>
                  <a:pt x="80590" y="125016"/>
                  <a:pt x="62508" y="125016"/>
                </a:cubicBezTo>
                <a:lnTo>
                  <a:pt x="11906" y="125016"/>
                </a:lnTo>
                <a:cubicBezTo>
                  <a:pt x="5321" y="125016"/>
                  <a:pt x="0" y="130336"/>
                  <a:pt x="0" y="136922"/>
                </a:cubicBezTo>
                <a:cubicBezTo>
                  <a:pt x="0" y="143508"/>
                  <a:pt x="5321" y="148828"/>
                  <a:pt x="11906" y="148828"/>
                </a:cubicBezTo>
                <a:lnTo>
                  <a:pt x="62508" y="148828"/>
                </a:lnTo>
                <a:cubicBezTo>
                  <a:pt x="67456" y="148828"/>
                  <a:pt x="71438" y="152809"/>
                  <a:pt x="71438" y="157758"/>
                </a:cubicBezTo>
                <a:cubicBezTo>
                  <a:pt x="71438" y="162706"/>
                  <a:pt x="67456" y="166688"/>
                  <a:pt x="62508" y="166688"/>
                </a:cubicBezTo>
                <a:lnTo>
                  <a:pt x="47625" y="166688"/>
                </a:lnTo>
                <a:cubicBezTo>
                  <a:pt x="41039" y="166688"/>
                  <a:pt x="35719" y="172008"/>
                  <a:pt x="35719" y="178594"/>
                </a:cubicBezTo>
                <a:cubicBezTo>
                  <a:pt x="35719" y="185179"/>
                  <a:pt x="41039" y="190500"/>
                  <a:pt x="47625" y="1905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994664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Atmospheric Analysis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4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atmospheric composition analysis using spectroscopic data from JWST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4187201"/>
            <a:ext cx="5627370" cy="1226820"/>
          </a:xfrm>
          <a:custGeom>
            <a:avLst/>
            <a:gdLst/>
            <a:ahLst/>
            <a:cxnLst/>
            <a:rect l="l" t="t" r="r" b="b"/>
            <a:pathLst>
              <a:path w="5627370" h="1226820">
                <a:moveTo>
                  <a:pt x="114303" y="0"/>
                </a:moveTo>
                <a:lnTo>
                  <a:pt x="5513067" y="0"/>
                </a:lnTo>
                <a:cubicBezTo>
                  <a:pt x="5576195" y="0"/>
                  <a:pt x="5627370" y="51175"/>
                  <a:pt x="5627370" y="114303"/>
                </a:cubicBezTo>
                <a:lnTo>
                  <a:pt x="5627370" y="1112517"/>
                </a:lnTo>
                <a:cubicBezTo>
                  <a:pt x="5627370" y="1175603"/>
                  <a:pt x="5576153" y="1226820"/>
                  <a:pt x="55130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912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2470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15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Improvements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724400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ML model improvements with more training data and advanced architectures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010" y="1413510"/>
            <a:ext cx="5627370" cy="1226820"/>
          </a:xfrm>
          <a:custGeom>
            <a:avLst/>
            <a:gdLst/>
            <a:ahLst/>
            <a:cxnLst/>
            <a:rect l="l" t="t" r="r" b="b"/>
            <a:pathLst>
              <a:path w="5627370" h="1226820">
                <a:moveTo>
                  <a:pt x="114303" y="0"/>
                </a:moveTo>
                <a:lnTo>
                  <a:pt x="5513067" y="0"/>
                </a:lnTo>
                <a:cubicBezTo>
                  <a:pt x="5576195" y="0"/>
                  <a:pt x="5627370" y="51175"/>
                  <a:pt x="5627370" y="114303"/>
                </a:cubicBezTo>
                <a:lnTo>
                  <a:pt x="5627370" y="1112517"/>
                </a:lnTo>
                <a:cubicBezTo>
                  <a:pt x="5627370" y="1175603"/>
                  <a:pt x="5576153" y="1226820"/>
                  <a:pt x="55130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0320" y="16078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27482" y="174117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979920" y="1607827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79920" y="1950727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mobile application for on-the-go exoplanet exploration and predictions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6010" y="2800346"/>
            <a:ext cx="5627370" cy="1226820"/>
          </a:xfrm>
          <a:custGeom>
            <a:avLst/>
            <a:gdLst/>
            <a:ahLst/>
            <a:cxnLst/>
            <a:rect l="l" t="t" r="r" b="b"/>
            <a:pathLst>
              <a:path w="5627370" h="1226820">
                <a:moveTo>
                  <a:pt x="114303" y="0"/>
                </a:moveTo>
                <a:lnTo>
                  <a:pt x="5513067" y="0"/>
                </a:lnTo>
                <a:cubicBezTo>
                  <a:pt x="5576195" y="0"/>
                  <a:pt x="5627370" y="51175"/>
                  <a:pt x="5627370" y="114303"/>
                </a:cubicBezTo>
                <a:lnTo>
                  <a:pt x="5627370" y="1112517"/>
                </a:lnTo>
                <a:cubicBezTo>
                  <a:pt x="5627370" y="1175603"/>
                  <a:pt x="5576153" y="1226820"/>
                  <a:pt x="55130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2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1016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0320" y="299466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79857" y="312801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979920" y="2994664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Community Features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79920" y="3337564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accounts, discovery sharing, and collaborative exoplanet research features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4187201"/>
            <a:ext cx="5627370" cy="1226820"/>
          </a:xfrm>
          <a:custGeom>
            <a:avLst/>
            <a:gdLst/>
            <a:ahLst/>
            <a:cxnLst/>
            <a:rect l="l" t="t" r="r" b="b"/>
            <a:pathLst>
              <a:path w="5627370" h="1226820">
                <a:moveTo>
                  <a:pt x="114303" y="0"/>
                </a:moveTo>
                <a:lnTo>
                  <a:pt x="5513067" y="0"/>
                </a:lnTo>
                <a:cubicBezTo>
                  <a:pt x="5576195" y="0"/>
                  <a:pt x="5627370" y="51175"/>
                  <a:pt x="5627370" y="114303"/>
                </a:cubicBezTo>
                <a:lnTo>
                  <a:pt x="5627370" y="1112517"/>
                </a:lnTo>
                <a:cubicBezTo>
                  <a:pt x="5627370" y="1175603"/>
                  <a:pt x="5576153" y="1226820"/>
                  <a:pt x="55130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10B981">
                  <a:alpha val="5000"/>
                </a:srgbClr>
              </a:gs>
            </a:gsLst>
            <a:lin ang="2700000" scaled="1"/>
          </a:gra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032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03670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979920" y="4381500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79920" y="4724400"/>
            <a:ext cx="47053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accessibility with support for multiple languages and regional content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1.ftcdn.net/2033fa18f36ba574341b8ae895a5d943e5363078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44" r="4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B0F19">
                  <a:alpha val="95000"/>
                </a:srgbClr>
              </a:gs>
              <a:gs pos="50000">
                <a:srgbClr val="0B0F19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921210" y="162052"/>
            <a:ext cx="2350770" cy="426720"/>
          </a:xfrm>
          <a:custGeom>
            <a:avLst/>
            <a:gdLst/>
            <a:ahLst/>
            <a:cxnLst/>
            <a:rect l="l" t="t" r="r" b="b"/>
            <a:pathLst>
              <a:path w="2350770" h="426720">
                <a:moveTo>
                  <a:pt x="213360" y="0"/>
                </a:moveTo>
                <a:lnTo>
                  <a:pt x="2137410" y="0"/>
                </a:lnTo>
                <a:cubicBezTo>
                  <a:pt x="2255245" y="0"/>
                  <a:pt x="2350770" y="95525"/>
                  <a:pt x="2350770" y="213360"/>
                </a:cubicBezTo>
                <a:lnTo>
                  <a:pt x="2350770" y="213360"/>
                </a:lnTo>
                <a:cubicBezTo>
                  <a:pt x="2350770" y="331195"/>
                  <a:pt x="2255245" y="426720"/>
                  <a:pt x="21374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39333" y="289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406033" y="2611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ACKNOWLEDGMENTS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8125" y="821178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Credits &amp; Thank You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1545078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50000">
                <a:srgbClr val="8B5CF6"/>
              </a:gs>
              <a:gs pos="100000">
                <a:srgbClr val="10B981"/>
              </a:gs>
            </a:gsLst>
            <a:lin ang="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2883813" y="1910838"/>
            <a:ext cx="6427470" cy="3055620"/>
          </a:xfrm>
          <a:custGeom>
            <a:avLst/>
            <a:gdLst/>
            <a:ahLst/>
            <a:cxnLst/>
            <a:rect l="l" t="t" r="r" b="b"/>
            <a:pathLst>
              <a:path w="6427470" h="3055620">
                <a:moveTo>
                  <a:pt x="152414" y="0"/>
                </a:moveTo>
                <a:lnTo>
                  <a:pt x="6275056" y="0"/>
                </a:lnTo>
                <a:cubicBezTo>
                  <a:pt x="6359232" y="0"/>
                  <a:pt x="6427470" y="68238"/>
                  <a:pt x="6427470" y="152414"/>
                </a:cubicBezTo>
                <a:lnTo>
                  <a:pt x="6427470" y="2903206"/>
                </a:lnTo>
                <a:cubicBezTo>
                  <a:pt x="6427470" y="2987382"/>
                  <a:pt x="6359232" y="3055620"/>
                  <a:pt x="6275056" y="3055620"/>
                </a:cubicBezTo>
                <a:lnTo>
                  <a:pt x="152414" y="3055620"/>
                </a:lnTo>
                <a:cubicBezTo>
                  <a:pt x="68238" y="3055620"/>
                  <a:pt x="0" y="2987382"/>
                  <a:pt x="0" y="2903206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1E293B">
              <a:alpha val="7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16223" y="21432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240048" y="225755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3649623" y="2143255"/>
            <a:ext cx="551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Exoplanet Archive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49623" y="2448055"/>
            <a:ext cx="550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providing comprehensive exoplanet data and maintaining the definitive catalog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116223" y="28290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230523" y="294335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3649623" y="2829055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Kepler &amp; TESS Missions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49623" y="3133855"/>
            <a:ext cx="524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discovering thousands of exoplanets and revolutionizing our understanding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116223" y="35148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3220998" y="362915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3649623" y="3514855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 Source Community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49623" y="3819655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Flask, Scikit-learn, Three.js, and countless other libraries that made this possible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116223" y="42006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3220998" y="431495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3649623" y="4200655"/>
            <a:ext cx="550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Springboard Mentor Program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49623" y="4505455"/>
            <a:ext cx="549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project guidance, support, and educational resources throughout development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808565" y="5198864"/>
            <a:ext cx="6572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2837140" y="5617964"/>
            <a:ext cx="651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2E8F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the cosmos with ExoHabit-AI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205520" y="6117074"/>
            <a:ext cx="2607945" cy="579120"/>
          </a:xfrm>
          <a:custGeom>
            <a:avLst/>
            <a:gdLst/>
            <a:ahLst/>
            <a:cxnLst/>
            <a:rect l="l" t="t" r="r" b="b"/>
            <a:pathLst>
              <a:path w="2607945" h="579120">
                <a:moveTo>
                  <a:pt x="114301" y="0"/>
                </a:moveTo>
                <a:lnTo>
                  <a:pt x="2493644" y="0"/>
                </a:lnTo>
                <a:cubicBezTo>
                  <a:pt x="2556771" y="0"/>
                  <a:pt x="2607945" y="51174"/>
                  <a:pt x="2607945" y="114301"/>
                </a:cubicBezTo>
                <a:lnTo>
                  <a:pt x="2607945" y="464819"/>
                </a:lnTo>
                <a:cubicBezTo>
                  <a:pt x="2607945" y="527946"/>
                  <a:pt x="2556771" y="579120"/>
                  <a:pt x="2493644" y="579120"/>
                </a:cubicBezTo>
                <a:lnTo>
                  <a:pt x="114301" y="579120"/>
                </a:lnTo>
                <a:cubicBezTo>
                  <a:pt x="51174" y="579120"/>
                  <a:pt x="0" y="527946"/>
                  <a:pt x="0" y="4648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 w="1016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61742" y="63112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3790355" y="6235192"/>
            <a:ext cx="1847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790355" y="6387461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/>
              </a:rPr>
              <a:t>exohabit-ai-3ni1.onrender.com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050637" y="6117074"/>
            <a:ext cx="2931795" cy="579120"/>
          </a:xfrm>
          <a:custGeom>
            <a:avLst/>
            <a:gdLst/>
            <a:ahLst/>
            <a:cxnLst/>
            <a:rect l="l" t="t" r="r" b="b"/>
            <a:pathLst>
              <a:path w="2931795" h="579120">
                <a:moveTo>
                  <a:pt x="114301" y="0"/>
                </a:moveTo>
                <a:lnTo>
                  <a:pt x="2817494" y="0"/>
                </a:lnTo>
                <a:cubicBezTo>
                  <a:pt x="2880621" y="0"/>
                  <a:pt x="2931795" y="51174"/>
                  <a:pt x="2931795" y="114301"/>
                </a:cubicBezTo>
                <a:lnTo>
                  <a:pt x="2931795" y="464819"/>
                </a:lnTo>
                <a:cubicBezTo>
                  <a:pt x="2931795" y="527946"/>
                  <a:pt x="2880621" y="579120"/>
                  <a:pt x="2817494" y="579120"/>
                </a:cubicBezTo>
                <a:lnTo>
                  <a:pt x="114301" y="579120"/>
                </a:lnTo>
                <a:cubicBezTo>
                  <a:pt x="51174" y="579120"/>
                  <a:pt x="0" y="527946"/>
                  <a:pt x="0" y="4648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06860" y="63112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6635472" y="6235192"/>
            <a:ext cx="2171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635473" y="6482841"/>
            <a:ext cx="2171700" cy="9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5"/>
              </a:rPr>
              <a:t>https://github.com/springboardmentor1234r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2296</Words>
  <Application>Microsoft Office PowerPoint</Application>
  <PresentationFormat>Widescreen</PresentationFormat>
  <Paragraphs>619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微软雅黑</vt:lpstr>
      <vt:lpstr>Oranienbaum</vt:lpstr>
      <vt:lpstr>Liter</vt:lpstr>
      <vt:lpstr>Arial</vt:lpstr>
      <vt:lpstr>MiSans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ExoHabit-AI: Exploring the Cosmos</dc:title>
  <dc:subject>ExoHabit-AI: Exploring the Cosmos</dc:subject>
  <dc:creator>Nived</dc:creator>
  <cp:lastModifiedBy>nived suresh</cp:lastModifiedBy>
  <cp:revision>2</cp:revision>
  <dcterms:created xsi:type="dcterms:W3CDTF">2026-02-22T08:56:27Z</dcterms:created>
  <dcterms:modified xsi:type="dcterms:W3CDTF">2026-02-22T09:13:18Z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{"Label":"ExoHabit-AI: Exploring the Cosmos","ContentProducer":"001191110108MACG2KBH8F10000","ProduceID":"19c8488e-9002-87eb-8000-00000da983eb","ReservedCode1":"","ContentPropagator":"001191110108MACG2KBH8F20000","PropagateID":"19c8488e-9002-87eb-8000-00000da983eb","ReservedCode2":""}</vt:lpwstr>
  </property>
</Properties>
</file>