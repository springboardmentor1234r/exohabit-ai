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nton" charset="1" panose="00000500000000000000"/>
      <p:regular r:id="rId20"/>
    </p:embeddedFont>
    <p:embeddedFont>
      <p:font typeface="Open Sauce Bold" charset="1" panose="00000800000000000000"/>
      <p:regular r:id="rId21"/>
    </p:embeddedFont>
    <p:embeddedFont>
      <p:font typeface="Open Sauce Medium" charset="1" panose="00000600000000000000"/>
      <p:regular r:id="rId22"/>
    </p:embeddedFont>
    <p:embeddedFont>
      <p:font typeface="Open Sauce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jpe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88346" y="-3337507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04642" y="5852803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74745" y="-604620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60" y="0"/>
                </a:lnTo>
                <a:lnTo>
                  <a:pt x="5714860" y="3584775"/>
                </a:lnTo>
                <a:lnTo>
                  <a:pt x="0" y="3584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63010" y="704183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777845" y="6397177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2215" y="568013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0029" y="497519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11790" y="438085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77845" y="8412754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582963" y="1346835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04107" y="847725"/>
            <a:ext cx="8479787" cy="496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2"/>
              </a:lnSpc>
              <a:spcBef>
                <a:spcPct val="0"/>
              </a:spcBef>
            </a:pPr>
            <a:r>
              <a:rPr lang="en-US" sz="94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BEYOND EARTH  THE QUEST FOR HABITABILITY</a:t>
            </a:r>
            <a:r>
              <a:rPr lang="en-US" sz="94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11229" y="6965632"/>
            <a:ext cx="11790765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Assessing Life-Sustaining Potential in the Cosmos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71212" y="5143500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66273" y="2571814"/>
            <a:ext cx="7593027" cy="3263877"/>
            <a:chOff x="0" y="0"/>
            <a:chExt cx="945442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5442" cy="406400"/>
            </a:xfrm>
            <a:custGeom>
              <a:avLst/>
              <a:gdLst/>
              <a:ahLst/>
              <a:cxnLst/>
              <a:rect r="r" b="b" t="t" l="l"/>
              <a:pathLst>
                <a:path h="406400" w="945442">
                  <a:moveTo>
                    <a:pt x="742242" y="0"/>
                  </a:moveTo>
                  <a:cubicBezTo>
                    <a:pt x="854472" y="0"/>
                    <a:pt x="945442" y="90970"/>
                    <a:pt x="945442" y="203200"/>
                  </a:cubicBezTo>
                  <a:cubicBezTo>
                    <a:pt x="945442" y="315430"/>
                    <a:pt x="854472" y="406400"/>
                    <a:pt x="742242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742242" y="0"/>
                  </a:lnTo>
                </a:path>
              </a:pathLst>
            </a:custGeom>
            <a:blipFill>
              <a:blip r:embed="rId4"/>
              <a:stretch>
                <a:fillRect l="0" t="-27405" r="0" b="-27405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66273" y="5994423"/>
            <a:ext cx="7593027" cy="3263877"/>
            <a:chOff x="0" y="0"/>
            <a:chExt cx="94544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5442" cy="406400"/>
            </a:xfrm>
            <a:custGeom>
              <a:avLst/>
              <a:gdLst/>
              <a:ahLst/>
              <a:cxnLst/>
              <a:rect r="r" b="b" t="t" l="l"/>
              <a:pathLst>
                <a:path h="406400" w="945442">
                  <a:moveTo>
                    <a:pt x="742242" y="0"/>
                  </a:moveTo>
                  <a:cubicBezTo>
                    <a:pt x="854472" y="0"/>
                    <a:pt x="945442" y="90970"/>
                    <a:pt x="945442" y="203200"/>
                  </a:cubicBezTo>
                  <a:cubicBezTo>
                    <a:pt x="945442" y="315430"/>
                    <a:pt x="854472" y="406400"/>
                    <a:pt x="742242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742242" y="0"/>
                  </a:lnTo>
                </a:path>
              </a:pathLst>
            </a:custGeom>
            <a:blipFill>
              <a:blip r:embed="rId5"/>
              <a:stretch>
                <a:fillRect l="0" t="-15350" r="0" b="-1535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4205403" y="1486596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5" y="0"/>
                </a:lnTo>
                <a:lnTo>
                  <a:pt x="7771705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5829" y="310576"/>
            <a:ext cx="7160121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THE CORE CHALLENGE: FINDING "EARTH 2.0"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5829" y="2839558"/>
            <a:ext cx="6252968" cy="597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571" indent="-260286" lvl="1">
              <a:lnSpc>
                <a:spcPts val="3375"/>
              </a:lnSpc>
              <a:buFont typeface="Arial"/>
              <a:buChar char="•"/>
            </a:pPr>
            <a:r>
              <a:rPr lang="en-US" b="true" sz="241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Search for Life: Humanity seeks to answer if we are alone, but the sheer scale of the universe makes targeting the right planets difficult.</a:t>
            </a:r>
          </a:p>
          <a:p>
            <a:pPr algn="l" marL="520571" indent="-260286" lvl="1">
              <a:lnSpc>
                <a:spcPts val="3375"/>
              </a:lnSpc>
              <a:buFont typeface="Arial"/>
              <a:buChar char="•"/>
            </a:pPr>
            <a:r>
              <a:rPr lang="en-US" b="true" sz="241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Overload: With thousands of exoplanets discovered, identifying which ones possess the right conditions requires sophisticated filtering.</a:t>
            </a:r>
          </a:p>
          <a:p>
            <a:pPr algn="l" marL="520571" indent="-260286" lvl="1">
              <a:lnSpc>
                <a:spcPts val="3375"/>
              </a:lnSpc>
              <a:buFont typeface="Arial"/>
              <a:buChar char="•"/>
            </a:pPr>
            <a:r>
              <a:rPr lang="en-US" b="true" sz="241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Distance Barriers: We cannot visit these worlds yet, so we must rely on remote sensing and atmospheric modeling.</a:t>
            </a:r>
          </a:p>
          <a:p>
            <a:pPr algn="l">
              <a:lnSpc>
                <a:spcPts val="3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832048" y="635841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6" y="0"/>
                </a:lnTo>
                <a:lnTo>
                  <a:pt x="3481456" y="2861124"/>
                </a:lnTo>
                <a:lnTo>
                  <a:pt x="0" y="2861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048787" y="8494612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60" y="0"/>
                </a:lnTo>
                <a:lnTo>
                  <a:pt x="5714860" y="3584776"/>
                </a:lnTo>
                <a:lnTo>
                  <a:pt x="0" y="3584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78657" y="7940048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12228" y="223520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72465" y="827665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865683" y="5204144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62787" y="86039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1" y="0"/>
                </a:lnTo>
                <a:lnTo>
                  <a:pt x="306781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37396" y="148659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05098" y="667240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71814"/>
            <a:ext cx="3729869" cy="6686486"/>
            <a:chOff x="0" y="0"/>
            <a:chExt cx="660400" cy="1183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1183890"/>
            </a:xfrm>
            <a:custGeom>
              <a:avLst/>
              <a:gdLst/>
              <a:ahLst/>
              <a:cxnLst/>
              <a:rect r="r" b="b" t="t" l="l"/>
              <a:pathLst>
                <a:path h="118389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6745"/>
                  </a:cubicBezTo>
                  <a:lnTo>
                    <a:pt x="660400" y="1183890"/>
                  </a:lnTo>
                  <a:lnTo>
                    <a:pt x="0" y="1183890"/>
                  </a:lnTo>
                  <a:lnTo>
                    <a:pt x="0" y="33737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4"/>
              <a:stretch>
                <a:fillRect l="-72634" t="0" r="-72634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890531" y="2571814"/>
            <a:ext cx="3729869" cy="6686486"/>
            <a:chOff x="0" y="0"/>
            <a:chExt cx="660400" cy="1183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1183890"/>
            </a:xfrm>
            <a:custGeom>
              <a:avLst/>
              <a:gdLst/>
              <a:ahLst/>
              <a:cxnLst/>
              <a:rect r="r" b="b" t="t" l="l"/>
              <a:pathLst>
                <a:path h="118389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6745"/>
                  </a:cubicBezTo>
                  <a:lnTo>
                    <a:pt x="660400" y="1183890"/>
                  </a:lnTo>
                  <a:lnTo>
                    <a:pt x="0" y="1183890"/>
                  </a:lnTo>
                  <a:lnTo>
                    <a:pt x="0" y="33737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5"/>
              <a:stretch>
                <a:fillRect l="-10625" t="0" r="-10625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364430" y="5143500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88496" y="2069148"/>
            <a:ext cx="8151386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THE "HABITABILITY STACK": DEFINING THE CRITERIA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377656" y="-763322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5" y="0"/>
                </a:lnTo>
                <a:lnTo>
                  <a:pt x="3481455" y="2861123"/>
                </a:lnTo>
                <a:lnTo>
                  <a:pt x="0" y="2861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99664" y="790041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655227" y="800364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88496" y="4655638"/>
            <a:ext cx="7160121" cy="421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Liquid Water: The primary solvent for life as we know it.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Energy Source: Stable radiation from a parent star or internal tidal heating.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Chemical Building Blocks: Presence of carbon, hydrogen, nitrogen, oxygen, phosphorus, and sulfur (CHNOPS).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Stable Environment: A protective atmosphere and magnetic field.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03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281676" y="69209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13076" y="1346835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1" y="0"/>
                </a:lnTo>
                <a:lnTo>
                  <a:pt x="306781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1918" y="49893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1963" y="-2857152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5" y="0"/>
                </a:lnTo>
                <a:lnTo>
                  <a:pt x="7771705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44422"/>
            <a:ext cx="7971000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THE STELLAR CONTEXT</a:t>
            </a:r>
          </a:p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(THE "SERVER" OF LIFE)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04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82091" y="4975196"/>
            <a:ext cx="7160121" cy="1225058"/>
            <a:chOff x="0" y="0"/>
            <a:chExt cx="9546829" cy="163341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81931"/>
              <a:ext cx="1051480" cy="1051480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04209" y="847956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17999" y="713427"/>
              <a:ext cx="762883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Offer a balanced lifespan and radiation levels but are less common.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17999" y="-47625"/>
              <a:ext cx="762883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G-Type Stars (Sun-like)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1884063" y="6967252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7797400"/>
            <a:ext cx="7160121" cy="1460900"/>
            <a:chOff x="0" y="0"/>
            <a:chExt cx="9546829" cy="194786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581931"/>
              <a:ext cx="1051480" cy="105148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4209" y="847956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17999" y="713427"/>
              <a:ext cx="7628830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Most common stars in the galaxy; however, they often feature violent flares that could strip atmospheres.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917999" y="-47625"/>
              <a:ext cx="762883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M-Dwarf Stars (Red Dwarfs)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99179" y="5506352"/>
            <a:ext cx="7160121" cy="1225058"/>
            <a:chOff x="0" y="0"/>
            <a:chExt cx="9546829" cy="163341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581931"/>
              <a:ext cx="1051480" cy="105148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4209" y="847956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917999" y="713427"/>
              <a:ext cx="762883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These stars are larger and hotter than the Sun, providing an expansive habitable zone.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917999" y="-47625"/>
              <a:ext cx="762883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F-Type Stars (Hyper-Scale Hosts)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99179" y="7797400"/>
            <a:ext cx="7468515" cy="1775225"/>
            <a:chOff x="0" y="0"/>
            <a:chExt cx="9958020" cy="236696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581931"/>
              <a:ext cx="1051480" cy="1051480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04209" y="847956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917999" y="713427"/>
              <a:ext cx="8040021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This is the specific orbital range where temperatures allow liquid water to exist on a surface, serving as the "core environment" required for habitability.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917999" y="-47625"/>
              <a:ext cx="762883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The Goldilocks Zone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true" flipV="false" rot="0">
            <a:off x="10197784" y="-826920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999700" y="480689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037456" y="1178531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1" y="0"/>
                </a:lnTo>
                <a:lnTo>
                  <a:pt x="306781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7456987" y="748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3286125" y="657414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75309" y="603641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false" rot="0">
            <a:off x="11938512" y="1515139"/>
            <a:ext cx="3483252" cy="2862600"/>
          </a:xfrm>
          <a:custGeom>
            <a:avLst/>
            <a:gdLst/>
            <a:ahLst/>
            <a:cxnLst/>
            <a:rect r="r" b="b" t="t" l="l"/>
            <a:pathLst>
              <a:path h="2862600" w="3483252">
                <a:moveTo>
                  <a:pt x="3483252" y="0"/>
                </a:moveTo>
                <a:lnTo>
                  <a:pt x="0" y="0"/>
                </a:lnTo>
                <a:lnTo>
                  <a:pt x="0" y="2862600"/>
                </a:lnTo>
                <a:lnTo>
                  <a:pt x="3483252" y="2862600"/>
                </a:lnTo>
                <a:lnTo>
                  <a:pt x="34832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79239" y="3268058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5" y="0"/>
                </a:lnTo>
                <a:lnTo>
                  <a:pt x="7771705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95711" y="2571814"/>
            <a:ext cx="7263589" cy="6584715"/>
            <a:chOff x="0" y="0"/>
            <a:chExt cx="9684785" cy="877962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383380"/>
              <a:ext cx="9684785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9684785" cy="8141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Random Forest Classifier: This ensemble learning method serves as our primary model for predicting if a distant world is habitable.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Data Sourcing: The system is trained on extensive NASA exoplanet datasets to ensure high-fidelity results.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Predictive Power: The framework is built to handle 11 distinct input features for every planet analyzed.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Deployment: The application utilizes a modern interface to make complex astrophysical data accessible to users.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7065566" y="-985916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09786" y="1187768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571814"/>
            <a:ext cx="8335282" cy="3751948"/>
            <a:chOff x="0" y="0"/>
            <a:chExt cx="90285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2853" cy="406400"/>
            </a:xfrm>
            <a:custGeom>
              <a:avLst/>
              <a:gdLst/>
              <a:ahLst/>
              <a:cxnLst/>
              <a:rect r="r" b="b" t="t" l="l"/>
              <a:pathLst>
                <a:path h="406400" w="902853">
                  <a:moveTo>
                    <a:pt x="699653" y="0"/>
                  </a:moveTo>
                  <a:cubicBezTo>
                    <a:pt x="811883" y="0"/>
                    <a:pt x="902853" y="90970"/>
                    <a:pt x="902853" y="203200"/>
                  </a:cubicBezTo>
                  <a:cubicBezTo>
                    <a:pt x="902853" y="315430"/>
                    <a:pt x="811883" y="406400"/>
                    <a:pt x="699653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699653" y="0"/>
                  </a:lnTo>
                </a:path>
              </a:pathLst>
            </a:custGeom>
            <a:blipFill>
              <a:blip r:embed="rId6"/>
              <a:stretch>
                <a:fillRect l="0" t="-21696" r="0" b="-21696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065566" y="1706903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69110" y="69209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7030085"/>
            <a:ext cx="8335282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TECHNOLOGY STACK: THE ML FRAMEWORK EXPLAINED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81075"/>
            <a:ext cx="269233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Fradel and Spies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05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7030384" y="9258300"/>
            <a:ext cx="457832" cy="502343"/>
          </a:xfrm>
          <a:custGeom>
            <a:avLst/>
            <a:gdLst/>
            <a:ahLst/>
            <a:cxnLst/>
            <a:rect r="r" b="b" t="t" l="l"/>
            <a:pathLst>
              <a:path h="502343" w="457832">
                <a:moveTo>
                  <a:pt x="0" y="0"/>
                </a:moveTo>
                <a:lnTo>
                  <a:pt x="457832" y="0"/>
                </a:lnTo>
                <a:lnTo>
                  <a:pt x="457832" y="502343"/>
                </a:lnTo>
                <a:lnTo>
                  <a:pt x="0" y="502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043792" y="892169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261" y="1223010"/>
            <a:ext cx="7971000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CORE FEATURES OF THE EXOHABIT PLATFORM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87709" y="5143500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31046" y="4216781"/>
            <a:ext cx="7505898" cy="7831311"/>
            <a:chOff x="0" y="0"/>
            <a:chExt cx="10007864" cy="104417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9214852" cy="8141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Real-Time Prediction: Users can input specific planet parameters to get an immediate habitability score.</a:t>
              </a: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Interactive Rankings: A centralized leaderboard displays the most promising candidates ranked by probability.</a:t>
              </a: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Detailed Analytics: A comprehensive dashboard provides insights into model logic and data distribution.</a:t>
              </a: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Massive Dataset Handling: The platform efficiently processes tens of thousands of individual planetary entries.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379034" y="9969943"/>
              <a:ext cx="762883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Lunar Diversity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472545" y="-804452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099179" y="2571814"/>
            <a:ext cx="7160121" cy="5341547"/>
            <a:chOff x="0" y="0"/>
            <a:chExt cx="54476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4762" cy="406400"/>
            </a:xfrm>
            <a:custGeom>
              <a:avLst/>
              <a:gdLst/>
              <a:ahLst/>
              <a:cxnLst/>
              <a:rect r="r" b="b" t="t" l="l"/>
              <a:pathLst>
                <a:path h="406400" w="544762">
                  <a:moveTo>
                    <a:pt x="341562" y="0"/>
                  </a:moveTo>
                  <a:cubicBezTo>
                    <a:pt x="453792" y="0"/>
                    <a:pt x="544762" y="90970"/>
                    <a:pt x="544762" y="203200"/>
                  </a:cubicBezTo>
                  <a:cubicBezTo>
                    <a:pt x="544762" y="315430"/>
                    <a:pt x="453792" y="406400"/>
                    <a:pt x="341562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341562" y="0"/>
                  </a:lnTo>
                </a:path>
              </a:pathLst>
            </a:custGeom>
            <a:blipFill>
              <a:blip r:embed="rId4"/>
              <a:stretch>
                <a:fillRect l="-4853" t="0" r="-4853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188821" y="-1557164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60" y="0"/>
                </a:lnTo>
                <a:lnTo>
                  <a:pt x="5714860" y="3584775"/>
                </a:lnTo>
                <a:lnTo>
                  <a:pt x="0" y="358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38181" y="235224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37218" y="4507900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06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8358451" y="7425877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952518" y="822885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7"/>
                </a:lnTo>
                <a:lnTo>
                  <a:pt x="0" y="336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50290" y="8856438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3650" y="4746248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0447" y="3218781"/>
            <a:ext cx="6602746" cy="655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Data Complexity: Analyzing diverse planetary systems involves managing inconsistent metrics across thousands of light-years.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Manual Inefficiencies: Traditional methods of identifying habitable worlds rely on manual processes that are slow and prone to human error.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Information Disconnect: There is often a lack of centralized, real-time data for astronomers to prioritize targets.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Solution: Implementing an AI-driven platform facilitates streamlined data management and more accurate filtering.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968976" y="-3025456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667600" y="2571814"/>
            <a:ext cx="3729869" cy="6686486"/>
            <a:chOff x="0" y="0"/>
            <a:chExt cx="660400" cy="1183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1183890"/>
            </a:xfrm>
            <a:custGeom>
              <a:avLst/>
              <a:gdLst/>
              <a:ahLst/>
              <a:cxnLst/>
              <a:rect r="r" b="b" t="t" l="l"/>
              <a:pathLst>
                <a:path h="118389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6745"/>
                  </a:cubicBezTo>
                  <a:lnTo>
                    <a:pt x="660400" y="1183890"/>
                  </a:lnTo>
                  <a:lnTo>
                    <a:pt x="0" y="1183890"/>
                  </a:lnTo>
                  <a:lnTo>
                    <a:pt x="0" y="33737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4"/>
              <a:stretch>
                <a:fillRect l="-10986" t="0" r="-10986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529431" y="2571814"/>
            <a:ext cx="3729869" cy="6686486"/>
            <a:chOff x="0" y="0"/>
            <a:chExt cx="660400" cy="1183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183890"/>
            </a:xfrm>
            <a:custGeom>
              <a:avLst/>
              <a:gdLst/>
              <a:ahLst/>
              <a:cxnLst/>
              <a:rect r="r" b="b" t="t" l="l"/>
              <a:pathLst>
                <a:path h="118389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6745"/>
                  </a:cubicBezTo>
                  <a:lnTo>
                    <a:pt x="660400" y="1183890"/>
                  </a:lnTo>
                  <a:lnTo>
                    <a:pt x="0" y="1183890"/>
                  </a:lnTo>
                  <a:lnTo>
                    <a:pt x="0" y="33737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5"/>
              <a:stretch>
                <a:fillRect l="-9810" t="0" r="-981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true" flipV="false" rot="0">
            <a:off x="7115876" y="-985916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6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6" y="2861123"/>
                </a:lnTo>
                <a:lnTo>
                  <a:pt x="34814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88821" y="1875207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9143" y="69209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30447" y="736571"/>
            <a:ext cx="7827904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CHALLENGES IN EXOPLANET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02252" y="1044699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4"/>
                </a:lnTo>
                <a:lnTo>
                  <a:pt x="0" y="777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45798" y="1962673"/>
            <a:ext cx="7827904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SYSTEM ARCHITECTURE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45798" y="4467113"/>
            <a:ext cx="7656708" cy="512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015" indent="-264007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Modular Design: Each feature—from prediction to analytics—operates as an independent module for easy updates.</a:t>
            </a:r>
          </a:p>
          <a:p>
            <a:pPr algn="l" marL="528015" indent="-264007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Secure API Integration: RESTful APIs facilitate communication between the machine learning backend and the user interface.</a:t>
            </a:r>
          </a:p>
          <a:p>
            <a:pPr algn="l" marL="528015" indent="-264007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Data Integrity: Implementation of secure protocols ensures that research data remains consistent and protected.</a:t>
            </a:r>
          </a:p>
          <a:p>
            <a:pPr algn="l" marL="528015" indent="-264007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Scalability: The architecture supports the addition of millions of new data points as future space missions uncover more planets.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857152" y="2108570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571814"/>
            <a:ext cx="7593027" cy="3263877"/>
            <a:chOff x="0" y="0"/>
            <a:chExt cx="94544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442" cy="406400"/>
            </a:xfrm>
            <a:custGeom>
              <a:avLst/>
              <a:gdLst/>
              <a:ahLst/>
              <a:cxnLst/>
              <a:rect r="r" b="b" t="t" l="l"/>
              <a:pathLst>
                <a:path h="406400" w="945442">
                  <a:moveTo>
                    <a:pt x="742242" y="0"/>
                  </a:moveTo>
                  <a:cubicBezTo>
                    <a:pt x="854472" y="0"/>
                    <a:pt x="945442" y="90970"/>
                    <a:pt x="945442" y="203200"/>
                  </a:cubicBezTo>
                  <a:cubicBezTo>
                    <a:pt x="945442" y="315430"/>
                    <a:pt x="854472" y="406400"/>
                    <a:pt x="742242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742242" y="0"/>
                  </a:lnTo>
                </a:path>
              </a:pathLst>
            </a:custGeom>
            <a:blipFill>
              <a:blip r:embed="rId4"/>
              <a:stretch>
                <a:fillRect l="0" t="-39248" r="0" b="-39248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994423"/>
            <a:ext cx="7593027" cy="3263877"/>
            <a:chOff x="0" y="0"/>
            <a:chExt cx="94544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5442" cy="406400"/>
            </a:xfrm>
            <a:custGeom>
              <a:avLst/>
              <a:gdLst/>
              <a:ahLst/>
              <a:cxnLst/>
              <a:rect r="r" b="b" t="t" l="l"/>
              <a:pathLst>
                <a:path h="406400" w="945442">
                  <a:moveTo>
                    <a:pt x="742242" y="0"/>
                  </a:moveTo>
                  <a:cubicBezTo>
                    <a:pt x="854472" y="0"/>
                    <a:pt x="945442" y="90970"/>
                    <a:pt x="945442" y="203200"/>
                  </a:cubicBezTo>
                  <a:cubicBezTo>
                    <a:pt x="945442" y="315430"/>
                    <a:pt x="854472" y="406400"/>
                    <a:pt x="742242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742242" y="0"/>
                  </a:lnTo>
                </a:path>
              </a:pathLst>
            </a:custGeom>
            <a:blipFill>
              <a:blip r:embed="rId5"/>
              <a:stretch>
                <a:fillRect l="0" t="-15350" r="0" b="-1535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591517" y="219344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6" y="0"/>
                </a:lnTo>
                <a:lnTo>
                  <a:pt x="3481456" y="2861123"/>
                </a:lnTo>
                <a:lnTo>
                  <a:pt x="0" y="2861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086600" y="-23526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34185" y="1346835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62742" y="1010227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09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98521" y="1894414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82225" y="2135296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8500" y="2447989"/>
            <a:ext cx="7971000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 PAGE: THE PROJECT AT A GLANCE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55759" y="5207736"/>
            <a:ext cx="4481455" cy="2621778"/>
            <a:chOff x="0" y="0"/>
            <a:chExt cx="5975273" cy="349570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61264"/>
              <a:ext cx="5975273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Our model has successfully analyzed 39,212 exoplanets from the NASA archive.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Total Scope: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03273" y="5207736"/>
            <a:ext cx="4481455" cy="2307453"/>
            <a:chOff x="0" y="0"/>
            <a:chExt cx="5975273" cy="30766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261264"/>
              <a:ext cx="5975273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We have achieved an impressive ~95% model accuracy during testing phases.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High Performance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50787" y="5207736"/>
            <a:ext cx="4481455" cy="2307453"/>
            <a:chOff x="0" y="0"/>
            <a:chExt cx="5975273" cy="307660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261264"/>
              <a:ext cx="5975273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Planets are classified across 7 different spectral classes of stars.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Diverse Categorization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6032095" y="194227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5" y="0"/>
                </a:lnTo>
                <a:lnTo>
                  <a:pt x="3481455" y="2861123"/>
                </a:lnTo>
                <a:lnTo>
                  <a:pt x="0" y="2861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-1225550" y="194227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542222" y="80814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15393" y="7931265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59" y="0"/>
                </a:lnTo>
                <a:lnTo>
                  <a:pt x="5714859" y="3584776"/>
                </a:lnTo>
                <a:lnTo>
                  <a:pt x="0" y="3584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8977" y="5732404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007235" y="2863883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100223" y="2695579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7105909" y="540347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10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98521" y="1894414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82225" y="2135296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40613" y="1770589"/>
            <a:ext cx="9333014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PREDICT PAGE: INTERACTIVE HABITABILITY TESTING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55759" y="5207736"/>
            <a:ext cx="4481455" cy="2621778"/>
            <a:chOff x="0" y="0"/>
            <a:chExt cx="5975273" cy="349570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61264"/>
              <a:ext cx="5975273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The interface allows users to easily enter planetary data points for instant analysis.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Seamless Onboarding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03273" y="5207736"/>
            <a:ext cx="4481455" cy="2621778"/>
            <a:chOff x="0" y="0"/>
            <a:chExt cx="5975273" cy="34957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261264"/>
              <a:ext cx="5975273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Users also provide details on the host star, such as its Temperature and Metallicity.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Stellar Context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50787" y="5207736"/>
            <a:ext cx="4481455" cy="2621778"/>
            <a:chOff x="0" y="0"/>
            <a:chExt cx="5975273" cy="349570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261264"/>
              <a:ext cx="5975273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Clicking "Predict Habitability" generates a score based on the Random Forest decision trees.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Immediate Feedback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6032095" y="194227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5" y="0"/>
                </a:lnTo>
                <a:lnTo>
                  <a:pt x="3481455" y="2861123"/>
                </a:lnTo>
                <a:lnTo>
                  <a:pt x="0" y="2861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-1225550" y="194227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542222" y="80814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15393" y="7931265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59" y="0"/>
                </a:lnTo>
                <a:lnTo>
                  <a:pt x="5714859" y="3584776"/>
                </a:lnTo>
                <a:lnTo>
                  <a:pt x="0" y="3584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8977" y="5732404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007235" y="2863883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100223" y="2695579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7105909" y="540347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11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98521" y="1894414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82225" y="2135296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8500" y="2447989"/>
            <a:ext cx="8697927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RANKINGS: THE HABITABILITY LEADERBOARD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55759" y="5207736"/>
            <a:ext cx="4481455" cy="2621778"/>
            <a:chOff x="0" y="0"/>
            <a:chExt cx="5975273" cy="349570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61264"/>
              <a:ext cx="5975273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ranking system identifies the worlds with the highest probability of life-sustaining conditions.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Prioritized Results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03273" y="5207736"/>
            <a:ext cx="4481455" cy="2621778"/>
            <a:chOff x="0" y="0"/>
            <a:chExt cx="5975273" cy="34957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261264"/>
              <a:ext cx="5975273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Researchers can compare Orbital Periods and Star Types side-by-side to find trends.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Comparative View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50787" y="5207736"/>
            <a:ext cx="4481455" cy="2621778"/>
            <a:chOff x="0" y="0"/>
            <a:chExt cx="5975273" cy="349570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261264"/>
              <a:ext cx="5975273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This leaderboard reduces manual coordination by highlighting the "best" targets immediately.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Efficiency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6032095" y="194227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5" y="0"/>
                </a:lnTo>
                <a:lnTo>
                  <a:pt x="3481455" y="2861123"/>
                </a:lnTo>
                <a:lnTo>
                  <a:pt x="0" y="2861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-1225550" y="194227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542222" y="80814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15393" y="7931265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59" y="0"/>
                </a:lnTo>
                <a:lnTo>
                  <a:pt x="5714859" y="3584776"/>
                </a:lnTo>
                <a:lnTo>
                  <a:pt x="0" y="3584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8977" y="5732404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007235" y="2863883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100223" y="2695579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7105909" y="540347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12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98521" y="1894414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82225" y="2135296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8500" y="2447989"/>
            <a:ext cx="7971000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ANALYTICS DASHBOARD DEEP DATA INSIGHTS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55759" y="5207736"/>
            <a:ext cx="4481455" cy="2621778"/>
            <a:chOff x="0" y="0"/>
            <a:chExt cx="5975273" cy="349570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61264"/>
              <a:ext cx="5975273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Equilibrium Temperature and Planet Radius are identified as the most critical factors for our model.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Analytics Dashboard: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03273" y="5207736"/>
            <a:ext cx="4481455" cy="2936103"/>
            <a:chOff x="0" y="0"/>
            <a:chExt cx="5975273" cy="39148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261264"/>
              <a:ext cx="5975273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dashboard visualizes that while thousands of planets exist, only a fraction fall into the 0.9-1.0 habitability range.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Score Distribution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50787" y="5207736"/>
            <a:ext cx="4481455" cy="2307453"/>
            <a:chOff x="0" y="0"/>
            <a:chExt cx="5975273" cy="307660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461896" y="0"/>
              <a:ext cx="1051480" cy="105148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666106" y="266025"/>
              <a:ext cx="64306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261264"/>
              <a:ext cx="5975273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Comparative scatter plots help identify clusters where habitability is most likely.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500212"/>
              <a:ext cx="597527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Interactive Visuals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6032095" y="194227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5" y="0"/>
                </a:lnTo>
                <a:lnTo>
                  <a:pt x="3481455" y="2861123"/>
                </a:lnTo>
                <a:lnTo>
                  <a:pt x="0" y="2861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-1225550" y="1942278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542222" y="80814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15393" y="7931265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59" y="0"/>
                </a:lnTo>
                <a:lnTo>
                  <a:pt x="5714859" y="3584776"/>
                </a:lnTo>
                <a:lnTo>
                  <a:pt x="0" y="3584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8977" y="5732404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007235" y="2863883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100223" y="2695579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7105909" y="540347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73448" y="663957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93387" y="2326822"/>
            <a:ext cx="7160121" cy="6320555"/>
            <a:chOff x="0" y="0"/>
            <a:chExt cx="9546829" cy="842740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031167"/>
              <a:ext cx="9546829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9546829" cy="7789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Predictive Atmosphere Modeling: Future versions will forecast the likelihood of oxygen or methane based on mass and temperature.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AI Recommendations: We plan to utilize AI to suggest similar planets to users based on their search history and interests.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Smart Reminders: The platform could notify researchers when new telescope data for a high-probability planet becomes available.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FF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Continuous Learning: The system will refine its suggestions through a continuous feedback loop from the scientific community.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575363" y="4549809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4" y="0"/>
                </a:lnTo>
                <a:lnTo>
                  <a:pt x="7771704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506352"/>
            <a:ext cx="8335282" cy="3751948"/>
            <a:chOff x="0" y="0"/>
            <a:chExt cx="90285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2853" cy="406400"/>
            </a:xfrm>
            <a:custGeom>
              <a:avLst/>
              <a:gdLst/>
              <a:ahLst/>
              <a:cxnLst/>
              <a:rect r="r" b="b" t="t" l="l"/>
              <a:pathLst>
                <a:path h="406400" w="902853">
                  <a:moveTo>
                    <a:pt x="699653" y="0"/>
                  </a:moveTo>
                  <a:cubicBezTo>
                    <a:pt x="811883" y="0"/>
                    <a:pt x="902853" y="90970"/>
                    <a:pt x="902853" y="203200"/>
                  </a:cubicBezTo>
                  <a:cubicBezTo>
                    <a:pt x="902853" y="315430"/>
                    <a:pt x="811883" y="406400"/>
                    <a:pt x="699653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699653" y="0"/>
                  </a:lnTo>
                </a:path>
              </a:pathLst>
            </a:custGeom>
            <a:blipFill>
              <a:blip r:embed="rId4"/>
              <a:stretch>
                <a:fillRect l="0" t="-26043" r="0" b="-2604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7259300" y="2991650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5" y="0"/>
                </a:lnTo>
                <a:lnTo>
                  <a:pt x="3481455" y="2861123"/>
                </a:lnTo>
                <a:lnTo>
                  <a:pt x="0" y="28611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38788" y="442221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41749" y="-1792388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59" y="0"/>
                </a:lnTo>
                <a:lnTo>
                  <a:pt x="5714859" y="3584776"/>
                </a:lnTo>
                <a:lnTo>
                  <a:pt x="0" y="35847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314514"/>
            <a:ext cx="6969326" cy="336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FUTURE ENHANCEMENTS FOR EXOHABIT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800118" y="892169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1" y="0"/>
                </a:lnTo>
                <a:lnTo>
                  <a:pt x="306781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038054" y="908999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54828" y="981075"/>
            <a:ext cx="1404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Page 14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195593" y="3198197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5" y="0"/>
                </a:lnTo>
                <a:lnTo>
                  <a:pt x="7771705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77212" y="-3469935"/>
            <a:ext cx="7771704" cy="7771704"/>
          </a:xfrm>
          <a:custGeom>
            <a:avLst/>
            <a:gdLst/>
            <a:ahLst/>
            <a:cxnLst/>
            <a:rect r="r" b="b" t="t" l="l"/>
            <a:pathLst>
              <a:path h="7771704" w="7771704">
                <a:moveTo>
                  <a:pt x="0" y="0"/>
                </a:moveTo>
                <a:lnTo>
                  <a:pt x="7771705" y="0"/>
                </a:lnTo>
                <a:lnTo>
                  <a:pt x="7771705" y="7771705"/>
                </a:lnTo>
                <a:lnTo>
                  <a:pt x="0" y="77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54086" y="4244091"/>
            <a:ext cx="13974260" cy="161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2"/>
              </a:lnSpc>
              <a:spcBef>
                <a:spcPct val="0"/>
              </a:spcBef>
            </a:pPr>
            <a:r>
              <a:rPr lang="en-US" sz="94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 FOR JOINING US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998026" y="-1617145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60" y="0"/>
                </a:lnTo>
                <a:lnTo>
                  <a:pt x="5714860" y="3584775"/>
                </a:lnTo>
                <a:lnTo>
                  <a:pt x="0" y="3584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45484" y="5424287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0" y="0"/>
                </a:moveTo>
                <a:lnTo>
                  <a:pt x="3481455" y="0"/>
                </a:lnTo>
                <a:lnTo>
                  <a:pt x="3481455" y="2861123"/>
                </a:lnTo>
                <a:lnTo>
                  <a:pt x="0" y="2861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14969" y="2689558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34434" y="7084050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77598" y="6854848"/>
            <a:ext cx="5714860" cy="3584776"/>
          </a:xfrm>
          <a:custGeom>
            <a:avLst/>
            <a:gdLst/>
            <a:ahLst/>
            <a:cxnLst/>
            <a:rect r="r" b="b" t="t" l="l"/>
            <a:pathLst>
              <a:path h="3584776" w="5714860">
                <a:moveTo>
                  <a:pt x="0" y="0"/>
                </a:moveTo>
                <a:lnTo>
                  <a:pt x="5714859" y="0"/>
                </a:lnTo>
                <a:lnTo>
                  <a:pt x="5714859" y="3584776"/>
                </a:lnTo>
                <a:lnTo>
                  <a:pt x="0" y="3584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472215" y="568013"/>
            <a:ext cx="3481455" cy="2861123"/>
          </a:xfrm>
          <a:custGeom>
            <a:avLst/>
            <a:gdLst/>
            <a:ahLst/>
            <a:cxnLst/>
            <a:rect r="r" b="b" t="t" l="l"/>
            <a:pathLst>
              <a:path h="2861123" w="3481455">
                <a:moveTo>
                  <a:pt x="3481455" y="0"/>
                </a:moveTo>
                <a:lnTo>
                  <a:pt x="0" y="0"/>
                </a:lnTo>
                <a:lnTo>
                  <a:pt x="0" y="2861123"/>
                </a:lnTo>
                <a:lnTo>
                  <a:pt x="3481455" y="2861123"/>
                </a:lnTo>
                <a:lnTo>
                  <a:pt x="34814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59495" y="8647236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53717" t="-36494" r="-217605" b="-19109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72480" y="7948802"/>
            <a:ext cx="306782" cy="336608"/>
          </a:xfrm>
          <a:custGeom>
            <a:avLst/>
            <a:gdLst/>
            <a:ahLst/>
            <a:cxnLst/>
            <a:rect r="r" b="b" t="t" l="l"/>
            <a:pathLst>
              <a:path h="336608" w="306782">
                <a:moveTo>
                  <a:pt x="0" y="0"/>
                </a:moveTo>
                <a:lnTo>
                  <a:pt x="306782" y="0"/>
                </a:lnTo>
                <a:lnTo>
                  <a:pt x="306782" y="336608"/>
                </a:lnTo>
                <a:lnTo>
                  <a:pt x="0" y="336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53717" t="-36494" r="-217605" b="-19109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DAHB38sHcnY</dc:identifier>
  <dcterms:modified xsi:type="dcterms:W3CDTF">2011-08-01T06:04:30Z</dcterms:modified>
  <cp:revision>1</cp:revision>
  <dc:title>Non Text Magic Studio Magic Design for Presentations L&amp;P</dc:title>
</cp:coreProperties>
</file>