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Nunito Semi Bold" panose="020B0604020202020204" charset="0"/>
      <p:regular r:id="rId13"/>
    </p:embeddedFont>
    <p:embeddedFont>
      <p:font typeface="PT Sans" panose="020B0503020203020204" pitchFamily="34" charset="0"/>
      <p:regular r:id="rId14"/>
      <p:bold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12E"/>
    <a:srgbClr val="0102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7340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svg"/><Relationship Id="rId3" Type="http://schemas.openxmlformats.org/officeDocument/2006/relationships/image" Target="../media/image8.png"/><Relationship Id="rId7" Type="http://schemas.openxmlformats.org/officeDocument/2006/relationships/image" Target="../media/image12.svg"/><Relationship Id="rId12"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sv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2413516"/>
            <a:ext cx="7468553" cy="1847731"/>
          </a:xfrm>
          <a:prstGeom prst="rect">
            <a:avLst/>
          </a:prstGeom>
          <a:noFill/>
          <a:ln/>
        </p:spPr>
        <p:txBody>
          <a:bodyPr wrap="square" lIns="0" tIns="0" rIns="0" bIns="0" rtlCol="0" anchor="t"/>
          <a:lstStyle/>
          <a:p>
            <a:pPr marL="0" indent="0" algn="l">
              <a:lnSpc>
                <a:spcPts val="4850"/>
              </a:lnSpc>
              <a:buNone/>
            </a:pPr>
            <a:r>
              <a:rPr lang="en-US" sz="3850" dirty="0">
                <a:solidFill>
                  <a:srgbClr val="FFFFFF"/>
                </a:solidFill>
                <a:latin typeface="Nunito Semi Bold" pitchFamily="34" charset="0"/>
                <a:ea typeface="Nunito Semi Bold" pitchFamily="34" charset="-122"/>
                <a:cs typeface="Nunito Semi Bold" pitchFamily="34" charset="-120"/>
              </a:rPr>
              <a:t>Predicting the Habitability of Exoplanets Using Machine Learning (ExoHabitAI)</a:t>
            </a:r>
            <a:endParaRPr lang="en-US" sz="3850" dirty="0"/>
          </a:p>
        </p:txBody>
      </p:sp>
      <p:sp>
        <p:nvSpPr>
          <p:cNvPr id="4" name="Text 1"/>
          <p:cNvSpPr/>
          <p:nvPr/>
        </p:nvSpPr>
        <p:spPr>
          <a:xfrm>
            <a:off x="6324124" y="4575334"/>
            <a:ext cx="7468553" cy="670084"/>
          </a:xfrm>
          <a:prstGeom prst="rect">
            <a:avLst/>
          </a:prstGeom>
          <a:noFill/>
          <a:ln/>
        </p:spPr>
        <p:txBody>
          <a:bodyPr wrap="square" lIns="0" tIns="0" rIns="0" bIns="0" rtlCol="0" anchor="t"/>
          <a:lstStyle/>
          <a:p>
            <a:pPr marL="0" indent="0" algn="l">
              <a:lnSpc>
                <a:spcPts val="2600"/>
              </a:lnSpc>
              <a:buNone/>
            </a:pPr>
            <a:r>
              <a:rPr lang="en-US" sz="2000" dirty="0">
                <a:solidFill>
                  <a:srgbClr val="FFFFFF"/>
                </a:solidFill>
                <a:latin typeface="PT Sans" pitchFamily="34" charset="0"/>
                <a:ea typeface="PT Sans" pitchFamily="34" charset="-122"/>
                <a:cs typeface="PT Sans" pitchFamily="34" charset="-120"/>
              </a:rPr>
              <a:t>Student: Ananya Anand Tumarnavis</a:t>
            </a:r>
          </a:p>
          <a:p>
            <a:pPr marL="0" indent="0" algn="l">
              <a:lnSpc>
                <a:spcPts val="2600"/>
              </a:lnSpc>
              <a:buNone/>
            </a:pPr>
            <a:r>
              <a:rPr lang="en-US" sz="2000" dirty="0">
                <a:solidFill>
                  <a:srgbClr val="FFFFFF"/>
                </a:solidFill>
                <a:latin typeface="PT Sans" pitchFamily="34" charset="0"/>
                <a:ea typeface="PT Sans" pitchFamily="34" charset="-122"/>
                <a:cs typeface="PT Sans" pitchFamily="34" charset="-120"/>
              </a:rPr>
              <a:t> Institution: BGS of Engineering and </a:t>
            </a:r>
            <a:r>
              <a:rPr lang="en-US" sz="2000" dirty="0" err="1">
                <a:solidFill>
                  <a:srgbClr val="FFFFFF"/>
                </a:solidFill>
                <a:latin typeface="PT Sans" pitchFamily="34" charset="0"/>
                <a:ea typeface="PT Sans" pitchFamily="34" charset="-122"/>
                <a:cs typeface="PT Sans" pitchFamily="34" charset="-120"/>
              </a:rPr>
              <a:t>TEchnology</a:t>
            </a:r>
            <a:r>
              <a:rPr lang="en-US" sz="2000" dirty="0">
                <a:solidFill>
                  <a:srgbClr val="FFFFFF"/>
                </a:solidFill>
                <a:latin typeface="PT Sans" pitchFamily="34" charset="0"/>
                <a:ea typeface="PT Sans" pitchFamily="34" charset="-122"/>
                <a:cs typeface="PT Sans" pitchFamily="34" charset="-120"/>
              </a:rPr>
              <a:t>[</a:t>
            </a:r>
          </a:p>
          <a:p>
            <a:pPr marL="0" indent="0" algn="l">
              <a:lnSpc>
                <a:spcPts val="2600"/>
              </a:lnSpc>
              <a:buNone/>
            </a:pPr>
            <a:r>
              <a:rPr lang="en-US" sz="2000" dirty="0">
                <a:solidFill>
                  <a:srgbClr val="FFFFFF"/>
                </a:solidFill>
                <a:latin typeface="PT Sans" pitchFamily="34" charset="0"/>
                <a:ea typeface="PT Sans" pitchFamily="34" charset="-122"/>
                <a:cs typeface="PT Sans" pitchFamily="34" charset="-120"/>
              </a:rPr>
              <a:t>B.E CSE </a:t>
            </a:r>
            <a:endParaRPr lang="en-US" sz="2000" dirty="0"/>
          </a:p>
        </p:txBody>
      </p:sp>
      <p:sp>
        <p:nvSpPr>
          <p:cNvPr id="5" name="Text 2"/>
          <p:cNvSpPr/>
          <p:nvPr/>
        </p:nvSpPr>
        <p:spPr>
          <a:xfrm>
            <a:off x="6324124" y="5481042"/>
            <a:ext cx="7468553" cy="335042"/>
          </a:xfrm>
          <a:prstGeom prst="rect">
            <a:avLst/>
          </a:prstGeom>
          <a:noFill/>
          <a:ln/>
        </p:spPr>
        <p:txBody>
          <a:bodyPr wrap="none" lIns="0" tIns="0" rIns="0" bIns="0" rtlCol="0" anchor="t"/>
          <a:lstStyle/>
          <a:p>
            <a:pPr marL="0" indent="0" algn="l">
              <a:lnSpc>
                <a:spcPts val="2600"/>
              </a:lnSpc>
              <a:buNone/>
            </a:pPr>
            <a:endParaRPr lang="en-US" sz="1600" dirty="0"/>
          </a:p>
        </p:txBody>
      </p:sp>
      <p:sp>
        <p:nvSpPr>
          <p:cNvPr id="6" name="Rectangle 5">
            <a:extLst>
              <a:ext uri="{FF2B5EF4-FFF2-40B4-BE49-F238E27FC236}">
                <a16:creationId xmlns:a16="http://schemas.microsoft.com/office/drawing/2014/main" id="{6EAC9253-D240-B4E7-A9DF-6D3847042E33}"/>
              </a:ext>
            </a:extLst>
          </p:cNvPr>
          <p:cNvSpPr/>
          <p:nvPr/>
        </p:nvSpPr>
        <p:spPr>
          <a:xfrm>
            <a:off x="12678937" y="7571678"/>
            <a:ext cx="1851102" cy="579863"/>
          </a:xfrm>
          <a:prstGeom prst="rect">
            <a:avLst/>
          </a:prstGeom>
          <a:solidFill>
            <a:srgbClr val="01012E"/>
          </a:solidFill>
          <a:ln>
            <a:solidFill>
              <a:srgbClr val="0102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2397" y="1562788"/>
            <a:ext cx="4928354" cy="615910"/>
          </a:xfrm>
          <a:prstGeom prst="rect">
            <a:avLst/>
          </a:prstGeom>
          <a:noFill/>
          <a:ln/>
        </p:spPr>
        <p:txBody>
          <a:bodyPr wrap="none" lIns="0" tIns="0" rIns="0" bIns="0" rtlCol="0" anchor="t"/>
          <a:lstStyle/>
          <a:p>
            <a:pPr marL="0" indent="0" algn="l">
              <a:lnSpc>
                <a:spcPts val="4850"/>
              </a:lnSpc>
              <a:buNone/>
            </a:pPr>
            <a:r>
              <a:rPr lang="en-US" sz="3850" dirty="0">
                <a:solidFill>
                  <a:srgbClr val="FFFFFF"/>
                </a:solidFill>
                <a:latin typeface="Nunito Semi Bold" pitchFamily="34" charset="0"/>
                <a:ea typeface="Nunito Semi Bold" pitchFamily="34" charset="-122"/>
                <a:cs typeface="Nunito Semi Bold" pitchFamily="34" charset="-120"/>
              </a:rPr>
              <a:t>Problem Statement</a:t>
            </a:r>
            <a:endParaRPr lang="en-US" sz="3850" dirty="0"/>
          </a:p>
        </p:txBody>
      </p:sp>
      <p:pic>
        <p:nvPicPr>
          <p:cNvPr id="3" name="Image 0" descr="preencoded.png"/>
          <p:cNvPicPr>
            <a:picLocks noChangeAspect="1"/>
          </p:cNvPicPr>
          <p:nvPr/>
        </p:nvPicPr>
        <p:blipFill>
          <a:blip r:embed="rId3"/>
          <a:stretch>
            <a:fillRect/>
          </a:stretch>
        </p:blipFill>
        <p:spPr>
          <a:xfrm>
            <a:off x="837724" y="2753678"/>
            <a:ext cx="1201579" cy="742593"/>
          </a:xfrm>
          <a:prstGeom prst="rect">
            <a:avLst/>
          </a:prstGeom>
        </p:spPr>
      </p:pic>
      <p:sp>
        <p:nvSpPr>
          <p:cNvPr id="4" name="Text 1"/>
          <p:cNvSpPr/>
          <p:nvPr/>
        </p:nvSpPr>
        <p:spPr>
          <a:xfrm>
            <a:off x="2301121" y="2753678"/>
            <a:ext cx="2680335" cy="616029"/>
          </a:xfrm>
          <a:prstGeom prst="rect">
            <a:avLst/>
          </a:prstGeom>
          <a:noFill/>
          <a:ln/>
        </p:spPr>
        <p:txBody>
          <a:bodyPr wrap="square" lIns="0" tIns="0" rIns="0" bIns="0" rtlCol="0" anchor="t"/>
          <a:lstStyle/>
          <a:p>
            <a:pPr marL="0" indent="0" algn="l">
              <a:lnSpc>
                <a:spcPts val="2400"/>
              </a:lnSpc>
              <a:buNone/>
            </a:pPr>
            <a:r>
              <a:rPr lang="en-US" sz="1900" dirty="0">
                <a:solidFill>
                  <a:srgbClr val="FFFFFF"/>
                </a:solidFill>
                <a:latin typeface="Nunito Semi Bold" pitchFamily="34" charset="0"/>
                <a:ea typeface="Nunito Semi Bold" pitchFamily="34" charset="-122"/>
                <a:cs typeface="Nunito Semi Bold" pitchFamily="34" charset="-120"/>
              </a:rPr>
              <a:t>Rapid Discovery, Sparse Prioritization</a:t>
            </a:r>
            <a:endParaRPr lang="en-US" sz="1900" dirty="0"/>
          </a:p>
        </p:txBody>
      </p:sp>
      <p:sp>
        <p:nvSpPr>
          <p:cNvPr id="5" name="Text 2"/>
          <p:cNvSpPr/>
          <p:nvPr/>
        </p:nvSpPr>
        <p:spPr>
          <a:xfrm>
            <a:off x="2301121" y="3495318"/>
            <a:ext cx="2680335" cy="3015377"/>
          </a:xfrm>
          <a:prstGeom prst="rect">
            <a:avLst/>
          </a:prstGeom>
          <a:noFill/>
          <a:ln/>
        </p:spPr>
        <p:txBody>
          <a:bodyPr wrap="square" lIns="0" tIns="0" rIns="0" bIns="0" rtlCol="0" anchor="t"/>
          <a:lstStyle/>
          <a:p>
            <a:pPr marL="0" indent="0" algn="l">
              <a:lnSpc>
                <a:spcPts val="2600"/>
              </a:lnSpc>
              <a:buNone/>
            </a:pPr>
            <a:r>
              <a:rPr lang="en-US" sz="1600" dirty="0">
                <a:solidFill>
                  <a:srgbClr val="FFFFFF"/>
                </a:solidFill>
                <a:latin typeface="PT Sans" pitchFamily="34" charset="0"/>
                <a:ea typeface="PT Sans" pitchFamily="34" charset="-122"/>
                <a:cs typeface="PT Sans" pitchFamily="34" charset="-120"/>
              </a:rPr>
              <a:t>Exoplanet catalogs have grown to tens of thousands of candidates from missions (Kepler, TESS, ground surveys). Manual follow-up is resource-intensive; selecting promising targets for atmosphere characterization requires efficient triage.</a:t>
            </a:r>
            <a:endParaRPr lang="en-US" sz="1600" dirty="0"/>
          </a:p>
        </p:txBody>
      </p:sp>
      <p:pic>
        <p:nvPicPr>
          <p:cNvPr id="6" name="Image 1" descr="preencoded.png"/>
          <p:cNvPicPr>
            <a:picLocks noChangeAspect="1"/>
          </p:cNvPicPr>
          <p:nvPr/>
        </p:nvPicPr>
        <p:blipFill>
          <a:blip r:embed="rId4"/>
          <a:stretch>
            <a:fillRect/>
          </a:stretch>
        </p:blipFill>
        <p:spPr>
          <a:xfrm>
            <a:off x="5243274" y="2753678"/>
            <a:ext cx="1201579" cy="742593"/>
          </a:xfrm>
          <a:prstGeom prst="rect">
            <a:avLst/>
          </a:prstGeom>
        </p:spPr>
      </p:pic>
      <p:sp>
        <p:nvSpPr>
          <p:cNvPr id="7" name="Text 3"/>
          <p:cNvSpPr/>
          <p:nvPr/>
        </p:nvSpPr>
        <p:spPr>
          <a:xfrm>
            <a:off x="6706672" y="2753678"/>
            <a:ext cx="2680335" cy="616029"/>
          </a:xfrm>
          <a:prstGeom prst="rect">
            <a:avLst/>
          </a:prstGeom>
          <a:noFill/>
          <a:ln/>
        </p:spPr>
        <p:txBody>
          <a:bodyPr wrap="square" lIns="0" tIns="0" rIns="0" bIns="0" rtlCol="0" anchor="t"/>
          <a:lstStyle/>
          <a:p>
            <a:pPr marL="0" indent="0" algn="l">
              <a:lnSpc>
                <a:spcPts val="2400"/>
              </a:lnSpc>
              <a:buNone/>
            </a:pPr>
            <a:r>
              <a:rPr lang="en-US" sz="1900" dirty="0">
                <a:solidFill>
                  <a:srgbClr val="FFFFFF"/>
                </a:solidFill>
                <a:latin typeface="Nunito Semi Bold" pitchFamily="34" charset="0"/>
                <a:ea typeface="Nunito Semi Bold" pitchFamily="34" charset="-122"/>
                <a:cs typeface="Nunito Semi Bold" pitchFamily="34" charset="-120"/>
              </a:rPr>
              <a:t>Complex Parameter Space</a:t>
            </a:r>
            <a:endParaRPr lang="en-US" sz="1900" dirty="0"/>
          </a:p>
        </p:txBody>
      </p:sp>
      <p:sp>
        <p:nvSpPr>
          <p:cNvPr id="8" name="Text 4"/>
          <p:cNvSpPr/>
          <p:nvPr/>
        </p:nvSpPr>
        <p:spPr>
          <a:xfrm>
            <a:off x="6706672" y="3495318"/>
            <a:ext cx="2680335" cy="2680335"/>
          </a:xfrm>
          <a:prstGeom prst="rect">
            <a:avLst/>
          </a:prstGeom>
          <a:noFill/>
          <a:ln/>
        </p:spPr>
        <p:txBody>
          <a:bodyPr wrap="square" lIns="0" tIns="0" rIns="0" bIns="0" rtlCol="0" anchor="t"/>
          <a:lstStyle/>
          <a:p>
            <a:pPr marL="0" indent="0" algn="l">
              <a:lnSpc>
                <a:spcPts val="2600"/>
              </a:lnSpc>
              <a:buNone/>
            </a:pPr>
            <a:r>
              <a:rPr lang="en-US" sz="1600" dirty="0">
                <a:solidFill>
                  <a:srgbClr val="FFFFFF"/>
                </a:solidFill>
                <a:latin typeface="PT Sans" pitchFamily="34" charset="0"/>
                <a:ea typeface="PT Sans" pitchFamily="34" charset="-122"/>
                <a:cs typeface="PT Sans" pitchFamily="34" charset="-120"/>
              </a:rPr>
              <a:t>Habitability depends on many interacting variables — stellar type, insolation, planet radius/mass, orbital eccentricity, atmospheric proxies. High-dimensional correlations make rule-based selection unreliable.</a:t>
            </a:r>
            <a:endParaRPr lang="en-US" sz="1600" dirty="0"/>
          </a:p>
        </p:txBody>
      </p:sp>
      <p:pic>
        <p:nvPicPr>
          <p:cNvPr id="9" name="Image 2" descr="preencoded.png"/>
          <p:cNvPicPr>
            <a:picLocks noChangeAspect="1"/>
          </p:cNvPicPr>
          <p:nvPr/>
        </p:nvPicPr>
        <p:blipFill>
          <a:blip r:embed="rId5"/>
          <a:stretch>
            <a:fillRect/>
          </a:stretch>
        </p:blipFill>
        <p:spPr>
          <a:xfrm>
            <a:off x="9648825" y="2753678"/>
            <a:ext cx="1201698" cy="742593"/>
          </a:xfrm>
          <a:prstGeom prst="rect">
            <a:avLst/>
          </a:prstGeom>
        </p:spPr>
      </p:pic>
      <p:sp>
        <p:nvSpPr>
          <p:cNvPr id="10" name="Text 5"/>
          <p:cNvSpPr/>
          <p:nvPr/>
        </p:nvSpPr>
        <p:spPr>
          <a:xfrm>
            <a:off x="11112341" y="2753678"/>
            <a:ext cx="2680335" cy="616029"/>
          </a:xfrm>
          <a:prstGeom prst="rect">
            <a:avLst/>
          </a:prstGeom>
          <a:noFill/>
          <a:ln/>
        </p:spPr>
        <p:txBody>
          <a:bodyPr wrap="square" lIns="0" tIns="0" rIns="0" bIns="0" rtlCol="0" anchor="t"/>
          <a:lstStyle/>
          <a:p>
            <a:pPr marL="0" indent="0" algn="l">
              <a:lnSpc>
                <a:spcPts val="2400"/>
              </a:lnSpc>
              <a:buNone/>
            </a:pPr>
            <a:r>
              <a:rPr lang="en-US" sz="1900" dirty="0">
                <a:solidFill>
                  <a:srgbClr val="FFFFFF"/>
                </a:solidFill>
                <a:latin typeface="Nunito Semi Bold" pitchFamily="34" charset="0"/>
                <a:ea typeface="Nunito Semi Bold" pitchFamily="34" charset="-122"/>
                <a:cs typeface="Nunito Semi Bold" pitchFamily="34" charset="-120"/>
              </a:rPr>
              <a:t>Need for Scalable Inference</a:t>
            </a:r>
            <a:endParaRPr lang="en-US" sz="1900" dirty="0"/>
          </a:p>
        </p:txBody>
      </p:sp>
      <p:sp>
        <p:nvSpPr>
          <p:cNvPr id="11" name="Text 6"/>
          <p:cNvSpPr/>
          <p:nvPr/>
        </p:nvSpPr>
        <p:spPr>
          <a:xfrm>
            <a:off x="11112341" y="3495318"/>
            <a:ext cx="2680335" cy="2680335"/>
          </a:xfrm>
          <a:prstGeom prst="rect">
            <a:avLst/>
          </a:prstGeom>
          <a:noFill/>
          <a:ln/>
        </p:spPr>
        <p:txBody>
          <a:bodyPr wrap="square" lIns="0" tIns="0" rIns="0" bIns="0" rtlCol="0" anchor="t"/>
          <a:lstStyle/>
          <a:p>
            <a:pPr marL="0" indent="0" algn="l">
              <a:lnSpc>
                <a:spcPts val="2600"/>
              </a:lnSpc>
              <a:buNone/>
            </a:pPr>
            <a:r>
              <a:rPr lang="en-US" sz="1600" dirty="0">
                <a:solidFill>
                  <a:srgbClr val="FFFFFF"/>
                </a:solidFill>
                <a:latin typeface="PT Sans" pitchFamily="34" charset="0"/>
                <a:ea typeface="PT Sans" pitchFamily="34" charset="-122"/>
                <a:cs typeface="PT Sans" pitchFamily="34" charset="-120"/>
              </a:rPr>
              <a:t>Large datasets and evolving measurement quality demand automated, reproducible machine learning methods that can prioritize candidates and quantify predictive uncertainty for observational planning.</a:t>
            </a:r>
            <a:endParaRPr lang="en-US" sz="1600" dirty="0"/>
          </a:p>
        </p:txBody>
      </p:sp>
      <p:sp>
        <p:nvSpPr>
          <p:cNvPr id="12" name="Rectangle 11">
            <a:extLst>
              <a:ext uri="{FF2B5EF4-FFF2-40B4-BE49-F238E27FC236}">
                <a16:creationId xmlns:a16="http://schemas.microsoft.com/office/drawing/2014/main" id="{FE96DA92-E2E6-5A2C-27B1-32D5E19D0CE0}"/>
              </a:ext>
            </a:extLst>
          </p:cNvPr>
          <p:cNvSpPr/>
          <p:nvPr/>
        </p:nvSpPr>
        <p:spPr>
          <a:xfrm>
            <a:off x="12678937" y="7571678"/>
            <a:ext cx="1851102" cy="579863"/>
          </a:xfrm>
          <a:prstGeom prst="rect">
            <a:avLst/>
          </a:prstGeom>
          <a:solidFill>
            <a:srgbClr val="01012E"/>
          </a:solidFill>
          <a:ln>
            <a:solidFill>
              <a:srgbClr val="0102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C513990-DDBA-A7E4-F50B-4216F51EC42D}"/>
              </a:ext>
            </a:extLst>
          </p:cNvPr>
          <p:cNvSpPr/>
          <p:nvPr/>
        </p:nvSpPr>
        <p:spPr>
          <a:xfrm>
            <a:off x="12678937" y="7571678"/>
            <a:ext cx="1851102" cy="579863"/>
          </a:xfrm>
          <a:prstGeom prst="rect">
            <a:avLst/>
          </a:prstGeom>
          <a:solidFill>
            <a:srgbClr val="01012E"/>
          </a:solidFill>
          <a:ln>
            <a:solidFill>
              <a:srgbClr val="0102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838676"/>
            <a:ext cx="4928354" cy="615910"/>
          </a:xfrm>
          <a:prstGeom prst="rect">
            <a:avLst/>
          </a:prstGeom>
          <a:noFill/>
          <a:ln/>
        </p:spPr>
        <p:txBody>
          <a:bodyPr wrap="none" lIns="0" tIns="0" rIns="0" bIns="0" rtlCol="0" anchor="t"/>
          <a:lstStyle/>
          <a:p>
            <a:pPr marL="0" indent="0" algn="l">
              <a:lnSpc>
                <a:spcPts val="4850"/>
              </a:lnSpc>
              <a:buNone/>
            </a:pPr>
            <a:r>
              <a:rPr lang="en-US" sz="3850" dirty="0">
                <a:solidFill>
                  <a:srgbClr val="FFFFFF"/>
                </a:solidFill>
                <a:latin typeface="Nunito Semi Bold" pitchFamily="34" charset="0"/>
                <a:ea typeface="Nunito Semi Bold" pitchFamily="34" charset="-122"/>
                <a:cs typeface="Nunito Semi Bold" pitchFamily="34" charset="-120"/>
              </a:rPr>
              <a:t>System Overview</a:t>
            </a:r>
            <a:endParaRPr lang="en-US" sz="3850" dirty="0"/>
          </a:p>
        </p:txBody>
      </p:sp>
      <p:sp>
        <p:nvSpPr>
          <p:cNvPr id="4" name="Text 1"/>
          <p:cNvSpPr/>
          <p:nvPr/>
        </p:nvSpPr>
        <p:spPr>
          <a:xfrm>
            <a:off x="837724" y="1957149"/>
            <a:ext cx="3877747" cy="2680335"/>
          </a:xfrm>
          <a:prstGeom prst="rect">
            <a:avLst/>
          </a:prstGeom>
          <a:noFill/>
          <a:ln/>
        </p:spPr>
        <p:txBody>
          <a:bodyPr wrap="square" lIns="0" tIns="0" rIns="0" bIns="0" rtlCol="0" anchor="t"/>
          <a:lstStyle/>
          <a:p>
            <a:pPr marL="0" indent="0" algn="l">
              <a:lnSpc>
                <a:spcPts val="2600"/>
              </a:lnSpc>
              <a:buNone/>
            </a:pPr>
            <a:r>
              <a:rPr lang="en-US" sz="1600" dirty="0">
                <a:solidFill>
                  <a:srgbClr val="FFFFFF"/>
                </a:solidFill>
                <a:latin typeface="PT Sans" pitchFamily="34" charset="0"/>
                <a:ea typeface="PT Sans" pitchFamily="34" charset="-122"/>
                <a:cs typeface="PT Sans" pitchFamily="34" charset="-120"/>
              </a:rPr>
              <a:t>ExoHabitAI ingests heterogeneous exoplanet and stellar catalogs, engineers physically motivated features, trains supervised classifiers, and exposes predictions through a web interface and visualization dashboard to assist researchers in target selection and hypothesis generation.</a:t>
            </a:r>
            <a:endParaRPr lang="en-US" sz="1600" dirty="0"/>
          </a:p>
        </p:txBody>
      </p:sp>
      <p:sp>
        <p:nvSpPr>
          <p:cNvPr id="5" name="Text 2"/>
          <p:cNvSpPr/>
          <p:nvPr/>
        </p:nvSpPr>
        <p:spPr>
          <a:xfrm>
            <a:off x="837723" y="4823442"/>
            <a:ext cx="3877747" cy="2491740"/>
          </a:xfrm>
          <a:prstGeom prst="rect">
            <a:avLst/>
          </a:prstGeom>
          <a:noFill/>
          <a:ln/>
        </p:spPr>
        <p:txBody>
          <a:bodyPr wrap="square" lIns="0" tIns="0" rIns="0" bIns="0" rtlCol="0" anchor="t"/>
          <a:lstStyle/>
          <a:p>
            <a:pPr marL="342900" indent="-342900" algn="l">
              <a:lnSpc>
                <a:spcPts val="2600"/>
              </a:lnSpc>
              <a:buSzPct val="100000"/>
              <a:buChar char="•"/>
            </a:pPr>
            <a:r>
              <a:rPr lang="en-US" sz="1600" dirty="0">
                <a:solidFill>
                  <a:srgbClr val="FFFFFF"/>
                </a:solidFill>
                <a:latin typeface="PT Sans" pitchFamily="34" charset="0"/>
                <a:ea typeface="PT Sans" pitchFamily="34" charset="-122"/>
                <a:cs typeface="PT Sans" pitchFamily="34" charset="-120"/>
              </a:rPr>
              <a:t>Input: planetary &amp; stellar parameters, observation metadata</a:t>
            </a:r>
            <a:endParaRPr lang="en-US" sz="1600" dirty="0"/>
          </a:p>
          <a:p>
            <a:pPr marL="342900" indent="-342900" algn="l">
              <a:lnSpc>
                <a:spcPts val="2600"/>
              </a:lnSpc>
              <a:buSzPct val="100000"/>
              <a:buChar char="•"/>
            </a:pPr>
            <a:r>
              <a:rPr lang="en-US" sz="1600" dirty="0">
                <a:solidFill>
                  <a:srgbClr val="FFFFFF"/>
                </a:solidFill>
                <a:latin typeface="PT Sans" pitchFamily="34" charset="0"/>
                <a:ea typeface="PT Sans" pitchFamily="34" charset="-122"/>
                <a:cs typeface="PT Sans" pitchFamily="34" charset="-120"/>
              </a:rPr>
              <a:t>Core: feature engineering + ensemble ML models</a:t>
            </a:r>
            <a:endParaRPr lang="en-US" sz="1600" dirty="0"/>
          </a:p>
          <a:p>
            <a:pPr marL="342900" indent="-342900" algn="l">
              <a:lnSpc>
                <a:spcPts val="2600"/>
              </a:lnSpc>
              <a:buSzPct val="100000"/>
              <a:buChar char="•"/>
            </a:pPr>
            <a:r>
              <a:rPr lang="en-US" sz="1600" dirty="0">
                <a:solidFill>
                  <a:srgbClr val="FFFFFF"/>
                </a:solidFill>
                <a:latin typeface="PT Sans" pitchFamily="34" charset="0"/>
                <a:ea typeface="PT Sans" pitchFamily="34" charset="-122"/>
                <a:cs typeface="PT Sans" pitchFamily="34" charset="-120"/>
              </a:rPr>
              <a:t>Output: habitability score, class label (candidate habitable / non-habitable), feature explanations</a:t>
            </a:r>
            <a:endParaRPr lang="en-US" sz="1600" dirty="0"/>
          </a:p>
        </p:txBody>
      </p:sp>
      <p:sp>
        <p:nvSpPr>
          <p:cNvPr id="6" name="Text 3"/>
          <p:cNvSpPr/>
          <p:nvPr/>
        </p:nvSpPr>
        <p:spPr>
          <a:xfrm>
            <a:off x="5234107" y="1789628"/>
            <a:ext cx="3079790" cy="335042"/>
          </a:xfrm>
          <a:prstGeom prst="rect">
            <a:avLst/>
          </a:prstGeom>
          <a:noFill/>
          <a:ln/>
        </p:spPr>
        <p:txBody>
          <a:bodyPr wrap="none" lIns="0" tIns="0" rIns="0" bIns="0" rtlCol="0" anchor="t"/>
          <a:lstStyle/>
          <a:p>
            <a:pPr marL="0" indent="0" algn="l">
              <a:lnSpc>
                <a:spcPts val="2600"/>
              </a:lnSpc>
              <a:buNone/>
            </a:pPr>
            <a:r>
              <a:rPr lang="en-US" sz="1600" dirty="0">
                <a:solidFill>
                  <a:srgbClr val="FFFFFF"/>
                </a:solidFill>
                <a:latin typeface="PT Sans" pitchFamily="34" charset="0"/>
                <a:ea typeface="PT Sans" pitchFamily="34" charset="-122"/>
                <a:cs typeface="PT Sans" pitchFamily="34" charset="-120"/>
              </a:rPr>
              <a:t>Key design goals:</a:t>
            </a:r>
            <a:endParaRPr lang="en-US" sz="1600" dirty="0"/>
          </a:p>
        </p:txBody>
      </p:sp>
      <p:sp>
        <p:nvSpPr>
          <p:cNvPr id="7" name="Text 4"/>
          <p:cNvSpPr/>
          <p:nvPr/>
        </p:nvSpPr>
        <p:spPr>
          <a:xfrm>
            <a:off x="5234107" y="2334220"/>
            <a:ext cx="3079790" cy="2491740"/>
          </a:xfrm>
          <a:prstGeom prst="rect">
            <a:avLst/>
          </a:prstGeom>
          <a:noFill/>
          <a:ln/>
        </p:spPr>
        <p:txBody>
          <a:bodyPr wrap="square" lIns="0" tIns="0" rIns="0" bIns="0" rtlCol="0" anchor="t"/>
          <a:lstStyle/>
          <a:p>
            <a:pPr marL="342900" indent="-342900" algn="l">
              <a:lnSpc>
                <a:spcPts val="2600"/>
              </a:lnSpc>
              <a:buSzPct val="100000"/>
              <a:buFont typeface="+mj-lt"/>
              <a:buAutoNum type="arabicPeriod"/>
            </a:pPr>
            <a:r>
              <a:rPr lang="en-US" sz="1600" dirty="0">
                <a:solidFill>
                  <a:srgbClr val="FFFFFF"/>
                </a:solidFill>
                <a:latin typeface="PT Sans" pitchFamily="34" charset="0"/>
                <a:ea typeface="PT Sans" pitchFamily="34" charset="-122"/>
                <a:cs typeface="PT Sans" pitchFamily="34" charset="-120"/>
              </a:rPr>
              <a:t>Scientific interpretability: feature importance, partial dependence</a:t>
            </a:r>
            <a:endParaRPr lang="en-US" sz="1600" dirty="0"/>
          </a:p>
          <a:p>
            <a:pPr marL="342900" indent="-342900" algn="l">
              <a:lnSpc>
                <a:spcPts val="2600"/>
              </a:lnSpc>
              <a:buSzPct val="100000"/>
              <a:buFont typeface="+mj-lt"/>
              <a:buAutoNum type="arabicPeriod" startAt="2"/>
            </a:pPr>
            <a:r>
              <a:rPr lang="en-US" sz="1600" dirty="0">
                <a:solidFill>
                  <a:srgbClr val="FFFFFF"/>
                </a:solidFill>
                <a:latin typeface="PT Sans" pitchFamily="34" charset="0"/>
                <a:ea typeface="PT Sans" pitchFamily="34" charset="-122"/>
                <a:cs typeface="PT Sans" pitchFamily="34" charset="-120"/>
              </a:rPr>
              <a:t>Reproducibility: versioned datasets and model artifacts</a:t>
            </a:r>
            <a:endParaRPr lang="en-US" sz="1600" dirty="0"/>
          </a:p>
          <a:p>
            <a:pPr marL="342900" indent="-342900" algn="l">
              <a:lnSpc>
                <a:spcPts val="2600"/>
              </a:lnSpc>
              <a:buSzPct val="100000"/>
              <a:buFont typeface="+mj-lt"/>
              <a:buAutoNum type="arabicPeriod" startAt="3"/>
            </a:pPr>
            <a:r>
              <a:rPr lang="en-US" sz="1600" dirty="0">
                <a:solidFill>
                  <a:srgbClr val="FFFFFF"/>
                </a:solidFill>
                <a:latin typeface="PT Sans" pitchFamily="34" charset="0"/>
                <a:ea typeface="PT Sans" pitchFamily="34" charset="-122"/>
                <a:cs typeface="PT Sans" pitchFamily="34" charset="-120"/>
              </a:rPr>
              <a:t>Scalability: batch and real-time inference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37724" y="1989177"/>
            <a:ext cx="4928354" cy="615910"/>
          </a:xfrm>
          <a:prstGeom prst="rect">
            <a:avLst/>
          </a:prstGeom>
          <a:noFill/>
          <a:ln/>
        </p:spPr>
        <p:txBody>
          <a:bodyPr wrap="none" lIns="0" tIns="0" rIns="0" bIns="0" rtlCol="0" anchor="t"/>
          <a:lstStyle/>
          <a:p>
            <a:pPr marL="0" indent="0" algn="l">
              <a:lnSpc>
                <a:spcPts val="4850"/>
              </a:lnSpc>
              <a:buNone/>
            </a:pPr>
            <a:r>
              <a:rPr lang="en-US" sz="3850" dirty="0">
                <a:solidFill>
                  <a:srgbClr val="FFFFFF"/>
                </a:solidFill>
                <a:latin typeface="Nunito Semi Bold" pitchFamily="34" charset="0"/>
                <a:ea typeface="Nunito Semi Bold" pitchFamily="34" charset="-122"/>
                <a:cs typeface="Nunito Semi Bold" pitchFamily="34" charset="-120"/>
              </a:rPr>
              <a:t>Objectives</a:t>
            </a:r>
            <a:endParaRPr lang="en-US" sz="3850" dirty="0"/>
          </a:p>
        </p:txBody>
      </p:sp>
      <p:sp>
        <p:nvSpPr>
          <p:cNvPr id="3" name="Shape 1"/>
          <p:cNvSpPr/>
          <p:nvPr/>
        </p:nvSpPr>
        <p:spPr>
          <a:xfrm>
            <a:off x="837724" y="3023949"/>
            <a:ext cx="3081576" cy="3216473"/>
          </a:xfrm>
          <a:prstGeom prst="roundRect">
            <a:avLst>
              <a:gd name="adj" fmla="val 10196"/>
            </a:avLst>
          </a:prstGeom>
          <a:solidFill>
            <a:srgbClr val="00002E"/>
          </a:solidFill>
          <a:ln w="22860">
            <a:solidFill>
              <a:srgbClr val="F2B42D"/>
            </a:solidFill>
            <a:prstDash val="solid"/>
          </a:ln>
        </p:spPr>
      </p:sp>
      <p:sp>
        <p:nvSpPr>
          <p:cNvPr id="4" name="Text 2"/>
          <p:cNvSpPr/>
          <p:nvPr/>
        </p:nvSpPr>
        <p:spPr>
          <a:xfrm>
            <a:off x="1070015" y="3256240"/>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FFFFFF"/>
                </a:solidFill>
                <a:latin typeface="Nunito Semi Bold" pitchFamily="34" charset="0"/>
                <a:ea typeface="Nunito Semi Bold" pitchFamily="34" charset="-122"/>
                <a:cs typeface="Nunito Semi Bold" pitchFamily="34" charset="-120"/>
              </a:rPr>
              <a:t>Predict Habitability</a:t>
            </a:r>
            <a:endParaRPr lang="en-US" sz="1900" dirty="0"/>
          </a:p>
        </p:txBody>
      </p:sp>
      <p:sp>
        <p:nvSpPr>
          <p:cNvPr id="5" name="Text 3"/>
          <p:cNvSpPr/>
          <p:nvPr/>
        </p:nvSpPr>
        <p:spPr>
          <a:xfrm>
            <a:off x="1070015" y="3689866"/>
            <a:ext cx="2616994" cy="2010251"/>
          </a:xfrm>
          <a:prstGeom prst="rect">
            <a:avLst/>
          </a:prstGeom>
          <a:noFill/>
          <a:ln/>
        </p:spPr>
        <p:txBody>
          <a:bodyPr wrap="square" lIns="0" tIns="0" rIns="0" bIns="0" rtlCol="0" anchor="t"/>
          <a:lstStyle/>
          <a:p>
            <a:pPr marL="0" indent="0" algn="l">
              <a:lnSpc>
                <a:spcPts val="2600"/>
              </a:lnSpc>
              <a:buNone/>
            </a:pPr>
            <a:r>
              <a:rPr lang="en-US" sz="1600" dirty="0">
                <a:solidFill>
                  <a:srgbClr val="FFFFFF"/>
                </a:solidFill>
                <a:latin typeface="PT Sans" pitchFamily="34" charset="0"/>
                <a:ea typeface="PT Sans" pitchFamily="34" charset="-122"/>
                <a:cs typeface="PT Sans" pitchFamily="34" charset="-120"/>
              </a:rPr>
              <a:t>Generate probabilistic habitability scores for validated and candidate exoplanets to assist prioritization for spectroscopic follow-up.</a:t>
            </a:r>
            <a:endParaRPr lang="en-US" sz="1600" dirty="0"/>
          </a:p>
        </p:txBody>
      </p:sp>
      <p:sp>
        <p:nvSpPr>
          <p:cNvPr id="6" name="Shape 4"/>
          <p:cNvSpPr/>
          <p:nvPr/>
        </p:nvSpPr>
        <p:spPr>
          <a:xfrm>
            <a:off x="4128730" y="3023949"/>
            <a:ext cx="3081695" cy="3216473"/>
          </a:xfrm>
          <a:prstGeom prst="roundRect">
            <a:avLst>
              <a:gd name="adj" fmla="val 10195"/>
            </a:avLst>
          </a:prstGeom>
          <a:solidFill>
            <a:srgbClr val="00002E"/>
          </a:solidFill>
          <a:ln w="22860">
            <a:solidFill>
              <a:srgbClr val="D7425E"/>
            </a:solidFill>
            <a:prstDash val="solid"/>
          </a:ln>
        </p:spPr>
      </p:sp>
      <p:sp>
        <p:nvSpPr>
          <p:cNvPr id="7" name="Text 5"/>
          <p:cNvSpPr/>
          <p:nvPr/>
        </p:nvSpPr>
        <p:spPr>
          <a:xfrm>
            <a:off x="4361021" y="3256240"/>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FFFFFF"/>
                </a:solidFill>
                <a:latin typeface="Nunito Semi Bold" pitchFamily="34" charset="0"/>
                <a:ea typeface="Nunito Semi Bold" pitchFamily="34" charset="-122"/>
                <a:cs typeface="Nunito Semi Bold" pitchFamily="34" charset="-120"/>
              </a:rPr>
              <a:t>Analyze Features</a:t>
            </a:r>
            <a:endParaRPr lang="en-US" sz="1900" dirty="0"/>
          </a:p>
        </p:txBody>
      </p:sp>
      <p:sp>
        <p:nvSpPr>
          <p:cNvPr id="8" name="Text 6"/>
          <p:cNvSpPr/>
          <p:nvPr/>
        </p:nvSpPr>
        <p:spPr>
          <a:xfrm>
            <a:off x="4361021" y="3689866"/>
            <a:ext cx="2617113" cy="2010251"/>
          </a:xfrm>
          <a:prstGeom prst="rect">
            <a:avLst/>
          </a:prstGeom>
          <a:noFill/>
          <a:ln/>
        </p:spPr>
        <p:txBody>
          <a:bodyPr wrap="square" lIns="0" tIns="0" rIns="0" bIns="0" rtlCol="0" anchor="t"/>
          <a:lstStyle/>
          <a:p>
            <a:pPr marL="0" indent="0" algn="l">
              <a:lnSpc>
                <a:spcPts val="2600"/>
              </a:lnSpc>
              <a:buNone/>
            </a:pPr>
            <a:r>
              <a:rPr lang="en-US" sz="1600" dirty="0">
                <a:solidFill>
                  <a:srgbClr val="FFFFFF"/>
                </a:solidFill>
                <a:latin typeface="PT Sans" pitchFamily="34" charset="0"/>
                <a:ea typeface="PT Sans" pitchFamily="34" charset="-122"/>
                <a:cs typeface="PT Sans" pitchFamily="34" charset="-120"/>
              </a:rPr>
              <a:t>Quantify the influence of stellar flux, planet radius, mass proxies, and orbital parameters on predicted habitability using interpretable ML techniques.</a:t>
            </a:r>
            <a:endParaRPr lang="en-US" sz="1600" dirty="0"/>
          </a:p>
        </p:txBody>
      </p:sp>
      <p:sp>
        <p:nvSpPr>
          <p:cNvPr id="9" name="Shape 7"/>
          <p:cNvSpPr/>
          <p:nvPr/>
        </p:nvSpPr>
        <p:spPr>
          <a:xfrm>
            <a:off x="7419856" y="3023949"/>
            <a:ext cx="3081695" cy="3216473"/>
          </a:xfrm>
          <a:prstGeom prst="roundRect">
            <a:avLst>
              <a:gd name="adj" fmla="val 10195"/>
            </a:avLst>
          </a:prstGeom>
          <a:solidFill>
            <a:srgbClr val="00002E"/>
          </a:solidFill>
          <a:ln w="22860">
            <a:solidFill>
              <a:srgbClr val="DD785E"/>
            </a:solidFill>
            <a:prstDash val="solid"/>
          </a:ln>
        </p:spPr>
      </p:sp>
      <p:sp>
        <p:nvSpPr>
          <p:cNvPr id="10" name="Text 8"/>
          <p:cNvSpPr/>
          <p:nvPr/>
        </p:nvSpPr>
        <p:spPr>
          <a:xfrm>
            <a:off x="7652147" y="3256240"/>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FFFFFF"/>
                </a:solidFill>
                <a:latin typeface="Nunito Semi Bold" pitchFamily="34" charset="0"/>
                <a:ea typeface="Nunito Semi Bold" pitchFamily="34" charset="-122"/>
                <a:cs typeface="Nunito Semi Bold" pitchFamily="34" charset="-120"/>
              </a:rPr>
              <a:t>Rank Planets</a:t>
            </a:r>
            <a:endParaRPr lang="en-US" sz="1900" dirty="0"/>
          </a:p>
        </p:txBody>
      </p:sp>
      <p:sp>
        <p:nvSpPr>
          <p:cNvPr id="11" name="Text 9"/>
          <p:cNvSpPr/>
          <p:nvPr/>
        </p:nvSpPr>
        <p:spPr>
          <a:xfrm>
            <a:off x="7652147" y="3689866"/>
            <a:ext cx="2617113" cy="1675209"/>
          </a:xfrm>
          <a:prstGeom prst="rect">
            <a:avLst/>
          </a:prstGeom>
          <a:noFill/>
          <a:ln/>
        </p:spPr>
        <p:txBody>
          <a:bodyPr wrap="square" lIns="0" tIns="0" rIns="0" bIns="0" rtlCol="0" anchor="t"/>
          <a:lstStyle/>
          <a:p>
            <a:pPr marL="0" indent="0" algn="l">
              <a:lnSpc>
                <a:spcPts val="2600"/>
              </a:lnSpc>
              <a:buNone/>
            </a:pPr>
            <a:r>
              <a:rPr lang="en-US" sz="1600" dirty="0">
                <a:solidFill>
                  <a:srgbClr val="FFFFFF"/>
                </a:solidFill>
                <a:latin typeface="PT Sans" pitchFamily="34" charset="0"/>
                <a:ea typeface="PT Sans" pitchFamily="34" charset="-122"/>
                <a:cs typeface="PT Sans" pitchFamily="34" charset="-120"/>
              </a:rPr>
              <a:t>Produce ranked candidate lists tailored to specific science goals (biosignature search, temperate worlds, rocky super-Earths).</a:t>
            </a:r>
            <a:endParaRPr lang="en-US" sz="1600" dirty="0"/>
          </a:p>
        </p:txBody>
      </p:sp>
      <p:sp>
        <p:nvSpPr>
          <p:cNvPr id="12" name="Shape 10"/>
          <p:cNvSpPr/>
          <p:nvPr/>
        </p:nvSpPr>
        <p:spPr>
          <a:xfrm>
            <a:off x="10710982" y="3023949"/>
            <a:ext cx="3081695" cy="3216473"/>
          </a:xfrm>
          <a:prstGeom prst="roundRect">
            <a:avLst>
              <a:gd name="adj" fmla="val 10195"/>
            </a:avLst>
          </a:prstGeom>
          <a:solidFill>
            <a:srgbClr val="00002E"/>
          </a:solidFill>
          <a:ln w="22860">
            <a:solidFill>
              <a:srgbClr val="48A8E2"/>
            </a:solidFill>
            <a:prstDash val="solid"/>
          </a:ln>
        </p:spPr>
      </p:sp>
      <p:sp>
        <p:nvSpPr>
          <p:cNvPr id="13" name="Text 11"/>
          <p:cNvSpPr/>
          <p:nvPr/>
        </p:nvSpPr>
        <p:spPr>
          <a:xfrm>
            <a:off x="10943273" y="3256240"/>
            <a:ext cx="2617113" cy="616029"/>
          </a:xfrm>
          <a:prstGeom prst="rect">
            <a:avLst/>
          </a:prstGeom>
          <a:noFill/>
          <a:ln/>
        </p:spPr>
        <p:txBody>
          <a:bodyPr wrap="square" lIns="0" tIns="0" rIns="0" bIns="0" rtlCol="0" anchor="t"/>
          <a:lstStyle/>
          <a:p>
            <a:pPr marL="0" indent="0" algn="l">
              <a:lnSpc>
                <a:spcPts val="2400"/>
              </a:lnSpc>
              <a:buNone/>
            </a:pPr>
            <a:r>
              <a:rPr lang="en-US" sz="1900" dirty="0">
                <a:solidFill>
                  <a:srgbClr val="FFFFFF"/>
                </a:solidFill>
                <a:latin typeface="Nunito Semi Bold" pitchFamily="34" charset="0"/>
                <a:ea typeface="Nunito Semi Bold" pitchFamily="34" charset="-122"/>
                <a:cs typeface="Nunito Semi Bold" pitchFamily="34" charset="-120"/>
              </a:rPr>
              <a:t>Provide Visualization Dashboard</a:t>
            </a:r>
            <a:endParaRPr lang="en-US" sz="1900" dirty="0"/>
          </a:p>
        </p:txBody>
      </p:sp>
      <p:sp>
        <p:nvSpPr>
          <p:cNvPr id="14" name="Text 12"/>
          <p:cNvSpPr/>
          <p:nvPr/>
        </p:nvSpPr>
        <p:spPr>
          <a:xfrm>
            <a:off x="10943273" y="3997881"/>
            <a:ext cx="2617113" cy="2010251"/>
          </a:xfrm>
          <a:prstGeom prst="rect">
            <a:avLst/>
          </a:prstGeom>
          <a:noFill/>
          <a:ln/>
        </p:spPr>
        <p:txBody>
          <a:bodyPr wrap="square" lIns="0" tIns="0" rIns="0" bIns="0" rtlCol="0" anchor="t"/>
          <a:lstStyle/>
          <a:p>
            <a:pPr marL="0" indent="0" algn="l">
              <a:lnSpc>
                <a:spcPts val="2600"/>
              </a:lnSpc>
              <a:buNone/>
            </a:pPr>
            <a:r>
              <a:rPr lang="en-US" sz="1600" dirty="0">
                <a:solidFill>
                  <a:srgbClr val="FFFFFF"/>
                </a:solidFill>
                <a:latin typeface="PT Sans" pitchFamily="34" charset="0"/>
                <a:ea typeface="PT Sans" pitchFamily="34" charset="-122"/>
                <a:cs typeface="PT Sans" pitchFamily="34" charset="-120"/>
              </a:rPr>
              <a:t>Interactive dashboards for exploring predictions, feature space, and observational metadata to guide telescope time allocation.</a:t>
            </a:r>
            <a:endParaRPr lang="en-US" sz="1600" dirty="0"/>
          </a:p>
        </p:txBody>
      </p:sp>
      <p:sp>
        <p:nvSpPr>
          <p:cNvPr id="15" name="Rectangle 14">
            <a:extLst>
              <a:ext uri="{FF2B5EF4-FFF2-40B4-BE49-F238E27FC236}">
                <a16:creationId xmlns:a16="http://schemas.microsoft.com/office/drawing/2014/main" id="{5AED6319-471D-8574-F514-DC0AD8D81E3C}"/>
              </a:ext>
            </a:extLst>
          </p:cNvPr>
          <p:cNvSpPr/>
          <p:nvPr/>
        </p:nvSpPr>
        <p:spPr>
          <a:xfrm>
            <a:off x="12678937" y="7571678"/>
            <a:ext cx="1851102" cy="579863"/>
          </a:xfrm>
          <a:prstGeom prst="rect">
            <a:avLst/>
          </a:prstGeom>
          <a:solidFill>
            <a:srgbClr val="01012E"/>
          </a:solidFill>
          <a:ln>
            <a:solidFill>
              <a:srgbClr val="0102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13065" y="490180"/>
            <a:ext cx="4963954" cy="524232"/>
          </a:xfrm>
          <a:prstGeom prst="rect">
            <a:avLst/>
          </a:prstGeom>
          <a:noFill/>
          <a:ln/>
        </p:spPr>
        <p:txBody>
          <a:bodyPr wrap="none" lIns="0" tIns="0" rIns="0" bIns="0" rtlCol="0" anchor="t"/>
          <a:lstStyle/>
          <a:p>
            <a:pPr marL="0" indent="0" algn="l">
              <a:lnSpc>
                <a:spcPts val="4100"/>
              </a:lnSpc>
              <a:buNone/>
            </a:pPr>
            <a:r>
              <a:rPr lang="en-US" sz="3300" dirty="0">
                <a:solidFill>
                  <a:srgbClr val="FFFFFF"/>
                </a:solidFill>
                <a:latin typeface="Nunito Semi Bold" pitchFamily="34" charset="0"/>
                <a:ea typeface="Nunito Semi Bold" pitchFamily="34" charset="-122"/>
                <a:cs typeface="Nunito Semi Bold" pitchFamily="34" charset="-120"/>
              </a:rPr>
              <a:t>Methodology &amp; Workflow</a:t>
            </a:r>
            <a:endParaRPr lang="en-US" sz="3300" dirty="0"/>
          </a:p>
        </p:txBody>
      </p:sp>
      <p:pic>
        <p:nvPicPr>
          <p:cNvPr id="3" name="Image 0" descr="preencoded.png"/>
          <p:cNvPicPr>
            <a:picLocks noChangeAspect="1"/>
          </p:cNvPicPr>
          <p:nvPr/>
        </p:nvPicPr>
        <p:blipFill>
          <a:blip r:embed="rId3"/>
          <a:stretch>
            <a:fillRect/>
          </a:stretch>
        </p:blipFill>
        <p:spPr>
          <a:xfrm>
            <a:off x="924520" y="1317903"/>
            <a:ext cx="12781359" cy="4796076"/>
          </a:xfrm>
          <a:prstGeom prst="rect">
            <a:avLst/>
          </a:prstGeom>
        </p:spPr>
      </p:pic>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839870" y="2539549"/>
            <a:ext cx="660198" cy="660199"/>
          </a:xfrm>
          <a:prstGeom prst="rect">
            <a:avLst/>
          </a:prstGeom>
        </p:spPr>
      </p:pic>
      <p:sp>
        <p:nvSpPr>
          <p:cNvPr id="5" name="Text 1"/>
          <p:cNvSpPr/>
          <p:nvPr/>
        </p:nvSpPr>
        <p:spPr>
          <a:xfrm>
            <a:off x="11251674" y="4960621"/>
            <a:ext cx="1927779" cy="349286"/>
          </a:xfrm>
          <a:prstGeom prst="rect">
            <a:avLst/>
          </a:prstGeom>
          <a:noFill/>
          <a:ln/>
        </p:spPr>
        <p:txBody>
          <a:bodyPr wrap="none" lIns="0" tIns="0" rIns="0" bIns="0" rtlCol="0" anchor="t"/>
          <a:lstStyle/>
          <a:p>
            <a:pPr marL="0" indent="0" algn="ctr">
              <a:lnSpc>
                <a:spcPts val="2750"/>
              </a:lnSpc>
              <a:buNone/>
            </a:pPr>
            <a:r>
              <a:rPr lang="en-US" sz="2200" dirty="0">
                <a:solidFill>
                  <a:srgbClr val="FFFFFF"/>
                </a:solidFill>
                <a:latin typeface="Nunito Semi Bold" pitchFamily="34" charset="0"/>
                <a:ea typeface="Nunito Semi Bold" pitchFamily="34" charset="-122"/>
                <a:cs typeface="Nunito Semi Bold" pitchFamily="34" charset="-120"/>
              </a:rPr>
              <a:t>Predict</a:t>
            </a:r>
            <a:endParaRPr lang="en-US" sz="2200" dirty="0"/>
          </a:p>
        </p:txBody>
      </p:sp>
      <p:pic>
        <p:nvPicPr>
          <p:cNvPr id="6"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22923" y="2540787"/>
            <a:ext cx="660199" cy="660199"/>
          </a:xfrm>
          <a:prstGeom prst="rect">
            <a:avLst/>
          </a:prstGeom>
        </p:spPr>
      </p:pic>
      <p:sp>
        <p:nvSpPr>
          <p:cNvPr id="7" name="Text 2"/>
          <p:cNvSpPr/>
          <p:nvPr/>
        </p:nvSpPr>
        <p:spPr>
          <a:xfrm>
            <a:off x="8822143" y="4960621"/>
            <a:ext cx="1927779" cy="349286"/>
          </a:xfrm>
          <a:prstGeom prst="rect">
            <a:avLst/>
          </a:prstGeom>
          <a:noFill/>
          <a:ln/>
        </p:spPr>
        <p:txBody>
          <a:bodyPr wrap="none" lIns="0" tIns="0" rIns="0" bIns="0" rtlCol="0" anchor="t"/>
          <a:lstStyle/>
          <a:p>
            <a:pPr marL="0" indent="0" algn="ctr">
              <a:lnSpc>
                <a:spcPts val="2750"/>
              </a:lnSpc>
              <a:buNone/>
            </a:pPr>
            <a:r>
              <a:rPr lang="en-US" sz="2200" dirty="0">
                <a:solidFill>
                  <a:srgbClr val="FFFFFF"/>
                </a:solidFill>
                <a:latin typeface="Nunito Semi Bold" pitchFamily="34" charset="0"/>
                <a:ea typeface="Nunito Semi Bold" pitchFamily="34" charset="-122"/>
                <a:cs typeface="Nunito Semi Bold" pitchFamily="34" charset="-120"/>
              </a:rPr>
              <a:t>Train</a:t>
            </a:r>
            <a:endParaRPr lang="en-US" sz="2200" dirty="0"/>
          </a:p>
        </p:txBody>
      </p:sp>
      <p:pic>
        <p:nvPicPr>
          <p:cNvPr id="8"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006597" y="2540787"/>
            <a:ext cx="660198" cy="660199"/>
          </a:xfrm>
          <a:prstGeom prst="rect">
            <a:avLst/>
          </a:prstGeom>
        </p:spPr>
      </p:pic>
      <p:sp>
        <p:nvSpPr>
          <p:cNvPr id="9" name="Text 3"/>
          <p:cNvSpPr/>
          <p:nvPr/>
        </p:nvSpPr>
        <p:spPr>
          <a:xfrm>
            <a:off x="6405816" y="4960621"/>
            <a:ext cx="1927780" cy="349286"/>
          </a:xfrm>
          <a:prstGeom prst="rect">
            <a:avLst/>
          </a:prstGeom>
          <a:noFill/>
          <a:ln/>
        </p:spPr>
        <p:txBody>
          <a:bodyPr wrap="none" lIns="0" tIns="0" rIns="0" bIns="0" rtlCol="0" anchor="t"/>
          <a:lstStyle/>
          <a:p>
            <a:pPr marL="0" indent="0" algn="ctr">
              <a:lnSpc>
                <a:spcPts val="2750"/>
              </a:lnSpc>
              <a:buNone/>
            </a:pPr>
            <a:r>
              <a:rPr lang="en-US" sz="2200" dirty="0">
                <a:solidFill>
                  <a:srgbClr val="FFFFFF"/>
                </a:solidFill>
                <a:latin typeface="Nunito Semi Bold" pitchFamily="34" charset="0"/>
                <a:ea typeface="Nunito Semi Bold" pitchFamily="34" charset="-122"/>
                <a:cs typeface="Nunito Semi Bold" pitchFamily="34" charset="-120"/>
              </a:rPr>
              <a:t>Features</a:t>
            </a:r>
            <a:endParaRPr lang="en-US" sz="2200" dirty="0"/>
          </a:p>
        </p:txBody>
      </p:sp>
      <p:pic>
        <p:nvPicPr>
          <p:cNvPr id="10"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590270" y="2540787"/>
            <a:ext cx="660198" cy="660199"/>
          </a:xfrm>
          <a:prstGeom prst="rect">
            <a:avLst/>
          </a:prstGeom>
        </p:spPr>
      </p:pic>
      <p:sp>
        <p:nvSpPr>
          <p:cNvPr id="11" name="Text 4"/>
          <p:cNvSpPr/>
          <p:nvPr/>
        </p:nvSpPr>
        <p:spPr>
          <a:xfrm>
            <a:off x="3989490" y="4960621"/>
            <a:ext cx="1927780" cy="349286"/>
          </a:xfrm>
          <a:prstGeom prst="rect">
            <a:avLst/>
          </a:prstGeom>
          <a:noFill/>
          <a:ln/>
        </p:spPr>
        <p:txBody>
          <a:bodyPr wrap="none" lIns="0" tIns="0" rIns="0" bIns="0" rtlCol="0" anchor="t"/>
          <a:lstStyle/>
          <a:p>
            <a:pPr marL="0" indent="0" algn="ctr">
              <a:lnSpc>
                <a:spcPts val="2750"/>
              </a:lnSpc>
              <a:buNone/>
            </a:pPr>
            <a:r>
              <a:rPr lang="en-US" sz="2200" dirty="0">
                <a:solidFill>
                  <a:srgbClr val="FFFFFF"/>
                </a:solidFill>
                <a:latin typeface="Nunito Semi Bold" pitchFamily="34" charset="0"/>
                <a:ea typeface="Nunito Semi Bold" pitchFamily="34" charset="-122"/>
                <a:cs typeface="Nunito Semi Bold" pitchFamily="34" charset="-120"/>
              </a:rPr>
              <a:t>Preprocess</a:t>
            </a:r>
            <a:endParaRPr lang="en-US" sz="2200" dirty="0"/>
          </a:p>
        </p:txBody>
      </p:sp>
      <p:pic>
        <p:nvPicPr>
          <p:cNvPr id="12" name="Image 5"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160739" y="2540787"/>
            <a:ext cx="660198" cy="660199"/>
          </a:xfrm>
          <a:prstGeom prst="rect">
            <a:avLst/>
          </a:prstGeom>
        </p:spPr>
      </p:pic>
      <p:sp>
        <p:nvSpPr>
          <p:cNvPr id="13" name="Text 5"/>
          <p:cNvSpPr/>
          <p:nvPr/>
        </p:nvSpPr>
        <p:spPr>
          <a:xfrm>
            <a:off x="1520347" y="4960621"/>
            <a:ext cx="1927780" cy="349286"/>
          </a:xfrm>
          <a:prstGeom prst="rect">
            <a:avLst/>
          </a:prstGeom>
          <a:noFill/>
          <a:ln/>
        </p:spPr>
        <p:txBody>
          <a:bodyPr wrap="none" lIns="0" tIns="0" rIns="0" bIns="0" rtlCol="0" anchor="t"/>
          <a:lstStyle/>
          <a:p>
            <a:pPr marL="0" indent="0" algn="ctr">
              <a:lnSpc>
                <a:spcPts val="2750"/>
              </a:lnSpc>
              <a:buNone/>
            </a:pPr>
            <a:r>
              <a:rPr lang="en-US" sz="2200" dirty="0">
                <a:solidFill>
                  <a:srgbClr val="FFFFFF"/>
                </a:solidFill>
                <a:latin typeface="Nunito Semi Bold" pitchFamily="34" charset="0"/>
                <a:ea typeface="Nunito Semi Bold" pitchFamily="34" charset="-122"/>
                <a:cs typeface="Nunito Semi Bold" pitchFamily="34" charset="-120"/>
              </a:rPr>
              <a:t>Collection</a:t>
            </a:r>
            <a:endParaRPr lang="en-US" sz="2200" dirty="0"/>
          </a:p>
        </p:txBody>
      </p:sp>
      <p:sp>
        <p:nvSpPr>
          <p:cNvPr id="14" name="Text 6"/>
          <p:cNvSpPr/>
          <p:nvPr/>
        </p:nvSpPr>
        <p:spPr>
          <a:xfrm>
            <a:off x="713065" y="6284595"/>
            <a:ext cx="13204269" cy="791527"/>
          </a:xfrm>
          <a:prstGeom prst="rect">
            <a:avLst/>
          </a:prstGeom>
          <a:noFill/>
          <a:ln/>
        </p:spPr>
        <p:txBody>
          <a:bodyPr wrap="square" lIns="0" tIns="0" rIns="0" bIns="0" rtlCol="0" anchor="t"/>
          <a:lstStyle/>
          <a:p>
            <a:pPr marL="0" indent="0" algn="l">
              <a:lnSpc>
                <a:spcPts val="2050"/>
              </a:lnSpc>
              <a:buNone/>
            </a:pPr>
            <a:r>
              <a:rPr lang="en-US" sz="1400" dirty="0">
                <a:solidFill>
                  <a:srgbClr val="FFFFFF"/>
                </a:solidFill>
                <a:latin typeface="PT Sans" pitchFamily="34" charset="0"/>
                <a:ea typeface="PT Sans" pitchFamily="34" charset="-122"/>
                <a:cs typeface="PT Sans" pitchFamily="34" charset="-120"/>
              </a:rPr>
              <a:t>The pipeline: collect vetted catalogs (NASA Exoplanet Archive, TESS Objects of Interest), perform quality filtering and imputation, compute derived features (insolation flux, equilibrium temperature, bulk density estimates, insolation variability), train and evaluate models with cross-validation and class-balancing techniques, and deploy models via a Flask API with a reactive visualization front end.</a:t>
            </a:r>
            <a:endParaRPr lang="en-US" sz="1400" dirty="0"/>
          </a:p>
        </p:txBody>
      </p:sp>
      <p:sp>
        <p:nvSpPr>
          <p:cNvPr id="15" name="Text 7"/>
          <p:cNvSpPr/>
          <p:nvPr/>
        </p:nvSpPr>
        <p:spPr>
          <a:xfrm>
            <a:off x="713065" y="7246739"/>
            <a:ext cx="13204269" cy="527685"/>
          </a:xfrm>
          <a:prstGeom prst="rect">
            <a:avLst/>
          </a:prstGeom>
          <a:noFill/>
          <a:ln/>
        </p:spPr>
        <p:txBody>
          <a:bodyPr wrap="square" lIns="0" tIns="0" rIns="0" bIns="0" rtlCol="0" anchor="t"/>
          <a:lstStyle/>
          <a:p>
            <a:pPr marL="0" indent="0" algn="l">
              <a:lnSpc>
                <a:spcPts val="2050"/>
              </a:lnSpc>
              <a:buNone/>
            </a:pPr>
            <a:r>
              <a:rPr lang="en-US" sz="1400" dirty="0">
                <a:solidFill>
                  <a:srgbClr val="FFFFFF"/>
                </a:solidFill>
                <a:latin typeface="PT Sans" pitchFamily="34" charset="0"/>
                <a:ea typeface="PT Sans" pitchFamily="34" charset="-122"/>
                <a:cs typeface="PT Sans" pitchFamily="34" charset="-120"/>
              </a:rPr>
              <a:t>Special considerations: uncertainties propagated through input features, synthetic augmentation for under-represented classes, and nested CV for robust hyperparameter selection.</a:t>
            </a:r>
            <a:endParaRPr lang="en-US" sz="1400" dirty="0"/>
          </a:p>
        </p:txBody>
      </p:sp>
      <p:sp>
        <p:nvSpPr>
          <p:cNvPr id="16" name="Rectangle 15">
            <a:extLst>
              <a:ext uri="{FF2B5EF4-FFF2-40B4-BE49-F238E27FC236}">
                <a16:creationId xmlns:a16="http://schemas.microsoft.com/office/drawing/2014/main" id="{1D5D59A2-C47C-F59E-A19D-54D56927905C}"/>
              </a:ext>
            </a:extLst>
          </p:cNvPr>
          <p:cNvSpPr/>
          <p:nvPr/>
        </p:nvSpPr>
        <p:spPr>
          <a:xfrm>
            <a:off x="12678937" y="7571678"/>
            <a:ext cx="1851102" cy="579863"/>
          </a:xfrm>
          <a:prstGeom prst="rect">
            <a:avLst/>
          </a:prstGeom>
          <a:solidFill>
            <a:srgbClr val="01012E"/>
          </a:solidFill>
          <a:ln>
            <a:solidFill>
              <a:srgbClr val="0102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1069896"/>
            <a:ext cx="7468553" cy="1231821"/>
          </a:xfrm>
          <a:prstGeom prst="rect">
            <a:avLst/>
          </a:prstGeom>
          <a:noFill/>
          <a:ln/>
        </p:spPr>
        <p:txBody>
          <a:bodyPr wrap="square" lIns="0" tIns="0" rIns="0" bIns="0" rtlCol="0" anchor="t"/>
          <a:lstStyle/>
          <a:p>
            <a:pPr marL="0" indent="0" algn="l">
              <a:lnSpc>
                <a:spcPts val="4850"/>
              </a:lnSpc>
              <a:buNone/>
            </a:pPr>
            <a:r>
              <a:rPr lang="en-US" sz="3850" dirty="0">
                <a:solidFill>
                  <a:srgbClr val="FFFFFF"/>
                </a:solidFill>
                <a:latin typeface="Nunito Semi Bold" pitchFamily="34" charset="0"/>
                <a:ea typeface="Nunito Semi Bold" pitchFamily="34" charset="-122"/>
                <a:cs typeface="Nunito Semi Bold" pitchFamily="34" charset="-120"/>
              </a:rPr>
              <a:t>Machine Learning Models &amp; Evaluation</a:t>
            </a:r>
            <a:endParaRPr lang="en-US" sz="3850" dirty="0"/>
          </a:p>
        </p:txBody>
      </p:sp>
      <p:sp>
        <p:nvSpPr>
          <p:cNvPr id="4" name="Text 1"/>
          <p:cNvSpPr/>
          <p:nvPr/>
        </p:nvSpPr>
        <p:spPr>
          <a:xfrm>
            <a:off x="6324124" y="2804279"/>
            <a:ext cx="3478768" cy="2010251"/>
          </a:xfrm>
          <a:prstGeom prst="rect">
            <a:avLst/>
          </a:prstGeom>
          <a:noFill/>
          <a:ln/>
        </p:spPr>
        <p:txBody>
          <a:bodyPr wrap="square" lIns="0" tIns="0" rIns="0" bIns="0" rtlCol="0" anchor="t"/>
          <a:lstStyle/>
          <a:p>
            <a:pPr marL="0" indent="0" algn="l">
              <a:lnSpc>
                <a:spcPts val="2600"/>
              </a:lnSpc>
              <a:buNone/>
            </a:pPr>
            <a:r>
              <a:rPr lang="en-US" sz="1600" dirty="0">
                <a:solidFill>
                  <a:srgbClr val="FFFFFF"/>
                </a:solidFill>
                <a:latin typeface="PT Sans" pitchFamily="34" charset="0"/>
                <a:ea typeface="PT Sans" pitchFamily="34" charset="-122"/>
                <a:cs typeface="PT Sans" pitchFamily="34" charset="-120"/>
              </a:rPr>
              <a:t>Primary model: Random Forest classifier — chosen for robustness to feature scaling, interpretability via feature importances, and good baseline performance on tabular astrophysical data.</a:t>
            </a:r>
            <a:endParaRPr lang="en-US" sz="1600" dirty="0"/>
          </a:p>
        </p:txBody>
      </p:sp>
      <p:sp>
        <p:nvSpPr>
          <p:cNvPr id="5" name="Text 2"/>
          <p:cNvSpPr/>
          <p:nvPr/>
        </p:nvSpPr>
        <p:spPr>
          <a:xfrm>
            <a:off x="6324124" y="5003006"/>
            <a:ext cx="3478768" cy="2083475"/>
          </a:xfrm>
          <a:prstGeom prst="rect">
            <a:avLst/>
          </a:prstGeom>
          <a:noFill/>
          <a:ln/>
        </p:spPr>
        <p:txBody>
          <a:bodyPr wrap="square" lIns="0" tIns="0" rIns="0" bIns="0" rtlCol="0" anchor="t"/>
          <a:lstStyle/>
          <a:p>
            <a:pPr marL="342900" indent="-342900" algn="l">
              <a:lnSpc>
                <a:spcPts val="2600"/>
              </a:lnSpc>
              <a:buSzPct val="100000"/>
              <a:buChar char="•"/>
            </a:pPr>
            <a:r>
              <a:rPr lang="en-US" sz="1600" dirty="0">
                <a:solidFill>
                  <a:srgbClr val="FFFFFF"/>
                </a:solidFill>
                <a:latin typeface="PT Sans" pitchFamily="34" charset="0"/>
                <a:ea typeface="PT Sans" pitchFamily="34" charset="-122"/>
                <a:cs typeface="PT Sans" pitchFamily="34" charset="-120"/>
              </a:rPr>
              <a:t>Optional models explored: XGBoost (gradient boosting), Logistic Regression (baseline interpretable)</a:t>
            </a:r>
            <a:endParaRPr lang="en-US" sz="1600" dirty="0"/>
          </a:p>
          <a:p>
            <a:pPr marL="342900" indent="-342900" algn="l">
              <a:lnSpc>
                <a:spcPts val="2600"/>
              </a:lnSpc>
              <a:buSzPct val="100000"/>
              <a:buChar char="•"/>
            </a:pPr>
            <a:r>
              <a:rPr lang="en-US" sz="1600" dirty="0">
                <a:solidFill>
                  <a:srgbClr val="FFFFFF"/>
                </a:solidFill>
                <a:latin typeface="PT Sans" pitchFamily="34" charset="0"/>
                <a:ea typeface="PT Sans" pitchFamily="34" charset="-122"/>
                <a:cs typeface="PT Sans" pitchFamily="34" charset="-120"/>
              </a:rPr>
              <a:t>Ensemble stacking considered to combine complementary strengths</a:t>
            </a:r>
            <a:endParaRPr lang="en-US" sz="1600" dirty="0"/>
          </a:p>
        </p:txBody>
      </p:sp>
      <p:sp>
        <p:nvSpPr>
          <p:cNvPr id="6" name="Text 3"/>
          <p:cNvSpPr/>
          <p:nvPr/>
        </p:nvSpPr>
        <p:spPr>
          <a:xfrm>
            <a:off x="10321528" y="2804279"/>
            <a:ext cx="3478768" cy="335042"/>
          </a:xfrm>
          <a:prstGeom prst="rect">
            <a:avLst/>
          </a:prstGeom>
          <a:noFill/>
          <a:ln/>
        </p:spPr>
        <p:txBody>
          <a:bodyPr wrap="none" lIns="0" tIns="0" rIns="0" bIns="0" rtlCol="0" anchor="t"/>
          <a:lstStyle/>
          <a:p>
            <a:pPr marL="0" indent="0" algn="l">
              <a:lnSpc>
                <a:spcPts val="2600"/>
              </a:lnSpc>
              <a:buNone/>
            </a:pPr>
            <a:r>
              <a:rPr lang="en-US" sz="1600" dirty="0">
                <a:solidFill>
                  <a:srgbClr val="FFFFFF"/>
                </a:solidFill>
                <a:latin typeface="PT Sans" pitchFamily="34" charset="0"/>
                <a:ea typeface="PT Sans" pitchFamily="34" charset="-122"/>
                <a:cs typeface="PT Sans" pitchFamily="34" charset="-120"/>
              </a:rPr>
              <a:t>Evaluation metrics and protocols:</a:t>
            </a:r>
            <a:endParaRPr lang="en-US" sz="1600" dirty="0"/>
          </a:p>
        </p:txBody>
      </p:sp>
      <p:sp>
        <p:nvSpPr>
          <p:cNvPr id="7" name="Text 4"/>
          <p:cNvSpPr/>
          <p:nvPr/>
        </p:nvSpPr>
        <p:spPr>
          <a:xfrm>
            <a:off x="10321528" y="3327797"/>
            <a:ext cx="3478768" cy="3570089"/>
          </a:xfrm>
          <a:prstGeom prst="rect">
            <a:avLst/>
          </a:prstGeom>
          <a:noFill/>
          <a:ln/>
        </p:spPr>
        <p:txBody>
          <a:bodyPr wrap="square" lIns="0" tIns="0" rIns="0" bIns="0" rtlCol="0" anchor="t"/>
          <a:lstStyle/>
          <a:p>
            <a:pPr marL="342900" indent="-342900" algn="l">
              <a:lnSpc>
                <a:spcPts val="2600"/>
              </a:lnSpc>
              <a:buSzPct val="100000"/>
              <a:buChar char="•"/>
            </a:pPr>
            <a:r>
              <a:rPr lang="en-US" sz="1600" dirty="0">
                <a:solidFill>
                  <a:srgbClr val="FFFFFF"/>
                </a:solidFill>
                <a:latin typeface="PT Sans" pitchFamily="34" charset="0"/>
                <a:ea typeface="PT Sans" pitchFamily="34" charset="-122"/>
                <a:cs typeface="PT Sans" pitchFamily="34" charset="-120"/>
              </a:rPr>
              <a:t>Accuracy, Precision, Recall, F1-score — reported per-class and macro-averaged</a:t>
            </a:r>
            <a:endParaRPr lang="en-US" sz="1600" dirty="0"/>
          </a:p>
          <a:p>
            <a:pPr marL="342900" indent="-342900" algn="l">
              <a:lnSpc>
                <a:spcPts val="2600"/>
              </a:lnSpc>
              <a:buSzPct val="100000"/>
              <a:buChar char="•"/>
            </a:pPr>
            <a:r>
              <a:rPr lang="en-US" sz="1600" dirty="0">
                <a:solidFill>
                  <a:srgbClr val="FFFFFF"/>
                </a:solidFill>
                <a:latin typeface="PT Sans" pitchFamily="34" charset="0"/>
                <a:ea typeface="PT Sans" pitchFamily="34" charset="-122"/>
                <a:cs typeface="PT Sans" pitchFamily="34" charset="-120"/>
              </a:rPr>
              <a:t>ROC-AUC and PR-AUC for probabilistic ranking</a:t>
            </a:r>
            <a:endParaRPr lang="en-US" sz="1600" dirty="0"/>
          </a:p>
          <a:p>
            <a:pPr marL="342900" indent="-342900" algn="l">
              <a:lnSpc>
                <a:spcPts val="2600"/>
              </a:lnSpc>
              <a:buSzPct val="100000"/>
              <a:buChar char="•"/>
            </a:pPr>
            <a:r>
              <a:rPr lang="en-US" sz="1600" dirty="0">
                <a:solidFill>
                  <a:srgbClr val="FFFFFF"/>
                </a:solidFill>
                <a:latin typeface="PT Sans" pitchFamily="34" charset="0"/>
                <a:ea typeface="PT Sans" pitchFamily="34" charset="-122"/>
                <a:cs typeface="PT Sans" pitchFamily="34" charset="-120"/>
              </a:rPr>
              <a:t>Calibration curves and Brier score to assess probabilistic reliability</a:t>
            </a:r>
            <a:endParaRPr lang="en-US" sz="1600" dirty="0"/>
          </a:p>
          <a:p>
            <a:pPr marL="342900" indent="-342900" algn="l">
              <a:lnSpc>
                <a:spcPts val="2600"/>
              </a:lnSpc>
              <a:buSzPct val="100000"/>
              <a:buChar char="•"/>
            </a:pPr>
            <a:r>
              <a:rPr lang="en-US" sz="1600" dirty="0">
                <a:solidFill>
                  <a:srgbClr val="FFFFFF"/>
                </a:solidFill>
                <a:latin typeface="PT Sans" pitchFamily="34" charset="0"/>
                <a:ea typeface="PT Sans" pitchFamily="34" charset="-122"/>
                <a:cs typeface="PT Sans" pitchFamily="34" charset="-120"/>
              </a:rPr>
              <a:t>Stratified k-fold cross-validation with held-out test set and temporal splits when possible</a:t>
            </a:r>
            <a:endParaRPr lang="en-US" sz="1600" dirty="0"/>
          </a:p>
        </p:txBody>
      </p:sp>
      <p:sp>
        <p:nvSpPr>
          <p:cNvPr id="8" name="Rectangle 7">
            <a:extLst>
              <a:ext uri="{FF2B5EF4-FFF2-40B4-BE49-F238E27FC236}">
                <a16:creationId xmlns:a16="http://schemas.microsoft.com/office/drawing/2014/main" id="{29CE6386-F70A-8B20-E71A-DFB92B78FF1B}"/>
              </a:ext>
            </a:extLst>
          </p:cNvPr>
          <p:cNvSpPr/>
          <p:nvPr/>
        </p:nvSpPr>
        <p:spPr>
          <a:xfrm>
            <a:off x="12678937" y="7571678"/>
            <a:ext cx="1851102" cy="579863"/>
          </a:xfrm>
          <a:prstGeom prst="rect">
            <a:avLst/>
          </a:prstGeom>
          <a:solidFill>
            <a:srgbClr val="01012E"/>
          </a:solidFill>
          <a:ln>
            <a:solidFill>
              <a:srgbClr val="0102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6231136" y="692467"/>
            <a:ext cx="5477232" cy="547449"/>
          </a:xfrm>
          <a:prstGeom prst="rect">
            <a:avLst/>
          </a:prstGeom>
          <a:noFill/>
          <a:ln/>
        </p:spPr>
        <p:txBody>
          <a:bodyPr wrap="none" lIns="0" tIns="0" rIns="0" bIns="0" rtlCol="0" anchor="t"/>
          <a:lstStyle/>
          <a:p>
            <a:pPr marL="0" indent="0" algn="l">
              <a:lnSpc>
                <a:spcPts val="4300"/>
              </a:lnSpc>
              <a:buNone/>
            </a:pPr>
            <a:r>
              <a:rPr lang="en-US" sz="3400" dirty="0">
                <a:solidFill>
                  <a:srgbClr val="FFFFFF"/>
                </a:solidFill>
                <a:latin typeface="Nunito Semi Bold" pitchFamily="34" charset="0"/>
                <a:ea typeface="Nunito Semi Bold" pitchFamily="34" charset="-122"/>
                <a:cs typeface="Nunito Semi Bold" pitchFamily="34" charset="-120"/>
              </a:rPr>
              <a:t>Prediction System Interface</a:t>
            </a:r>
            <a:endParaRPr lang="en-US" sz="3400" dirty="0"/>
          </a:p>
        </p:txBody>
      </p:sp>
      <p:pic>
        <p:nvPicPr>
          <p:cNvPr id="4"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31136" y="1488162"/>
            <a:ext cx="465415" cy="465415"/>
          </a:xfrm>
          <a:prstGeom prst="rect">
            <a:avLst/>
          </a:prstGeom>
        </p:spPr>
      </p:pic>
      <p:sp>
        <p:nvSpPr>
          <p:cNvPr id="5" name="Text 1"/>
          <p:cNvSpPr/>
          <p:nvPr/>
        </p:nvSpPr>
        <p:spPr>
          <a:xfrm>
            <a:off x="6231136" y="2160389"/>
            <a:ext cx="2190393" cy="273844"/>
          </a:xfrm>
          <a:prstGeom prst="rect">
            <a:avLst/>
          </a:prstGeom>
          <a:noFill/>
          <a:ln/>
        </p:spPr>
        <p:txBody>
          <a:bodyPr wrap="none" lIns="0" tIns="0" rIns="0" bIns="0" rtlCol="0" anchor="t"/>
          <a:lstStyle/>
          <a:p>
            <a:pPr marL="0" indent="0" algn="l">
              <a:lnSpc>
                <a:spcPts val="2150"/>
              </a:lnSpc>
              <a:buNone/>
            </a:pPr>
            <a:r>
              <a:rPr lang="en-US" sz="1700" dirty="0">
                <a:solidFill>
                  <a:srgbClr val="FFFFFF"/>
                </a:solidFill>
                <a:latin typeface="Nunito Semi Bold" pitchFamily="34" charset="0"/>
                <a:ea typeface="Nunito Semi Bold" pitchFamily="34" charset="-122"/>
                <a:cs typeface="Nunito Semi Bold" pitchFamily="34" charset="-120"/>
              </a:rPr>
              <a:t>User Inputs</a:t>
            </a:r>
            <a:endParaRPr lang="en-US" sz="1700" dirty="0"/>
          </a:p>
        </p:txBody>
      </p:sp>
      <p:sp>
        <p:nvSpPr>
          <p:cNvPr id="6" name="Text 2"/>
          <p:cNvSpPr/>
          <p:nvPr/>
        </p:nvSpPr>
        <p:spPr>
          <a:xfrm>
            <a:off x="6231136" y="2533531"/>
            <a:ext cx="7654528" cy="844034"/>
          </a:xfrm>
          <a:prstGeom prst="rect">
            <a:avLst/>
          </a:prstGeom>
          <a:noFill/>
          <a:ln/>
        </p:spPr>
        <p:txBody>
          <a:bodyPr wrap="square" lIns="0" tIns="0" rIns="0" bIns="0" rtlCol="0" anchor="t"/>
          <a:lstStyle/>
          <a:p>
            <a:pPr marL="0" indent="0" algn="l">
              <a:lnSpc>
                <a:spcPts val="2200"/>
              </a:lnSpc>
              <a:buNone/>
            </a:pPr>
            <a:r>
              <a:rPr lang="en-US" sz="1450" dirty="0">
                <a:solidFill>
                  <a:srgbClr val="FFFFFF"/>
                </a:solidFill>
                <a:latin typeface="PT Sans" pitchFamily="34" charset="0"/>
                <a:ea typeface="PT Sans" pitchFamily="34" charset="-122"/>
                <a:cs typeface="PT Sans" pitchFamily="34" charset="-120"/>
              </a:rPr>
              <a:t>Users supply measured planetary and stellar features (e.g., planet radius, orbital period, host Teff, metallicity, transit SNR) or upload catalog batches (CSV). Inputs accept uncertainties to propagate through predictions.</a:t>
            </a:r>
            <a:endParaRPr lang="en-US" sz="1450" dirty="0"/>
          </a:p>
        </p:txBody>
      </p:sp>
      <p:pic>
        <p:nvPicPr>
          <p:cNvPr id="7"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31136" y="3708559"/>
            <a:ext cx="465415" cy="465415"/>
          </a:xfrm>
          <a:prstGeom prst="rect">
            <a:avLst/>
          </a:prstGeom>
        </p:spPr>
      </p:pic>
      <p:sp>
        <p:nvSpPr>
          <p:cNvPr id="8" name="Text 3"/>
          <p:cNvSpPr/>
          <p:nvPr/>
        </p:nvSpPr>
        <p:spPr>
          <a:xfrm>
            <a:off x="6231136" y="4380786"/>
            <a:ext cx="2190393" cy="273844"/>
          </a:xfrm>
          <a:prstGeom prst="rect">
            <a:avLst/>
          </a:prstGeom>
          <a:noFill/>
          <a:ln/>
        </p:spPr>
        <p:txBody>
          <a:bodyPr wrap="none" lIns="0" tIns="0" rIns="0" bIns="0" rtlCol="0" anchor="t"/>
          <a:lstStyle/>
          <a:p>
            <a:pPr marL="0" indent="0" algn="l">
              <a:lnSpc>
                <a:spcPts val="2150"/>
              </a:lnSpc>
              <a:buNone/>
            </a:pPr>
            <a:r>
              <a:rPr lang="en-US" sz="1700" dirty="0">
                <a:solidFill>
                  <a:srgbClr val="FFFFFF"/>
                </a:solidFill>
                <a:latin typeface="Nunito Semi Bold" pitchFamily="34" charset="0"/>
                <a:ea typeface="Nunito Semi Bold" pitchFamily="34" charset="-122"/>
                <a:cs typeface="Nunito Semi Bold" pitchFamily="34" charset="-120"/>
              </a:rPr>
              <a:t>Backend</a:t>
            </a:r>
            <a:endParaRPr lang="en-US" sz="1700" dirty="0"/>
          </a:p>
        </p:txBody>
      </p:sp>
      <p:sp>
        <p:nvSpPr>
          <p:cNvPr id="9" name="Text 4"/>
          <p:cNvSpPr/>
          <p:nvPr/>
        </p:nvSpPr>
        <p:spPr>
          <a:xfrm>
            <a:off x="6231136" y="4753928"/>
            <a:ext cx="7654528" cy="844034"/>
          </a:xfrm>
          <a:prstGeom prst="rect">
            <a:avLst/>
          </a:prstGeom>
          <a:noFill/>
          <a:ln/>
        </p:spPr>
        <p:txBody>
          <a:bodyPr wrap="square" lIns="0" tIns="0" rIns="0" bIns="0" rtlCol="0" anchor="t"/>
          <a:lstStyle/>
          <a:p>
            <a:pPr marL="0" indent="0" algn="l">
              <a:lnSpc>
                <a:spcPts val="2200"/>
              </a:lnSpc>
              <a:buNone/>
            </a:pPr>
            <a:r>
              <a:rPr lang="en-US" sz="1450" dirty="0">
                <a:solidFill>
                  <a:srgbClr val="FFFFFF"/>
                </a:solidFill>
                <a:latin typeface="PT Sans" pitchFamily="34" charset="0"/>
                <a:ea typeface="PT Sans" pitchFamily="34" charset="-122"/>
                <a:cs typeface="PT Sans" pitchFamily="34" charset="-120"/>
              </a:rPr>
              <a:t>Flask-based API serves real-time model inference; containers (Docker) encapsulate model artifacts and preprocessing steps for reproducibility. Model versioning and metadata captured in MLflow.</a:t>
            </a:r>
            <a:endParaRPr lang="en-US" sz="1450" dirty="0"/>
          </a:p>
        </p:txBody>
      </p:sp>
      <p:pic>
        <p:nvPicPr>
          <p:cNvPr id="10"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31136" y="5928955"/>
            <a:ext cx="465415" cy="465415"/>
          </a:xfrm>
          <a:prstGeom prst="rect">
            <a:avLst/>
          </a:prstGeom>
        </p:spPr>
      </p:pic>
      <p:sp>
        <p:nvSpPr>
          <p:cNvPr id="11" name="Text 5"/>
          <p:cNvSpPr/>
          <p:nvPr/>
        </p:nvSpPr>
        <p:spPr>
          <a:xfrm>
            <a:off x="6231136" y="6601182"/>
            <a:ext cx="2190393" cy="273844"/>
          </a:xfrm>
          <a:prstGeom prst="rect">
            <a:avLst/>
          </a:prstGeom>
          <a:noFill/>
          <a:ln/>
        </p:spPr>
        <p:txBody>
          <a:bodyPr wrap="none" lIns="0" tIns="0" rIns="0" bIns="0" rtlCol="0" anchor="t"/>
          <a:lstStyle/>
          <a:p>
            <a:pPr marL="0" indent="0" algn="l">
              <a:lnSpc>
                <a:spcPts val="2150"/>
              </a:lnSpc>
              <a:buNone/>
            </a:pPr>
            <a:r>
              <a:rPr lang="en-US" sz="1700" dirty="0">
                <a:solidFill>
                  <a:srgbClr val="FFFFFF"/>
                </a:solidFill>
                <a:latin typeface="Nunito Semi Bold" pitchFamily="34" charset="0"/>
                <a:ea typeface="Nunito Semi Bold" pitchFamily="34" charset="-122"/>
                <a:cs typeface="Nunito Semi Bold" pitchFamily="34" charset="-120"/>
              </a:rPr>
              <a:t>Outputs</a:t>
            </a:r>
            <a:endParaRPr lang="en-US" sz="1700" dirty="0"/>
          </a:p>
        </p:txBody>
      </p:sp>
      <p:sp>
        <p:nvSpPr>
          <p:cNvPr id="12" name="Text 6"/>
          <p:cNvSpPr/>
          <p:nvPr/>
        </p:nvSpPr>
        <p:spPr>
          <a:xfrm>
            <a:off x="6231136" y="6974324"/>
            <a:ext cx="7654528" cy="562689"/>
          </a:xfrm>
          <a:prstGeom prst="rect">
            <a:avLst/>
          </a:prstGeom>
          <a:noFill/>
          <a:ln/>
        </p:spPr>
        <p:txBody>
          <a:bodyPr wrap="square" lIns="0" tIns="0" rIns="0" bIns="0" rtlCol="0" anchor="t"/>
          <a:lstStyle/>
          <a:p>
            <a:pPr marL="0" indent="0" algn="l">
              <a:lnSpc>
                <a:spcPts val="2200"/>
              </a:lnSpc>
              <a:buNone/>
            </a:pPr>
            <a:r>
              <a:rPr lang="en-US" sz="1450" dirty="0">
                <a:solidFill>
                  <a:srgbClr val="FFFFFF"/>
                </a:solidFill>
                <a:latin typeface="PT Sans" pitchFamily="34" charset="0"/>
                <a:ea typeface="PT Sans" pitchFamily="34" charset="-122"/>
                <a:cs typeface="PT Sans" pitchFamily="34" charset="-120"/>
              </a:rPr>
              <a:t>System returns a habitability probability, label thresholds, uncertainty estimates, and feature-contribution explanations (SHAP-like summaries) to aid interpretability.</a:t>
            </a:r>
            <a:endParaRPr lang="en-US" sz="1450" dirty="0"/>
          </a:p>
        </p:txBody>
      </p:sp>
      <p:sp>
        <p:nvSpPr>
          <p:cNvPr id="13" name="Rectangle 12">
            <a:extLst>
              <a:ext uri="{FF2B5EF4-FFF2-40B4-BE49-F238E27FC236}">
                <a16:creationId xmlns:a16="http://schemas.microsoft.com/office/drawing/2014/main" id="{155C7B2B-73C8-E4F7-4AC2-8DA79C19F32C}"/>
              </a:ext>
            </a:extLst>
          </p:cNvPr>
          <p:cNvSpPr/>
          <p:nvPr/>
        </p:nvSpPr>
        <p:spPr>
          <a:xfrm>
            <a:off x="12678937" y="7571678"/>
            <a:ext cx="1851102" cy="579863"/>
          </a:xfrm>
          <a:prstGeom prst="rect">
            <a:avLst/>
          </a:prstGeom>
          <a:solidFill>
            <a:srgbClr val="01012E"/>
          </a:solidFill>
          <a:ln>
            <a:solidFill>
              <a:srgbClr val="0102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386085AF-F1A9-CE90-459B-0269F7698952}"/>
              </a:ext>
            </a:extLst>
          </p:cNvPr>
          <p:cNvPicPr>
            <a:picLocks noChangeAspect="1"/>
          </p:cNvPicPr>
          <p:nvPr/>
        </p:nvPicPr>
        <p:blipFill>
          <a:blip r:embed="rId9"/>
          <a:stretch>
            <a:fillRect/>
          </a:stretch>
        </p:blipFill>
        <p:spPr>
          <a:xfrm>
            <a:off x="0" y="0"/>
            <a:ext cx="6021659" cy="8229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0CDFDD2-BB0E-F361-2109-5F0679436E97}"/>
              </a:ext>
            </a:extLst>
          </p:cNvPr>
          <p:cNvSpPr/>
          <p:nvPr/>
        </p:nvSpPr>
        <p:spPr>
          <a:xfrm>
            <a:off x="12678937" y="7571678"/>
            <a:ext cx="1851102" cy="579863"/>
          </a:xfrm>
          <a:prstGeom prst="rect">
            <a:avLst/>
          </a:prstGeom>
          <a:solidFill>
            <a:srgbClr val="01012E"/>
          </a:solidFill>
          <a:ln>
            <a:solidFill>
              <a:srgbClr val="0102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 0"/>
          <p:cNvSpPr/>
          <p:nvPr/>
        </p:nvSpPr>
        <p:spPr>
          <a:xfrm>
            <a:off x="784741" y="810816"/>
            <a:ext cx="5141476" cy="576977"/>
          </a:xfrm>
          <a:prstGeom prst="rect">
            <a:avLst/>
          </a:prstGeom>
          <a:noFill/>
          <a:ln/>
        </p:spPr>
        <p:txBody>
          <a:bodyPr wrap="none" lIns="0" tIns="0" rIns="0" bIns="0" rtlCol="0" anchor="t"/>
          <a:lstStyle/>
          <a:p>
            <a:pPr marL="0" indent="0" algn="l">
              <a:lnSpc>
                <a:spcPts val="4500"/>
              </a:lnSpc>
              <a:buNone/>
            </a:pPr>
            <a:r>
              <a:rPr lang="en-US" sz="3600" dirty="0">
                <a:solidFill>
                  <a:srgbClr val="FFFFFF"/>
                </a:solidFill>
                <a:latin typeface="Nunito Semi Bold" pitchFamily="34" charset="0"/>
                <a:ea typeface="Nunito Semi Bold" pitchFamily="34" charset="-122"/>
                <a:cs typeface="Nunito Semi Bold" pitchFamily="34" charset="-120"/>
              </a:rPr>
              <a:t>Visualization Dashboard</a:t>
            </a:r>
            <a:endParaRPr lang="en-US" sz="3600" dirty="0"/>
          </a:p>
        </p:txBody>
      </p:sp>
      <p:sp>
        <p:nvSpPr>
          <p:cNvPr id="4" name="Text 1"/>
          <p:cNvSpPr/>
          <p:nvPr/>
        </p:nvSpPr>
        <p:spPr>
          <a:xfrm>
            <a:off x="784741" y="1828800"/>
            <a:ext cx="4353163" cy="303967"/>
          </a:xfrm>
          <a:prstGeom prst="rect">
            <a:avLst/>
          </a:prstGeom>
          <a:noFill/>
          <a:ln/>
        </p:spPr>
        <p:txBody>
          <a:bodyPr wrap="none" lIns="0" tIns="0" rIns="0" bIns="0" rtlCol="0" anchor="t"/>
          <a:lstStyle/>
          <a:p>
            <a:pPr marL="0" indent="0" algn="l">
              <a:lnSpc>
                <a:spcPts val="2350"/>
              </a:lnSpc>
              <a:buNone/>
            </a:pPr>
            <a:r>
              <a:rPr lang="en-US" sz="1500" dirty="0">
                <a:solidFill>
                  <a:srgbClr val="FFFFFF"/>
                </a:solidFill>
                <a:latin typeface="PT Sans" pitchFamily="34" charset="0"/>
                <a:ea typeface="PT Sans" pitchFamily="34" charset="-122"/>
                <a:cs typeface="PT Sans" pitchFamily="34" charset="-120"/>
              </a:rPr>
              <a:t>Dashboard components:</a:t>
            </a:r>
            <a:endParaRPr lang="en-US" sz="1500" dirty="0"/>
          </a:p>
        </p:txBody>
      </p:sp>
      <p:sp>
        <p:nvSpPr>
          <p:cNvPr id="5" name="Text 2"/>
          <p:cNvSpPr/>
          <p:nvPr/>
        </p:nvSpPr>
        <p:spPr>
          <a:xfrm>
            <a:off x="784741" y="2298144"/>
            <a:ext cx="4353163" cy="5056346"/>
          </a:xfrm>
          <a:prstGeom prst="rect">
            <a:avLst/>
          </a:prstGeom>
          <a:noFill/>
          <a:ln/>
        </p:spPr>
        <p:txBody>
          <a:bodyPr wrap="square" lIns="0" tIns="0" rIns="0" bIns="0" rtlCol="0" anchor="t"/>
          <a:lstStyle/>
          <a:p>
            <a:pPr marL="342900" indent="-342900" algn="l">
              <a:lnSpc>
                <a:spcPts val="2350"/>
              </a:lnSpc>
              <a:buSzPct val="100000"/>
              <a:buChar char="•"/>
            </a:pPr>
            <a:r>
              <a:rPr lang="en-US" sz="1500" b="1" dirty="0">
                <a:solidFill>
                  <a:srgbClr val="FFFFFF"/>
                </a:solidFill>
                <a:latin typeface="PT Sans" pitchFamily="34" charset="0"/>
                <a:ea typeface="PT Sans" pitchFamily="34" charset="-122"/>
                <a:cs typeface="PT Sans" pitchFamily="34" charset="-120"/>
              </a:rPr>
              <a:t>Feature importance</a:t>
            </a:r>
            <a:r>
              <a:rPr lang="en-US" sz="1500" dirty="0">
                <a:solidFill>
                  <a:srgbClr val="FFFFFF"/>
                </a:solidFill>
                <a:latin typeface="PT Sans" pitchFamily="34" charset="0"/>
                <a:ea typeface="PT Sans" pitchFamily="34" charset="-122"/>
                <a:cs typeface="PT Sans" pitchFamily="34" charset="-120"/>
              </a:rPr>
              <a:t>: global and local explanations to surface which variables drive predictions for an individual planet (e.g., insolation flux, radius, equilibrium temperature).</a:t>
            </a:r>
            <a:endParaRPr lang="en-US" sz="1500" dirty="0"/>
          </a:p>
          <a:p>
            <a:pPr marL="342900" indent="-342900" algn="l">
              <a:lnSpc>
                <a:spcPts val="2350"/>
              </a:lnSpc>
              <a:buSzPct val="100000"/>
              <a:buChar char="•"/>
            </a:pPr>
            <a:r>
              <a:rPr lang="en-US" sz="1500" b="1" dirty="0">
                <a:solidFill>
                  <a:srgbClr val="FFFFFF"/>
                </a:solidFill>
                <a:latin typeface="PT Sans" pitchFamily="34" charset="0"/>
                <a:ea typeface="PT Sans" pitchFamily="34" charset="-122"/>
                <a:cs typeface="PT Sans" pitchFamily="34" charset="-120"/>
              </a:rPr>
              <a:t>Habitability distribution</a:t>
            </a:r>
            <a:r>
              <a:rPr lang="en-US" sz="1500" dirty="0">
                <a:solidFill>
                  <a:srgbClr val="FFFFFF"/>
                </a:solidFill>
                <a:latin typeface="PT Sans" pitchFamily="34" charset="0"/>
                <a:ea typeface="PT Sans" pitchFamily="34" charset="-122"/>
                <a:cs typeface="PT Sans" pitchFamily="34" charset="-120"/>
              </a:rPr>
              <a:t>: histograms and kernel-density estimates to visualize candidate score populations and tail behavior for high-score planets.</a:t>
            </a:r>
            <a:endParaRPr lang="en-US" sz="1500" dirty="0"/>
          </a:p>
          <a:p>
            <a:pPr marL="342900" indent="-342900" algn="l">
              <a:lnSpc>
                <a:spcPts val="2350"/>
              </a:lnSpc>
              <a:buSzPct val="100000"/>
              <a:buChar char="•"/>
            </a:pPr>
            <a:r>
              <a:rPr lang="en-US" sz="1500" b="1" dirty="0">
                <a:solidFill>
                  <a:srgbClr val="FFFFFF"/>
                </a:solidFill>
                <a:latin typeface="PT Sans" pitchFamily="34" charset="0"/>
                <a:ea typeface="PT Sans" pitchFamily="34" charset="-122"/>
                <a:cs typeface="PT Sans" pitchFamily="34" charset="-120"/>
              </a:rPr>
              <a:t>Star–planet relationship plots</a:t>
            </a:r>
            <a:r>
              <a:rPr lang="en-US" sz="1500" dirty="0">
                <a:solidFill>
                  <a:srgbClr val="FFFFFF"/>
                </a:solidFill>
                <a:latin typeface="PT Sans" pitchFamily="34" charset="0"/>
                <a:ea typeface="PT Sans" pitchFamily="34" charset="-122"/>
                <a:cs typeface="PT Sans" pitchFamily="34" charset="-120"/>
              </a:rPr>
              <a:t>: scatter and contour plots (e.g., Teff vs. insolation) with interactive brushing to reveal correlated regimes.</a:t>
            </a:r>
            <a:endParaRPr lang="en-US" sz="1500" dirty="0"/>
          </a:p>
          <a:p>
            <a:pPr marL="342900" indent="-342900" algn="l">
              <a:lnSpc>
                <a:spcPts val="2350"/>
              </a:lnSpc>
              <a:buSzPct val="100000"/>
              <a:buChar char="•"/>
            </a:pPr>
            <a:r>
              <a:rPr lang="en-US" sz="1500" b="1" dirty="0">
                <a:solidFill>
                  <a:srgbClr val="FFFFFF"/>
                </a:solidFill>
                <a:latin typeface="PT Sans" pitchFamily="34" charset="0"/>
                <a:ea typeface="PT Sans" pitchFamily="34" charset="-122"/>
                <a:cs typeface="PT Sans" pitchFamily="34" charset="-120"/>
              </a:rPr>
              <a:t>Top recommended exoplanets</a:t>
            </a:r>
            <a:r>
              <a:rPr lang="en-US" sz="1500" dirty="0">
                <a:solidFill>
                  <a:srgbClr val="FFFFFF"/>
                </a:solidFill>
                <a:latin typeface="PT Sans" pitchFamily="34" charset="0"/>
                <a:ea typeface="PT Sans" pitchFamily="34" charset="-122"/>
                <a:cs typeface="PT Sans" pitchFamily="34" charset="-120"/>
              </a:rPr>
              <a:t>: ranked table with metadata, predicted probability, uncertainty, and recommended follow-up priority.</a:t>
            </a:r>
            <a:endParaRPr lang="en-US" sz="1500" dirty="0"/>
          </a:p>
        </p:txBody>
      </p:sp>
      <p:sp>
        <p:nvSpPr>
          <p:cNvPr id="6" name="Text 3"/>
          <p:cNvSpPr/>
          <p:nvPr/>
        </p:nvSpPr>
        <p:spPr>
          <a:xfrm>
            <a:off x="5624155" y="1828800"/>
            <a:ext cx="2742605" cy="303967"/>
          </a:xfrm>
          <a:prstGeom prst="rect">
            <a:avLst/>
          </a:prstGeom>
          <a:noFill/>
          <a:ln/>
        </p:spPr>
        <p:txBody>
          <a:bodyPr wrap="none" lIns="0" tIns="0" rIns="0" bIns="0" rtlCol="0" anchor="t"/>
          <a:lstStyle/>
          <a:p>
            <a:pPr marL="0" indent="0" algn="l">
              <a:lnSpc>
                <a:spcPts val="2350"/>
              </a:lnSpc>
              <a:buNone/>
            </a:pPr>
            <a:r>
              <a:rPr lang="en-US" sz="1500" dirty="0">
                <a:solidFill>
                  <a:srgbClr val="FFFFFF"/>
                </a:solidFill>
                <a:latin typeface="PT Sans" pitchFamily="34" charset="0"/>
                <a:ea typeface="PT Sans" pitchFamily="34" charset="-122"/>
                <a:cs typeface="PT Sans" pitchFamily="34" charset="-120"/>
              </a:rPr>
              <a:t>Visualization features:</a:t>
            </a:r>
            <a:endParaRPr lang="en-US" sz="1500" dirty="0"/>
          </a:p>
        </p:txBody>
      </p:sp>
      <p:sp>
        <p:nvSpPr>
          <p:cNvPr id="7" name="Text 4"/>
          <p:cNvSpPr/>
          <p:nvPr/>
        </p:nvSpPr>
        <p:spPr>
          <a:xfrm>
            <a:off x="5624155" y="2298144"/>
            <a:ext cx="2742605" cy="3776186"/>
          </a:xfrm>
          <a:prstGeom prst="rect">
            <a:avLst/>
          </a:prstGeom>
          <a:noFill/>
          <a:ln/>
        </p:spPr>
        <p:txBody>
          <a:bodyPr wrap="square" lIns="0" tIns="0" rIns="0" bIns="0" rtlCol="0" anchor="t"/>
          <a:lstStyle/>
          <a:p>
            <a:pPr marL="342900" indent="-342900" algn="l">
              <a:lnSpc>
                <a:spcPts val="2350"/>
              </a:lnSpc>
              <a:buSzPct val="100000"/>
              <a:buChar char="•"/>
            </a:pPr>
            <a:r>
              <a:rPr lang="en-US" sz="1500" dirty="0">
                <a:solidFill>
                  <a:srgbClr val="FFFFFF"/>
                </a:solidFill>
                <a:latin typeface="PT Sans" pitchFamily="34" charset="0"/>
                <a:ea typeface="PT Sans" pitchFamily="34" charset="-122"/>
                <a:cs typeface="PT Sans" pitchFamily="34" charset="-120"/>
              </a:rPr>
              <a:t>Linked views and filtering by instrument, catalog provenance, and measurement quality.</a:t>
            </a:r>
            <a:endParaRPr lang="en-US" sz="1500" dirty="0"/>
          </a:p>
          <a:p>
            <a:pPr marL="342900" indent="-342900" algn="l">
              <a:lnSpc>
                <a:spcPts val="2350"/>
              </a:lnSpc>
              <a:buSzPct val="100000"/>
              <a:buChar char="•"/>
            </a:pPr>
            <a:r>
              <a:rPr lang="en-US" sz="1500" dirty="0">
                <a:solidFill>
                  <a:srgbClr val="FFFFFF"/>
                </a:solidFill>
                <a:latin typeface="PT Sans" pitchFamily="34" charset="0"/>
                <a:ea typeface="PT Sans" pitchFamily="34" charset="-122"/>
                <a:cs typeface="PT Sans" pitchFamily="34" charset="-120"/>
              </a:rPr>
              <a:t>Exportable candidate lists and publication-quality plots.</a:t>
            </a:r>
            <a:endParaRPr lang="en-US" sz="1500" dirty="0"/>
          </a:p>
          <a:p>
            <a:pPr marL="342900" indent="-342900" algn="l">
              <a:lnSpc>
                <a:spcPts val="2350"/>
              </a:lnSpc>
              <a:buSzPct val="100000"/>
              <a:buChar char="•"/>
            </a:pPr>
            <a:r>
              <a:rPr lang="en-US" sz="1500" dirty="0">
                <a:solidFill>
                  <a:srgbClr val="FFFFFF"/>
                </a:solidFill>
                <a:latin typeface="PT Sans" pitchFamily="34" charset="0"/>
                <a:ea typeface="PT Sans" pitchFamily="34" charset="-122"/>
                <a:cs typeface="PT Sans" pitchFamily="34" charset="-120"/>
              </a:rPr>
              <a:t>Ability to simulate measurement improvements (e.g., reduced radius uncertainty) and observe score sensitivity.</a:t>
            </a:r>
            <a:endParaRPr lang="en-US" sz="1500" dirty="0"/>
          </a:p>
        </p:txBody>
      </p:sp>
      <p:pic>
        <p:nvPicPr>
          <p:cNvPr id="10" name="Picture 9">
            <a:extLst>
              <a:ext uri="{FF2B5EF4-FFF2-40B4-BE49-F238E27FC236}">
                <a16:creationId xmlns:a16="http://schemas.microsoft.com/office/drawing/2014/main" id="{B5B84C0F-CC59-D9E8-2BA2-7BC3965AA64B}"/>
              </a:ext>
            </a:extLst>
          </p:cNvPr>
          <p:cNvPicPr>
            <a:picLocks noChangeAspect="1"/>
          </p:cNvPicPr>
          <p:nvPr/>
        </p:nvPicPr>
        <p:blipFill>
          <a:blip r:embed="rId3"/>
          <a:srcRect t="949"/>
          <a:stretch/>
        </p:blipFill>
        <p:spPr>
          <a:xfrm>
            <a:off x="8962234" y="0"/>
            <a:ext cx="5668166" cy="82295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3D18581-8A74-6BAE-1B0F-B8DE0F44A9E1}"/>
              </a:ext>
            </a:extLst>
          </p:cNvPr>
          <p:cNvSpPr/>
          <p:nvPr/>
        </p:nvSpPr>
        <p:spPr>
          <a:xfrm>
            <a:off x="12678937" y="7571678"/>
            <a:ext cx="1851102" cy="579863"/>
          </a:xfrm>
          <a:prstGeom prst="rect">
            <a:avLst/>
          </a:prstGeom>
          <a:solidFill>
            <a:srgbClr val="01012E"/>
          </a:solidFill>
          <a:ln>
            <a:solidFill>
              <a:srgbClr val="0102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64858" y="801886"/>
            <a:ext cx="4652963" cy="562332"/>
          </a:xfrm>
          <a:prstGeom prst="rect">
            <a:avLst/>
          </a:prstGeom>
          <a:noFill/>
          <a:ln/>
        </p:spPr>
        <p:txBody>
          <a:bodyPr wrap="none" lIns="0" tIns="0" rIns="0" bIns="0" rtlCol="0" anchor="t"/>
          <a:lstStyle/>
          <a:p>
            <a:pPr marL="0" indent="0" algn="l">
              <a:lnSpc>
                <a:spcPts val="4400"/>
              </a:lnSpc>
              <a:buNone/>
            </a:pPr>
            <a:r>
              <a:rPr lang="en-US" sz="3500" dirty="0">
                <a:solidFill>
                  <a:srgbClr val="FFFFFF"/>
                </a:solidFill>
                <a:latin typeface="Nunito Semi Bold" pitchFamily="34" charset="0"/>
                <a:ea typeface="Nunito Semi Bold" pitchFamily="34" charset="-122"/>
                <a:cs typeface="Nunito Semi Bold" pitchFamily="34" charset="-120"/>
              </a:rPr>
              <a:t>Results &amp; Applications</a:t>
            </a:r>
            <a:endParaRPr lang="en-US" sz="3500" dirty="0"/>
          </a:p>
        </p:txBody>
      </p:sp>
      <p:sp>
        <p:nvSpPr>
          <p:cNvPr id="4" name="Shape 1"/>
          <p:cNvSpPr/>
          <p:nvPr/>
        </p:nvSpPr>
        <p:spPr>
          <a:xfrm>
            <a:off x="764858" y="1626037"/>
            <a:ext cx="3719870" cy="3154204"/>
          </a:xfrm>
          <a:prstGeom prst="roundRect">
            <a:avLst>
              <a:gd name="adj" fmla="val 9094"/>
            </a:avLst>
          </a:prstGeom>
          <a:solidFill>
            <a:srgbClr val="00002E"/>
          </a:solidFill>
          <a:ln w="22860">
            <a:solidFill>
              <a:srgbClr val="F2B42D"/>
            </a:solidFill>
            <a:prstDash val="solid"/>
          </a:ln>
        </p:spPr>
      </p:sp>
      <p:sp>
        <p:nvSpPr>
          <p:cNvPr id="5" name="Text 2"/>
          <p:cNvSpPr/>
          <p:nvPr/>
        </p:nvSpPr>
        <p:spPr>
          <a:xfrm>
            <a:off x="978932" y="1840111"/>
            <a:ext cx="2349460" cy="281107"/>
          </a:xfrm>
          <a:prstGeom prst="rect">
            <a:avLst/>
          </a:prstGeom>
          <a:noFill/>
          <a:ln/>
        </p:spPr>
        <p:txBody>
          <a:bodyPr wrap="none" lIns="0" tIns="0" rIns="0" bIns="0" rtlCol="0" anchor="t"/>
          <a:lstStyle/>
          <a:p>
            <a:pPr marL="0" indent="0" algn="l">
              <a:lnSpc>
                <a:spcPts val="2200"/>
              </a:lnSpc>
              <a:buNone/>
            </a:pPr>
            <a:r>
              <a:rPr lang="en-US" sz="1750" dirty="0">
                <a:solidFill>
                  <a:srgbClr val="FFFFFF"/>
                </a:solidFill>
                <a:latin typeface="Nunito Semi Bold" pitchFamily="34" charset="0"/>
                <a:ea typeface="Nunito Semi Bold" pitchFamily="34" charset="-122"/>
                <a:cs typeface="Nunito Semi Bold" pitchFamily="34" charset="-120"/>
              </a:rPr>
              <a:t>Performance Summary</a:t>
            </a:r>
            <a:endParaRPr lang="en-US" sz="1750" dirty="0"/>
          </a:p>
        </p:txBody>
      </p:sp>
      <p:sp>
        <p:nvSpPr>
          <p:cNvPr id="6" name="Text 3"/>
          <p:cNvSpPr/>
          <p:nvPr/>
        </p:nvSpPr>
        <p:spPr>
          <a:xfrm>
            <a:off x="978932" y="2225873"/>
            <a:ext cx="3291721" cy="1755219"/>
          </a:xfrm>
          <a:prstGeom prst="rect">
            <a:avLst/>
          </a:prstGeom>
          <a:noFill/>
          <a:ln/>
        </p:spPr>
        <p:txBody>
          <a:bodyPr wrap="square" lIns="0" tIns="0" rIns="0" bIns="0" rtlCol="0" anchor="t"/>
          <a:lstStyle/>
          <a:p>
            <a:pPr>
              <a:buFont typeface="Arial" panose="020B0604020202020204" pitchFamily="34" charset="0"/>
              <a:buChar char="•"/>
            </a:pPr>
            <a:r>
              <a:rPr lang="en-IN" sz="1400" dirty="0">
                <a:solidFill>
                  <a:schemeClr val="bg1"/>
                </a:solidFill>
                <a:latin typeface="PT Sans" panose="020B0503020203020204" pitchFamily="34" charset="0"/>
              </a:rPr>
              <a:t>Achieved </a:t>
            </a:r>
            <a:r>
              <a:rPr lang="en-IN" sz="1400" b="1" dirty="0">
                <a:solidFill>
                  <a:schemeClr val="bg1"/>
                </a:solidFill>
                <a:latin typeface="PT Sans" panose="020B0503020203020204" pitchFamily="34" charset="0"/>
              </a:rPr>
              <a:t>Accuracy ~0.999</a:t>
            </a:r>
            <a:r>
              <a:rPr lang="en-IN" sz="1400" dirty="0">
                <a:solidFill>
                  <a:schemeClr val="bg1"/>
                </a:solidFill>
                <a:latin typeface="PT Sans" panose="020B0503020203020204" pitchFamily="34" charset="0"/>
              </a:rPr>
              <a:t>, indicating near-perfect predictions.</a:t>
            </a:r>
          </a:p>
          <a:p>
            <a:pPr>
              <a:buFont typeface="Arial" panose="020B0604020202020204" pitchFamily="34" charset="0"/>
              <a:buChar char="•"/>
            </a:pPr>
            <a:r>
              <a:rPr lang="en-IN" sz="1400" dirty="0">
                <a:solidFill>
                  <a:schemeClr val="bg1"/>
                </a:solidFill>
                <a:latin typeface="PT Sans" panose="020B0503020203020204" pitchFamily="34" charset="0"/>
              </a:rPr>
              <a:t>Maintained strong </a:t>
            </a:r>
            <a:r>
              <a:rPr lang="en-IN" sz="1400" b="1" dirty="0">
                <a:solidFill>
                  <a:schemeClr val="bg1"/>
                </a:solidFill>
                <a:latin typeface="PT Sans" panose="020B0503020203020204" pitchFamily="34" charset="0"/>
              </a:rPr>
              <a:t>Precision ~0.986</a:t>
            </a:r>
            <a:r>
              <a:rPr lang="en-IN" sz="1400" dirty="0">
                <a:solidFill>
                  <a:schemeClr val="bg1"/>
                </a:solidFill>
                <a:latin typeface="PT Sans" panose="020B0503020203020204" pitchFamily="34" charset="0"/>
              </a:rPr>
              <a:t> and </a:t>
            </a:r>
            <a:r>
              <a:rPr lang="en-IN" sz="1400" b="1" dirty="0">
                <a:solidFill>
                  <a:schemeClr val="bg1"/>
                </a:solidFill>
                <a:latin typeface="PT Sans" panose="020B0503020203020204" pitchFamily="34" charset="0"/>
              </a:rPr>
              <a:t>Recall ~0.990</a:t>
            </a:r>
            <a:r>
              <a:rPr lang="en-IN" sz="1400" dirty="0">
                <a:solidFill>
                  <a:schemeClr val="bg1"/>
                </a:solidFill>
                <a:latin typeface="PT Sans" panose="020B0503020203020204" pitchFamily="34" charset="0"/>
              </a:rPr>
              <a:t>.</a:t>
            </a:r>
          </a:p>
          <a:p>
            <a:pPr>
              <a:buFont typeface="Arial" panose="020B0604020202020204" pitchFamily="34" charset="0"/>
              <a:buChar char="•"/>
            </a:pPr>
            <a:r>
              <a:rPr lang="en-IN" sz="1400" dirty="0">
                <a:solidFill>
                  <a:schemeClr val="bg1"/>
                </a:solidFill>
                <a:latin typeface="PT Sans" panose="020B0503020203020204" pitchFamily="34" charset="0"/>
              </a:rPr>
              <a:t>High </a:t>
            </a:r>
            <a:r>
              <a:rPr lang="en-IN" sz="1400" b="1" dirty="0">
                <a:solidFill>
                  <a:schemeClr val="bg1"/>
                </a:solidFill>
                <a:latin typeface="PT Sans" panose="020B0503020203020204" pitchFamily="34" charset="0"/>
              </a:rPr>
              <a:t>F1-score ~0.988</a:t>
            </a:r>
            <a:r>
              <a:rPr lang="en-IN" sz="1400" dirty="0">
                <a:solidFill>
                  <a:schemeClr val="bg1"/>
                </a:solidFill>
                <a:latin typeface="PT Sans" panose="020B0503020203020204" pitchFamily="34" charset="0"/>
              </a:rPr>
              <a:t> reflects balanced performance.</a:t>
            </a:r>
          </a:p>
          <a:p>
            <a:pPr>
              <a:buFont typeface="Arial" panose="020B0604020202020204" pitchFamily="34" charset="0"/>
              <a:buChar char="•"/>
            </a:pPr>
            <a:r>
              <a:rPr lang="en-IN" sz="1400" dirty="0">
                <a:solidFill>
                  <a:schemeClr val="bg1"/>
                </a:solidFill>
                <a:latin typeface="PT Sans" panose="020B0503020203020204" pitchFamily="34" charset="0"/>
              </a:rPr>
              <a:t>Excellent </a:t>
            </a:r>
            <a:r>
              <a:rPr lang="en-IN" sz="1400" b="1" dirty="0">
                <a:solidFill>
                  <a:schemeClr val="bg1"/>
                </a:solidFill>
                <a:latin typeface="PT Sans" panose="020B0503020203020204" pitchFamily="34" charset="0"/>
              </a:rPr>
              <a:t>ROC-AUC ~0.9999</a:t>
            </a:r>
            <a:r>
              <a:rPr lang="en-IN" sz="1400" dirty="0">
                <a:solidFill>
                  <a:schemeClr val="bg1"/>
                </a:solidFill>
                <a:latin typeface="PT Sans" panose="020B0503020203020204" pitchFamily="34" charset="0"/>
              </a:rPr>
              <a:t> shows strong class separability.</a:t>
            </a:r>
          </a:p>
          <a:p>
            <a:pPr>
              <a:buFont typeface="Arial" panose="020B0604020202020204" pitchFamily="34" charset="0"/>
              <a:buChar char="•"/>
            </a:pPr>
            <a:r>
              <a:rPr lang="en-IN" sz="1400" dirty="0">
                <a:solidFill>
                  <a:schemeClr val="bg1"/>
                </a:solidFill>
                <a:latin typeface="PT Sans" panose="020B0503020203020204" pitchFamily="34" charset="0"/>
              </a:rPr>
              <a:t>Calibration improved probability reliability for accurate exoplanet ranking tasks.</a:t>
            </a:r>
          </a:p>
        </p:txBody>
      </p:sp>
      <p:sp>
        <p:nvSpPr>
          <p:cNvPr id="7" name="Shape 4"/>
          <p:cNvSpPr/>
          <p:nvPr/>
        </p:nvSpPr>
        <p:spPr>
          <a:xfrm>
            <a:off x="4659273" y="1626037"/>
            <a:ext cx="3719870" cy="3154204"/>
          </a:xfrm>
          <a:prstGeom prst="roundRect">
            <a:avLst>
              <a:gd name="adj" fmla="val 9094"/>
            </a:avLst>
          </a:prstGeom>
          <a:solidFill>
            <a:srgbClr val="00002E"/>
          </a:solidFill>
          <a:ln w="22860">
            <a:solidFill>
              <a:srgbClr val="D7425E"/>
            </a:solidFill>
            <a:prstDash val="solid"/>
          </a:ln>
        </p:spPr>
      </p:sp>
      <p:sp>
        <p:nvSpPr>
          <p:cNvPr id="8" name="Text 5"/>
          <p:cNvSpPr/>
          <p:nvPr/>
        </p:nvSpPr>
        <p:spPr>
          <a:xfrm>
            <a:off x="4873347" y="1840111"/>
            <a:ext cx="2249567" cy="281107"/>
          </a:xfrm>
          <a:prstGeom prst="rect">
            <a:avLst/>
          </a:prstGeom>
          <a:noFill/>
          <a:ln/>
        </p:spPr>
        <p:txBody>
          <a:bodyPr wrap="none" lIns="0" tIns="0" rIns="0" bIns="0" rtlCol="0" anchor="t"/>
          <a:lstStyle/>
          <a:p>
            <a:pPr marL="0" indent="0" algn="l">
              <a:lnSpc>
                <a:spcPts val="2200"/>
              </a:lnSpc>
              <a:buNone/>
            </a:pPr>
            <a:r>
              <a:rPr lang="en-US" sz="1750" dirty="0">
                <a:solidFill>
                  <a:srgbClr val="FFFFFF"/>
                </a:solidFill>
                <a:latin typeface="Nunito Semi Bold" pitchFamily="34" charset="0"/>
                <a:ea typeface="Nunito Semi Bold" pitchFamily="34" charset="-122"/>
                <a:cs typeface="Nunito Semi Bold" pitchFamily="34" charset="-120"/>
              </a:rPr>
              <a:t>Scientific Insights</a:t>
            </a:r>
            <a:endParaRPr lang="en-US" sz="1750" dirty="0"/>
          </a:p>
        </p:txBody>
      </p:sp>
      <p:sp>
        <p:nvSpPr>
          <p:cNvPr id="9" name="Text 6"/>
          <p:cNvSpPr/>
          <p:nvPr/>
        </p:nvSpPr>
        <p:spPr>
          <a:xfrm>
            <a:off x="4873347" y="2225873"/>
            <a:ext cx="3291721" cy="2340293"/>
          </a:xfrm>
          <a:prstGeom prst="rect">
            <a:avLst/>
          </a:prstGeom>
          <a:noFill/>
          <a:ln/>
        </p:spPr>
        <p:txBody>
          <a:bodyPr wrap="square" lIns="0" tIns="0" rIns="0" bIns="0" rtlCol="0" anchor="t"/>
          <a:lstStyle/>
          <a:p>
            <a:pPr marL="0" indent="0" algn="l">
              <a:lnSpc>
                <a:spcPts val="2300"/>
              </a:lnSpc>
              <a:buNone/>
            </a:pPr>
            <a:r>
              <a:rPr lang="en-US" sz="1500" dirty="0">
                <a:solidFill>
                  <a:srgbClr val="FFFFFF"/>
                </a:solidFill>
                <a:latin typeface="PT Sans" pitchFamily="34" charset="0"/>
                <a:ea typeface="PT Sans" pitchFamily="34" charset="-122"/>
                <a:cs typeface="PT Sans" pitchFamily="34" charset="-120"/>
              </a:rPr>
              <a:t>Derived features (insolation flux, equilibrium temperature) and radius-to-mass proxies dominated importance. Nonlinear interactions — e.g., moderate flux + rocky radius regime — identified as high-probability regions, consistent with theoretical habitable-zone expectations.</a:t>
            </a:r>
            <a:endParaRPr lang="en-US" sz="1500" dirty="0"/>
          </a:p>
        </p:txBody>
      </p:sp>
      <p:sp>
        <p:nvSpPr>
          <p:cNvPr id="10" name="Shape 7"/>
          <p:cNvSpPr/>
          <p:nvPr/>
        </p:nvSpPr>
        <p:spPr>
          <a:xfrm>
            <a:off x="764858" y="4954786"/>
            <a:ext cx="7614285" cy="1691521"/>
          </a:xfrm>
          <a:prstGeom prst="roundRect">
            <a:avLst>
              <a:gd name="adj" fmla="val 16957"/>
            </a:avLst>
          </a:prstGeom>
          <a:solidFill>
            <a:srgbClr val="00002E"/>
          </a:solidFill>
          <a:ln w="22860">
            <a:solidFill>
              <a:srgbClr val="DD785E"/>
            </a:solidFill>
            <a:prstDash val="solid"/>
          </a:ln>
        </p:spPr>
      </p:sp>
      <p:sp>
        <p:nvSpPr>
          <p:cNvPr id="11" name="Text 8"/>
          <p:cNvSpPr/>
          <p:nvPr/>
        </p:nvSpPr>
        <p:spPr>
          <a:xfrm>
            <a:off x="978932" y="5168860"/>
            <a:ext cx="2249567" cy="281107"/>
          </a:xfrm>
          <a:prstGeom prst="rect">
            <a:avLst/>
          </a:prstGeom>
          <a:noFill/>
          <a:ln/>
        </p:spPr>
        <p:txBody>
          <a:bodyPr wrap="none" lIns="0" tIns="0" rIns="0" bIns="0" rtlCol="0" anchor="t"/>
          <a:lstStyle/>
          <a:p>
            <a:pPr marL="0" indent="0" algn="l">
              <a:lnSpc>
                <a:spcPts val="2200"/>
              </a:lnSpc>
              <a:buNone/>
            </a:pPr>
            <a:r>
              <a:rPr lang="en-US" sz="1750" dirty="0">
                <a:solidFill>
                  <a:srgbClr val="FFFFFF"/>
                </a:solidFill>
                <a:latin typeface="Nunito Semi Bold" pitchFamily="34" charset="0"/>
                <a:ea typeface="Nunito Semi Bold" pitchFamily="34" charset="-122"/>
                <a:cs typeface="Nunito Semi Bold" pitchFamily="34" charset="-120"/>
              </a:rPr>
              <a:t>Use Cases</a:t>
            </a:r>
            <a:endParaRPr lang="en-US" sz="1750" dirty="0"/>
          </a:p>
        </p:txBody>
      </p:sp>
      <p:sp>
        <p:nvSpPr>
          <p:cNvPr id="12" name="Text 9"/>
          <p:cNvSpPr/>
          <p:nvPr/>
        </p:nvSpPr>
        <p:spPr>
          <a:xfrm>
            <a:off x="978932" y="5554623"/>
            <a:ext cx="7186136" cy="877610"/>
          </a:xfrm>
          <a:prstGeom prst="rect">
            <a:avLst/>
          </a:prstGeom>
          <a:noFill/>
          <a:ln/>
        </p:spPr>
        <p:txBody>
          <a:bodyPr wrap="square" lIns="0" tIns="0" rIns="0" bIns="0" rtlCol="0" anchor="t"/>
          <a:lstStyle/>
          <a:p>
            <a:pPr marL="0" indent="0" algn="l">
              <a:lnSpc>
                <a:spcPts val="2300"/>
              </a:lnSpc>
              <a:buNone/>
            </a:pPr>
            <a:r>
              <a:rPr lang="en-US" sz="1500" dirty="0">
                <a:solidFill>
                  <a:srgbClr val="FFFFFF"/>
                </a:solidFill>
                <a:latin typeface="PT Sans" pitchFamily="34" charset="0"/>
                <a:ea typeface="PT Sans" pitchFamily="34" charset="-122"/>
                <a:cs typeface="PT Sans" pitchFamily="34" charset="-120"/>
              </a:rPr>
              <a:t>Enables efficient scheduling for spectroscopic follow-up (JWST, ELTs), prioritized target lists for habitability surveys, and pedagogical tools for graduate-level exoplanet data courses.</a:t>
            </a:r>
            <a:endParaRPr lang="en-US" sz="1500" dirty="0"/>
          </a:p>
        </p:txBody>
      </p:sp>
      <p:sp>
        <p:nvSpPr>
          <p:cNvPr id="13" name="Text 10"/>
          <p:cNvSpPr/>
          <p:nvPr/>
        </p:nvSpPr>
        <p:spPr>
          <a:xfrm>
            <a:off x="764858" y="6842641"/>
            <a:ext cx="7614285" cy="585073"/>
          </a:xfrm>
          <a:prstGeom prst="rect">
            <a:avLst/>
          </a:prstGeom>
          <a:noFill/>
          <a:ln/>
        </p:spPr>
        <p:txBody>
          <a:bodyPr wrap="square" lIns="0" tIns="0" rIns="0" bIns="0" rtlCol="0" anchor="t"/>
          <a:lstStyle/>
          <a:p>
            <a:pPr marL="0" indent="0" algn="l">
              <a:lnSpc>
                <a:spcPts val="2300"/>
              </a:lnSpc>
              <a:buNone/>
            </a:pPr>
            <a:r>
              <a:rPr lang="en-US" sz="1500" dirty="0">
                <a:solidFill>
                  <a:srgbClr val="FFFFFF"/>
                </a:solidFill>
                <a:latin typeface="PT Sans" pitchFamily="34" charset="0"/>
                <a:ea typeface="PT Sans" pitchFamily="34" charset="-122"/>
                <a:cs typeface="PT Sans" pitchFamily="34" charset="-120"/>
              </a:rPr>
              <a:t>Note: numerical values above are illustrative; final reported metrics must reference the dataset split and confidence intervals obtained during cross-validation.</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6FB35539-C17F-C3C7-37C2-E76536F2E73C}"/>
              </a:ext>
            </a:extLst>
          </p:cNvPr>
          <p:cNvSpPr/>
          <p:nvPr/>
        </p:nvSpPr>
        <p:spPr>
          <a:xfrm>
            <a:off x="12678937" y="7571678"/>
            <a:ext cx="1851102" cy="579863"/>
          </a:xfrm>
          <a:prstGeom prst="rect">
            <a:avLst/>
          </a:prstGeom>
          <a:solidFill>
            <a:srgbClr val="01012E"/>
          </a:solidFill>
          <a:ln>
            <a:solidFill>
              <a:srgbClr val="0102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06194" y="833327"/>
            <a:ext cx="4347448" cy="444937"/>
          </a:xfrm>
          <a:prstGeom prst="rect">
            <a:avLst/>
          </a:prstGeom>
          <a:noFill/>
          <a:ln/>
        </p:spPr>
        <p:txBody>
          <a:bodyPr wrap="none" lIns="0" tIns="0" rIns="0" bIns="0" rtlCol="0" anchor="t"/>
          <a:lstStyle/>
          <a:p>
            <a:pPr marL="0" indent="0" algn="l">
              <a:lnSpc>
                <a:spcPts val="3500"/>
              </a:lnSpc>
              <a:buNone/>
            </a:pPr>
            <a:r>
              <a:rPr lang="en-US" sz="2800" dirty="0">
                <a:solidFill>
                  <a:srgbClr val="FFFFFF"/>
                </a:solidFill>
                <a:latin typeface="Nunito Semi Bold" pitchFamily="34" charset="0"/>
                <a:ea typeface="Nunito Semi Bold" pitchFamily="34" charset="-122"/>
                <a:cs typeface="Nunito Semi Bold" pitchFamily="34" charset="-120"/>
              </a:rPr>
              <a:t>Conclusion &amp; Future Scope</a:t>
            </a:r>
            <a:endParaRPr lang="en-US" sz="2800" dirty="0"/>
          </a:p>
        </p:txBody>
      </p:sp>
      <p:sp>
        <p:nvSpPr>
          <p:cNvPr id="4" name="Text 1"/>
          <p:cNvSpPr/>
          <p:nvPr/>
        </p:nvSpPr>
        <p:spPr>
          <a:xfrm>
            <a:off x="605195" y="1597999"/>
            <a:ext cx="7933611" cy="625435"/>
          </a:xfrm>
          <a:prstGeom prst="rect">
            <a:avLst/>
          </a:prstGeom>
          <a:noFill/>
          <a:ln/>
        </p:spPr>
        <p:txBody>
          <a:bodyPr wrap="square" lIns="0" tIns="0" rIns="0" bIns="0" rtlCol="0" anchor="t"/>
          <a:lstStyle/>
          <a:p>
            <a:pPr marL="0" indent="0" algn="l">
              <a:buNone/>
            </a:pPr>
            <a:r>
              <a:rPr lang="en-US" sz="1600" dirty="0">
                <a:solidFill>
                  <a:srgbClr val="FFFFFF"/>
                </a:solidFill>
                <a:latin typeface="PT Sans" pitchFamily="34" charset="0"/>
                <a:ea typeface="PT Sans" pitchFamily="34" charset="-122"/>
                <a:cs typeface="PT Sans" pitchFamily="34" charset="-120"/>
              </a:rPr>
              <a:t>ExoHabitAI demonstrates a practical, interpretable ML approach to prioritize exoplanet candidates for habitability studies. The system improves triage efficiency, surfaces physically meaningful drivers of predictability, and integrates into research workflows via a web API and visualization dashboard.</a:t>
            </a:r>
            <a:endParaRPr lang="en-US" sz="1600" dirty="0"/>
          </a:p>
        </p:txBody>
      </p:sp>
      <p:sp>
        <p:nvSpPr>
          <p:cNvPr id="5" name="Shape 2"/>
          <p:cNvSpPr/>
          <p:nvPr/>
        </p:nvSpPr>
        <p:spPr>
          <a:xfrm>
            <a:off x="605195" y="2748082"/>
            <a:ext cx="7933611" cy="1037749"/>
          </a:xfrm>
          <a:prstGeom prst="roundRect">
            <a:avLst>
              <a:gd name="adj" fmla="val 21872"/>
            </a:avLst>
          </a:prstGeom>
          <a:solidFill>
            <a:srgbClr val="00002E">
              <a:alpha val="75000"/>
            </a:srgbClr>
          </a:solidFill>
          <a:ln w="15240">
            <a:solidFill>
              <a:srgbClr val="F2B42D"/>
            </a:solidFill>
            <a:prstDash val="solid"/>
          </a:ln>
        </p:spPr>
      </p:sp>
      <p:sp>
        <p:nvSpPr>
          <p:cNvPr id="6" name="Shape 3"/>
          <p:cNvSpPr/>
          <p:nvPr/>
        </p:nvSpPr>
        <p:spPr>
          <a:xfrm>
            <a:off x="620435" y="2763322"/>
            <a:ext cx="605195" cy="1007269"/>
          </a:xfrm>
          <a:prstGeom prst="roundRect">
            <a:avLst>
              <a:gd name="adj" fmla="val 34482"/>
            </a:avLst>
          </a:prstGeom>
          <a:solidFill>
            <a:srgbClr val="00002E"/>
          </a:solidFill>
          <a:ln/>
        </p:spPr>
      </p:sp>
      <p:sp>
        <p:nvSpPr>
          <p:cNvPr id="7" name="Text 4"/>
          <p:cNvSpPr/>
          <p:nvPr/>
        </p:nvSpPr>
        <p:spPr>
          <a:xfrm>
            <a:off x="1334929" y="2914531"/>
            <a:ext cx="1780103" cy="222409"/>
          </a:xfrm>
          <a:prstGeom prst="rect">
            <a:avLst/>
          </a:prstGeom>
          <a:noFill/>
          <a:ln/>
        </p:spPr>
        <p:txBody>
          <a:bodyPr wrap="none" lIns="0" tIns="0" rIns="0" bIns="0" rtlCol="0" anchor="t"/>
          <a:lstStyle/>
          <a:p>
            <a:pPr marL="0" indent="0" algn="l">
              <a:lnSpc>
                <a:spcPts val="1750"/>
              </a:lnSpc>
              <a:buNone/>
            </a:pPr>
            <a:r>
              <a:rPr lang="en-US" sz="1600" dirty="0">
                <a:solidFill>
                  <a:srgbClr val="FFFFFF"/>
                </a:solidFill>
                <a:latin typeface="Nunito Semi Bold" pitchFamily="34" charset="0"/>
                <a:ea typeface="Nunito Semi Bold" pitchFamily="34" charset="-122"/>
                <a:cs typeface="Nunito Semi Bold" pitchFamily="34" charset="-120"/>
              </a:rPr>
              <a:t>Immediate next steps</a:t>
            </a:r>
            <a:endParaRPr lang="en-US" sz="1600" dirty="0"/>
          </a:p>
        </p:txBody>
      </p:sp>
      <p:sp>
        <p:nvSpPr>
          <p:cNvPr id="8" name="Text 5"/>
          <p:cNvSpPr/>
          <p:nvPr/>
        </p:nvSpPr>
        <p:spPr>
          <a:xfrm>
            <a:off x="1334929" y="3202424"/>
            <a:ext cx="7037427" cy="416957"/>
          </a:xfrm>
          <a:prstGeom prst="rect">
            <a:avLst/>
          </a:prstGeom>
          <a:noFill/>
          <a:ln/>
        </p:spPr>
        <p:txBody>
          <a:bodyPr wrap="square" lIns="0" tIns="0" rIns="0" bIns="0" rtlCol="0" anchor="t"/>
          <a:lstStyle/>
          <a:p>
            <a:pPr marL="0" indent="0" algn="l">
              <a:lnSpc>
                <a:spcPts val="1600"/>
              </a:lnSpc>
              <a:buNone/>
            </a:pPr>
            <a:r>
              <a:rPr lang="en-US" sz="1200" dirty="0">
                <a:solidFill>
                  <a:srgbClr val="FFFFFF"/>
                </a:solidFill>
                <a:latin typeface="PT Sans" pitchFamily="34" charset="0"/>
                <a:ea typeface="PT Sans" pitchFamily="34" charset="-122"/>
                <a:cs typeface="PT Sans" pitchFamily="34" charset="-120"/>
              </a:rPr>
              <a:t>Integrate streaming NASA/TESS alert feeds for near-real-time candidate scoring; incorporate measurement uncertainties directly in training (heteroscedastic models).</a:t>
            </a:r>
            <a:endParaRPr lang="en-US" sz="1200" dirty="0"/>
          </a:p>
        </p:txBody>
      </p:sp>
      <p:sp>
        <p:nvSpPr>
          <p:cNvPr id="9" name="Shape 6"/>
          <p:cNvSpPr/>
          <p:nvPr/>
        </p:nvSpPr>
        <p:spPr>
          <a:xfrm>
            <a:off x="605195" y="3895130"/>
            <a:ext cx="7933611" cy="1037749"/>
          </a:xfrm>
          <a:prstGeom prst="roundRect">
            <a:avLst>
              <a:gd name="adj" fmla="val 21872"/>
            </a:avLst>
          </a:prstGeom>
          <a:solidFill>
            <a:srgbClr val="00002E">
              <a:alpha val="75000"/>
            </a:srgbClr>
          </a:solidFill>
          <a:ln w="15240">
            <a:solidFill>
              <a:srgbClr val="D7425E"/>
            </a:solidFill>
            <a:prstDash val="solid"/>
          </a:ln>
        </p:spPr>
      </p:sp>
      <p:sp>
        <p:nvSpPr>
          <p:cNvPr id="10" name="Shape 7"/>
          <p:cNvSpPr/>
          <p:nvPr/>
        </p:nvSpPr>
        <p:spPr>
          <a:xfrm>
            <a:off x="620435" y="3910370"/>
            <a:ext cx="605195" cy="1007269"/>
          </a:xfrm>
          <a:prstGeom prst="roundRect">
            <a:avLst>
              <a:gd name="adj" fmla="val 34482"/>
            </a:avLst>
          </a:prstGeom>
          <a:solidFill>
            <a:srgbClr val="00002E"/>
          </a:solidFill>
          <a:ln/>
        </p:spPr>
      </p:sp>
      <p:sp>
        <p:nvSpPr>
          <p:cNvPr id="11" name="Text 8"/>
          <p:cNvSpPr/>
          <p:nvPr/>
        </p:nvSpPr>
        <p:spPr>
          <a:xfrm>
            <a:off x="1334929" y="4061579"/>
            <a:ext cx="1780103" cy="222409"/>
          </a:xfrm>
          <a:prstGeom prst="rect">
            <a:avLst/>
          </a:prstGeom>
          <a:noFill/>
          <a:ln/>
        </p:spPr>
        <p:txBody>
          <a:bodyPr wrap="none" lIns="0" tIns="0" rIns="0" bIns="0" rtlCol="0" anchor="t"/>
          <a:lstStyle/>
          <a:p>
            <a:pPr marL="0" indent="0" algn="l">
              <a:lnSpc>
                <a:spcPts val="1750"/>
              </a:lnSpc>
              <a:buNone/>
            </a:pPr>
            <a:r>
              <a:rPr lang="en-US" sz="1600" dirty="0">
                <a:solidFill>
                  <a:srgbClr val="FFFFFF"/>
                </a:solidFill>
                <a:latin typeface="Nunito Semi Bold" pitchFamily="34" charset="0"/>
                <a:ea typeface="Nunito Semi Bold" pitchFamily="34" charset="-122"/>
                <a:cs typeface="Nunito Semi Bold" pitchFamily="34" charset="-120"/>
              </a:rPr>
              <a:t>Mid-term research</a:t>
            </a:r>
            <a:endParaRPr lang="en-US" sz="1600" dirty="0"/>
          </a:p>
        </p:txBody>
      </p:sp>
      <p:sp>
        <p:nvSpPr>
          <p:cNvPr id="12" name="Text 9"/>
          <p:cNvSpPr/>
          <p:nvPr/>
        </p:nvSpPr>
        <p:spPr>
          <a:xfrm>
            <a:off x="1334929" y="4349472"/>
            <a:ext cx="7037427" cy="416957"/>
          </a:xfrm>
          <a:prstGeom prst="rect">
            <a:avLst/>
          </a:prstGeom>
          <a:noFill/>
          <a:ln/>
        </p:spPr>
        <p:txBody>
          <a:bodyPr wrap="square" lIns="0" tIns="0" rIns="0" bIns="0" rtlCol="0" anchor="t"/>
          <a:lstStyle/>
          <a:p>
            <a:pPr marL="0" indent="0" algn="l">
              <a:lnSpc>
                <a:spcPts val="1600"/>
              </a:lnSpc>
              <a:buNone/>
            </a:pPr>
            <a:r>
              <a:rPr lang="en-US" sz="1200" dirty="0">
                <a:solidFill>
                  <a:srgbClr val="FFFFFF"/>
                </a:solidFill>
                <a:latin typeface="PT Sans" pitchFamily="34" charset="0"/>
                <a:ea typeface="PT Sans" pitchFamily="34" charset="-122"/>
                <a:cs typeface="PT Sans" pitchFamily="34" charset="-120"/>
              </a:rPr>
              <a:t>Explore deep learning approaches (graph neural networks on star–planet interaction graphs, Gaussian processes for uncertainty-aware regression), and validate on simulated atmospheres.</a:t>
            </a:r>
            <a:endParaRPr lang="en-US" sz="1200" dirty="0"/>
          </a:p>
        </p:txBody>
      </p:sp>
      <p:sp>
        <p:nvSpPr>
          <p:cNvPr id="13" name="Shape 10"/>
          <p:cNvSpPr/>
          <p:nvPr/>
        </p:nvSpPr>
        <p:spPr>
          <a:xfrm>
            <a:off x="605195" y="5042178"/>
            <a:ext cx="7933611" cy="1037749"/>
          </a:xfrm>
          <a:prstGeom prst="roundRect">
            <a:avLst>
              <a:gd name="adj" fmla="val 21872"/>
            </a:avLst>
          </a:prstGeom>
          <a:solidFill>
            <a:srgbClr val="00002E">
              <a:alpha val="75000"/>
            </a:srgbClr>
          </a:solidFill>
          <a:ln w="15240">
            <a:solidFill>
              <a:srgbClr val="DD785E"/>
            </a:solidFill>
            <a:prstDash val="solid"/>
          </a:ln>
        </p:spPr>
      </p:sp>
      <p:sp>
        <p:nvSpPr>
          <p:cNvPr id="14" name="Shape 11"/>
          <p:cNvSpPr/>
          <p:nvPr/>
        </p:nvSpPr>
        <p:spPr>
          <a:xfrm>
            <a:off x="620435" y="5057418"/>
            <a:ext cx="605195" cy="1007269"/>
          </a:xfrm>
          <a:prstGeom prst="roundRect">
            <a:avLst>
              <a:gd name="adj" fmla="val 34482"/>
            </a:avLst>
          </a:prstGeom>
          <a:solidFill>
            <a:srgbClr val="00002E"/>
          </a:solidFill>
          <a:ln/>
        </p:spPr>
      </p:sp>
      <p:sp>
        <p:nvSpPr>
          <p:cNvPr id="15" name="Text 12"/>
          <p:cNvSpPr/>
          <p:nvPr/>
        </p:nvSpPr>
        <p:spPr>
          <a:xfrm>
            <a:off x="1334929" y="5208627"/>
            <a:ext cx="1780103" cy="222409"/>
          </a:xfrm>
          <a:prstGeom prst="rect">
            <a:avLst/>
          </a:prstGeom>
          <a:noFill/>
          <a:ln/>
        </p:spPr>
        <p:txBody>
          <a:bodyPr wrap="none" lIns="0" tIns="0" rIns="0" bIns="0" rtlCol="0" anchor="t"/>
          <a:lstStyle/>
          <a:p>
            <a:pPr marL="0" indent="0" algn="l">
              <a:lnSpc>
                <a:spcPts val="1750"/>
              </a:lnSpc>
              <a:buNone/>
            </a:pPr>
            <a:r>
              <a:rPr lang="en-US" sz="1600" dirty="0">
                <a:solidFill>
                  <a:srgbClr val="FFFFFF"/>
                </a:solidFill>
                <a:latin typeface="Nunito Semi Bold" pitchFamily="34" charset="0"/>
                <a:ea typeface="Nunito Semi Bold" pitchFamily="34" charset="-122"/>
                <a:cs typeface="Nunito Semi Bold" pitchFamily="34" charset="-120"/>
              </a:rPr>
              <a:t>Broader impact</a:t>
            </a:r>
            <a:endParaRPr lang="en-US" sz="1600" dirty="0"/>
          </a:p>
        </p:txBody>
      </p:sp>
      <p:sp>
        <p:nvSpPr>
          <p:cNvPr id="16" name="Text 13"/>
          <p:cNvSpPr/>
          <p:nvPr/>
        </p:nvSpPr>
        <p:spPr>
          <a:xfrm>
            <a:off x="1334929" y="5496520"/>
            <a:ext cx="7037427" cy="416957"/>
          </a:xfrm>
          <a:prstGeom prst="rect">
            <a:avLst/>
          </a:prstGeom>
          <a:noFill/>
          <a:ln/>
        </p:spPr>
        <p:txBody>
          <a:bodyPr wrap="square" lIns="0" tIns="0" rIns="0" bIns="0" rtlCol="0" anchor="t"/>
          <a:lstStyle/>
          <a:p>
            <a:pPr marL="0" indent="0" algn="l">
              <a:lnSpc>
                <a:spcPts val="1600"/>
              </a:lnSpc>
              <a:buNone/>
            </a:pPr>
            <a:r>
              <a:rPr lang="en-US" sz="1200" dirty="0">
                <a:solidFill>
                  <a:srgbClr val="FFFFFF"/>
                </a:solidFill>
                <a:latin typeface="PT Sans" pitchFamily="34" charset="0"/>
                <a:ea typeface="PT Sans" pitchFamily="34" charset="-122"/>
                <a:cs typeface="PT Sans" pitchFamily="34" charset="-120"/>
              </a:rPr>
              <a:t>Deploy open-access ranked catalogs and educational modules to support interdisciplinary research and training of graduate students in astroinformatics.</a:t>
            </a:r>
            <a:endParaRPr lang="en-US" sz="1200" dirty="0"/>
          </a:p>
        </p:txBody>
      </p:sp>
      <p:sp>
        <p:nvSpPr>
          <p:cNvPr id="17" name="Text 14"/>
          <p:cNvSpPr/>
          <p:nvPr/>
        </p:nvSpPr>
        <p:spPr>
          <a:xfrm>
            <a:off x="605195" y="6243876"/>
            <a:ext cx="1780103" cy="222409"/>
          </a:xfrm>
          <a:prstGeom prst="rect">
            <a:avLst/>
          </a:prstGeom>
          <a:noFill/>
          <a:ln/>
        </p:spPr>
        <p:txBody>
          <a:bodyPr wrap="none" lIns="0" tIns="0" rIns="0" bIns="0" rtlCol="0" anchor="t"/>
          <a:lstStyle/>
          <a:p>
            <a:pPr marL="0" indent="0" algn="l">
              <a:lnSpc>
                <a:spcPts val="1750"/>
              </a:lnSpc>
              <a:buNone/>
            </a:pPr>
            <a:endParaRPr lang="en-US" sz="1400" dirty="0"/>
          </a:p>
        </p:txBody>
      </p:sp>
      <p:sp>
        <p:nvSpPr>
          <p:cNvPr id="18" name="Text 15"/>
          <p:cNvSpPr/>
          <p:nvPr/>
        </p:nvSpPr>
        <p:spPr>
          <a:xfrm>
            <a:off x="605195" y="6630233"/>
            <a:ext cx="7933611" cy="208478"/>
          </a:xfrm>
          <a:prstGeom prst="rect">
            <a:avLst/>
          </a:prstGeom>
          <a:noFill/>
          <a:ln/>
        </p:spPr>
        <p:txBody>
          <a:bodyPr wrap="none" lIns="0" tIns="0" rIns="0" bIns="0" rtlCol="0" anchor="t"/>
          <a:lstStyle/>
          <a:p>
            <a:pPr marL="0" indent="0" algn="l">
              <a:lnSpc>
                <a:spcPts val="1600"/>
              </a:lnSpc>
              <a:buNone/>
            </a:pP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1028</Words>
  <Application>Microsoft Office PowerPoint</Application>
  <PresentationFormat>Custom</PresentationFormat>
  <Paragraphs>93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PT Sans</vt:lpstr>
      <vt:lpstr>Nunito Semi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Ananya Tumarnavis</cp:lastModifiedBy>
  <cp:revision>2</cp:revision>
  <dcterms:created xsi:type="dcterms:W3CDTF">2026-02-19T16:45:50Z</dcterms:created>
  <dcterms:modified xsi:type="dcterms:W3CDTF">2026-02-19T17:00:55Z</dcterms:modified>
</cp:coreProperties>
</file>