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66" r:id="rId3"/>
    <p:sldId id="267" r:id="rId4"/>
    <p:sldId id="257" r:id="rId5"/>
    <p:sldId id="258" r:id="rId6"/>
    <p:sldId id="260" r:id="rId7"/>
    <p:sldId id="261" r:id="rId8"/>
    <p:sldId id="259" r:id="rId9"/>
    <p:sldId id="263" r:id="rId10"/>
    <p:sldId id="262" r:id="rId11"/>
    <p:sldId id="264" r:id="rId12"/>
    <p:sldId id="265" r:id="rId13"/>
  </p:sldIdLst>
  <p:sldSz cx="14630400" cy="8229600"/>
  <p:notesSz cx="8229600" cy="14630400"/>
  <p:embeddedFontLst>
    <p:embeddedFont>
      <p:font typeface="DM Sans" pitchFamily="2" charset="0"/>
      <p:regular r:id="rId15"/>
      <p:bold r:id="rId16"/>
    </p:embeddedFont>
    <p:embeddedFont>
      <p:font typeface="DM Sans Semi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165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svg"/><Relationship Id="rId2" Type="http://schemas.openxmlformats.org/officeDocument/2006/relationships/notesSlide" Target="../notesSlides/notesSlide7.xml"/><Relationship Id="rId16" Type="http://schemas.openxmlformats.org/officeDocument/2006/relationships/image" Target="../media/image41.png"/><Relationship Id="rId20" Type="http://schemas.openxmlformats.org/officeDocument/2006/relationships/image" Target="../media/image45.svg"/><Relationship Id="rId1" Type="http://schemas.openxmlformats.org/officeDocument/2006/relationships/slideLayout" Target="../slideLayouts/slideLayout9.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sv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sv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image" Target="../media/image48.sv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86271"/>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9C5461"/>
                </a:solidFill>
                <a:latin typeface="DM Sans Semi Bold" pitchFamily="34" charset="0"/>
                <a:ea typeface="DM Sans Semi Bold" pitchFamily="34" charset="-122"/>
                <a:cs typeface="DM Sans Semi Bold" pitchFamily="34" charset="-120"/>
              </a:rPr>
              <a:t>ExoHabitAI: Predicting Exoplanet Habitability Using Machine Learning</a:t>
            </a:r>
            <a:endParaRPr lang="en-US" sz="4450" dirty="0"/>
          </a:p>
        </p:txBody>
      </p:sp>
      <p:sp>
        <p:nvSpPr>
          <p:cNvPr id="4" name="Text 1"/>
          <p:cNvSpPr/>
          <p:nvPr/>
        </p:nvSpPr>
        <p:spPr>
          <a:xfrm>
            <a:off x="793790" y="3166229"/>
            <a:ext cx="7556421" cy="2934653"/>
          </a:xfrm>
          <a:prstGeom prst="rect">
            <a:avLst/>
          </a:prstGeom>
          <a:noFill/>
          <a:ln/>
        </p:spPr>
        <p:txBody>
          <a:bodyPr wrap="square" lIns="0" tIns="0" rIns="0" bIns="0" rtlCol="0" anchor="t"/>
          <a:lstStyle/>
          <a:p>
            <a:pPr marL="0" indent="0" algn="l">
              <a:lnSpc>
                <a:spcPts val="7700"/>
              </a:lnSpc>
              <a:buNone/>
            </a:pPr>
            <a:endParaRPr lang="en-US" sz="6150" dirty="0"/>
          </a:p>
        </p:txBody>
      </p:sp>
      <p:sp>
        <p:nvSpPr>
          <p:cNvPr id="5" name="Text 2"/>
          <p:cNvSpPr/>
          <p:nvPr/>
        </p:nvSpPr>
        <p:spPr>
          <a:xfrm>
            <a:off x="793790" y="6441043"/>
            <a:ext cx="7556421" cy="1088708"/>
          </a:xfrm>
          <a:prstGeom prst="rect">
            <a:avLst/>
          </a:prstGeom>
          <a:noFill/>
          <a:ln/>
        </p:spPr>
        <p:txBody>
          <a:bodyPr wrap="square" lIns="0" tIns="0" rIns="0" bIns="0" rtlCol="0" anchor="t"/>
          <a:lstStyle/>
          <a:p>
            <a:pPr marL="0" indent="0" algn="l">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8ED419-E5E8-514B-5EEE-95E31663EACE}"/>
              </a:ext>
            </a:extLst>
          </p:cNvPr>
          <p:cNvSpPr txBox="1"/>
          <p:nvPr/>
        </p:nvSpPr>
        <p:spPr>
          <a:xfrm>
            <a:off x="390292" y="274352"/>
            <a:ext cx="7315200" cy="751168"/>
          </a:xfrm>
          <a:prstGeom prst="rect">
            <a:avLst/>
          </a:prstGeom>
          <a:noFill/>
        </p:spPr>
        <p:txBody>
          <a:bodyPr wrap="square">
            <a:spAutoFit/>
          </a:bodyPr>
          <a:lstStyle/>
          <a:p>
            <a:pPr marL="0" indent="0" algn="l">
              <a:lnSpc>
                <a:spcPts val="5550"/>
              </a:lnSpc>
              <a:buNone/>
            </a:pPr>
            <a:r>
              <a:rPr lang="en-US" sz="4000" dirty="0">
                <a:solidFill>
                  <a:srgbClr val="9C5461"/>
                </a:solidFill>
                <a:latin typeface="Times New Roman" panose="02020603050405020304" pitchFamily="18" charset="0"/>
                <a:ea typeface="DM Sans Semi Bold" pitchFamily="34" charset="-122"/>
                <a:cs typeface="Times New Roman" panose="02020603050405020304" pitchFamily="18" charset="0"/>
              </a:rPr>
              <a:t>Table of Contents</a:t>
            </a: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24767AF-9480-34D7-37F2-B0C72A2BC779}"/>
              </a:ext>
            </a:extLst>
          </p:cNvPr>
          <p:cNvSpPr txBox="1"/>
          <p:nvPr/>
        </p:nvSpPr>
        <p:spPr>
          <a:xfrm>
            <a:off x="613317" y="1226635"/>
            <a:ext cx="7805854" cy="5021055"/>
          </a:xfrm>
          <a:prstGeom prst="rect">
            <a:avLst/>
          </a:prstGeom>
          <a:noFill/>
        </p:spPr>
        <p:txBody>
          <a:bodyPr wrap="square" rtlCol="0">
            <a:spAutoFit/>
          </a:bodyPr>
          <a:lstStyle/>
          <a:p>
            <a:pPr marL="342900" indent="-342900">
              <a:lnSpc>
                <a:spcPct val="150000"/>
              </a:lnSpc>
              <a:buFont typeface="+mj-lt"/>
              <a:buAutoNum type="arabicPeriod"/>
            </a:pPr>
            <a:r>
              <a:rPr lang="en-IN" sz="2400" dirty="0"/>
              <a:t>Project Overview</a:t>
            </a:r>
          </a:p>
          <a:p>
            <a:pPr marL="742950" lvl="1" indent="-285750">
              <a:lnSpc>
                <a:spcPct val="150000"/>
              </a:lnSpc>
              <a:buFont typeface="Wingdings" panose="05000000000000000000" pitchFamily="2" charset="2"/>
              <a:buChar char="Ø"/>
            </a:pPr>
            <a:r>
              <a:rPr lang="en-IN" sz="2400" dirty="0"/>
              <a:t>Objective</a:t>
            </a:r>
          </a:p>
          <a:p>
            <a:pPr marL="742950" lvl="1" indent="-285750">
              <a:lnSpc>
                <a:spcPct val="150000"/>
              </a:lnSpc>
              <a:buFont typeface="Wingdings" panose="05000000000000000000" pitchFamily="2" charset="2"/>
              <a:buChar char="Ø"/>
            </a:pPr>
            <a:r>
              <a:rPr lang="en-IN" sz="2400" dirty="0"/>
              <a:t>Outcomes</a:t>
            </a:r>
          </a:p>
          <a:p>
            <a:pPr>
              <a:lnSpc>
                <a:spcPct val="150000"/>
              </a:lnSpc>
            </a:pPr>
            <a:r>
              <a:rPr lang="en-IN" sz="2400" dirty="0"/>
              <a:t>2. Methodology</a:t>
            </a:r>
          </a:p>
          <a:p>
            <a:pPr>
              <a:lnSpc>
                <a:spcPct val="150000"/>
              </a:lnSpc>
            </a:pPr>
            <a:r>
              <a:rPr lang="en-IN" sz="2400" dirty="0"/>
              <a:t>3. System Architecture</a:t>
            </a:r>
          </a:p>
          <a:p>
            <a:pPr>
              <a:lnSpc>
                <a:spcPct val="150000"/>
              </a:lnSpc>
            </a:pPr>
            <a:r>
              <a:rPr lang="en-IN" sz="2400" dirty="0"/>
              <a:t>4. Result</a:t>
            </a:r>
          </a:p>
          <a:p>
            <a:pPr>
              <a:lnSpc>
                <a:spcPct val="150000"/>
              </a:lnSpc>
            </a:pPr>
            <a:r>
              <a:rPr lang="en-IN" sz="2400" dirty="0"/>
              <a:t>5. Conclusion</a:t>
            </a:r>
          </a:p>
          <a:p>
            <a:pPr>
              <a:lnSpc>
                <a:spcPct val="150000"/>
              </a:lnSpc>
            </a:pPr>
            <a:endParaRPr lang="en-IN" sz="2400" dirty="0"/>
          </a:p>
          <a:p>
            <a:pPr>
              <a:lnSpc>
                <a:spcPct val="150000"/>
              </a:lnSpc>
            </a:pPr>
            <a:endParaRPr lang="en-IN" sz="2400" dirty="0"/>
          </a:p>
        </p:txBody>
      </p:sp>
      <p:sp>
        <p:nvSpPr>
          <p:cNvPr id="4" name="Rectangle 3">
            <a:extLst>
              <a:ext uri="{FF2B5EF4-FFF2-40B4-BE49-F238E27FC236}">
                <a16:creationId xmlns:a16="http://schemas.microsoft.com/office/drawing/2014/main" id="{A105A5AA-9271-CEA0-7ED8-6F3BB72D3C10}"/>
              </a:ext>
            </a:extLst>
          </p:cNvPr>
          <p:cNvSpPr>
            <a:spLocks noGrp="1" noRot="1" noMove="1" noResize="1" noEditPoints="1" noAdjustHandles="1" noChangeArrowheads="1" noChangeShapeType="1"/>
          </p:cNvSpPr>
          <p:nvPr/>
        </p:nvSpPr>
        <p:spPr>
          <a:xfrm>
            <a:off x="12697428" y="7419372"/>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789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E17BFB-EA6C-B47E-8E0D-F95581DEC030}"/>
              </a:ext>
            </a:extLst>
          </p:cNvPr>
          <p:cNvSpPr txBox="1"/>
          <p:nvPr/>
        </p:nvSpPr>
        <p:spPr>
          <a:xfrm>
            <a:off x="702527" y="708624"/>
            <a:ext cx="7315200" cy="654731"/>
          </a:xfrm>
          <a:prstGeom prst="rect">
            <a:avLst/>
          </a:prstGeom>
          <a:noFill/>
        </p:spPr>
        <p:txBody>
          <a:bodyPr wrap="square">
            <a:spAutoFit/>
          </a:bodyPr>
          <a:lstStyle/>
          <a:p>
            <a:pPr marL="0" indent="0" algn="l">
              <a:lnSpc>
                <a:spcPts val="4500"/>
              </a:lnSpc>
              <a:buNone/>
            </a:pPr>
            <a:r>
              <a:rPr lang="en-US" sz="3600" dirty="0">
                <a:solidFill>
                  <a:srgbClr val="9C5461"/>
                </a:solidFill>
                <a:latin typeface="DM Sans Semi Bold" pitchFamily="34" charset="0"/>
                <a:ea typeface="DM Sans Semi Bold" pitchFamily="34" charset="-122"/>
                <a:cs typeface="DM Sans Semi Bold" pitchFamily="34" charset="-120"/>
              </a:rPr>
              <a:t>Project Overview</a:t>
            </a:r>
            <a:endParaRPr lang="en-US" sz="3600" dirty="0"/>
          </a:p>
        </p:txBody>
      </p:sp>
      <p:sp>
        <p:nvSpPr>
          <p:cNvPr id="4" name="TextBox 3">
            <a:extLst>
              <a:ext uri="{FF2B5EF4-FFF2-40B4-BE49-F238E27FC236}">
                <a16:creationId xmlns:a16="http://schemas.microsoft.com/office/drawing/2014/main" id="{6BC5FA72-25DC-94C2-E388-0AE95157DC9A}"/>
              </a:ext>
            </a:extLst>
          </p:cNvPr>
          <p:cNvSpPr txBox="1"/>
          <p:nvPr/>
        </p:nvSpPr>
        <p:spPr>
          <a:xfrm>
            <a:off x="702527" y="1639229"/>
            <a:ext cx="13069229" cy="6093976"/>
          </a:xfrm>
          <a:prstGeom prst="rect">
            <a:avLst/>
          </a:prstGeom>
          <a:noFill/>
        </p:spPr>
        <p:txBody>
          <a:bodyPr wrap="square" rtlCol="0">
            <a:spAutoFit/>
          </a:bodyPr>
          <a:lstStyle/>
          <a:p>
            <a:pPr>
              <a:lnSpc>
                <a:spcPts val="4500"/>
              </a:lnSpc>
            </a:pPr>
            <a:r>
              <a:rPr lang="en-IN" sz="3600" dirty="0">
                <a:solidFill>
                  <a:srgbClr val="9C5461"/>
                </a:solidFill>
                <a:latin typeface="DM Sans Semi Bold" pitchFamily="34" charset="0"/>
              </a:rPr>
              <a:t>Objective:-</a:t>
            </a:r>
          </a:p>
          <a:p>
            <a:r>
              <a:rPr lang="en-US" dirty="0"/>
              <a:t>The objective of this model is to help find planets that could possibly support life. It does this by studying important details about the planet and its star, such as the planet’s size, temperature, distance from the star, and the amount of energy it receives. By comparing these features with Earth-like conditions, the model predicts how likely a planet is to be habitable. This makes it easier for scientists to focus on the most promising planets instead of manually analyzing thousands of them.</a:t>
            </a:r>
          </a:p>
          <a:p>
            <a:endParaRPr lang="en-IN" sz="3600" dirty="0">
              <a:solidFill>
                <a:srgbClr val="9C5461"/>
              </a:solidFill>
              <a:latin typeface="DM Sans Semi Bold" pitchFamily="34" charset="0"/>
            </a:endParaRPr>
          </a:p>
          <a:p>
            <a:pPr>
              <a:lnSpc>
                <a:spcPts val="4500"/>
              </a:lnSpc>
            </a:pPr>
            <a:r>
              <a:rPr lang="en-IN" sz="3600" dirty="0">
                <a:solidFill>
                  <a:srgbClr val="9C5461"/>
                </a:solidFill>
                <a:latin typeface="DM Sans Semi Bold" pitchFamily="34" charset="0"/>
              </a:rPr>
              <a:t>Outcomes:-</a:t>
            </a:r>
          </a:p>
          <a:p>
            <a:pPr marL="285750" indent="-285750">
              <a:lnSpc>
                <a:spcPct val="150000"/>
              </a:lnSpc>
              <a:buFont typeface="Wingdings" panose="05000000000000000000" pitchFamily="2" charset="2"/>
              <a:buChar char="Ø"/>
            </a:pPr>
            <a:r>
              <a:rPr lang="en-US" dirty="0"/>
              <a:t>Predicts whether an exoplanet is habitable or not.</a:t>
            </a:r>
          </a:p>
          <a:p>
            <a:pPr marL="285750" indent="-285750">
              <a:lnSpc>
                <a:spcPct val="150000"/>
              </a:lnSpc>
              <a:buFont typeface="Wingdings" panose="05000000000000000000" pitchFamily="2" charset="2"/>
              <a:buChar char="Ø"/>
            </a:pPr>
            <a:r>
              <a:rPr lang="en-US" dirty="0"/>
              <a:t>Provides a habitability probability score based on planet and star features.</a:t>
            </a:r>
          </a:p>
          <a:p>
            <a:pPr marL="285750" indent="-285750">
              <a:lnSpc>
                <a:spcPct val="150000"/>
              </a:lnSpc>
              <a:buFont typeface="Wingdings" panose="05000000000000000000" pitchFamily="2" charset="2"/>
              <a:buChar char="Ø"/>
            </a:pPr>
            <a:r>
              <a:rPr lang="en-US" dirty="0"/>
              <a:t>Helps identify Earth-like planets with suitable conditions for life.</a:t>
            </a:r>
          </a:p>
          <a:p>
            <a:pPr marL="285750" indent="-285750">
              <a:lnSpc>
                <a:spcPct val="150000"/>
              </a:lnSpc>
              <a:buFont typeface="Wingdings" panose="05000000000000000000" pitchFamily="2" charset="2"/>
              <a:buChar char="Ø"/>
            </a:pPr>
            <a:r>
              <a:rPr lang="en-US" dirty="0"/>
              <a:t>Filters out non-habitable planets, saving time and effort.</a:t>
            </a:r>
          </a:p>
          <a:p>
            <a:pPr marL="285750" indent="-285750">
              <a:lnSpc>
                <a:spcPct val="150000"/>
              </a:lnSpc>
              <a:buFont typeface="Wingdings" panose="05000000000000000000" pitchFamily="2" charset="2"/>
              <a:buChar char="Ø"/>
            </a:pPr>
            <a:r>
              <a:rPr lang="en-US" dirty="0"/>
              <a:t>Assists scientists in focusing on the most promising candidates.</a:t>
            </a:r>
          </a:p>
          <a:p>
            <a:pPr marL="285750" indent="-285750">
              <a:lnSpc>
                <a:spcPct val="150000"/>
              </a:lnSpc>
              <a:buFont typeface="Wingdings" panose="05000000000000000000" pitchFamily="2" charset="2"/>
              <a:buChar char="Ø"/>
            </a:pPr>
            <a:r>
              <a:rPr lang="en-US" dirty="0"/>
              <a:t>Supports space research and planet discovery missions conducted by NASA.</a:t>
            </a:r>
          </a:p>
          <a:p>
            <a:pPr marL="285750" indent="-285750">
              <a:lnSpc>
                <a:spcPct val="150000"/>
              </a:lnSpc>
              <a:buFont typeface="Wingdings" panose="05000000000000000000" pitchFamily="2" charset="2"/>
              <a:buChar char="Ø"/>
            </a:pPr>
            <a:r>
              <a:rPr lang="en-US" dirty="0"/>
              <a:t>Improves the speed, accuracy, and efficiency of habitability analysis using machine learning.</a:t>
            </a:r>
            <a:endParaRPr lang="en-IN" dirty="0"/>
          </a:p>
          <a:p>
            <a:endParaRPr lang="en-IN" dirty="0"/>
          </a:p>
        </p:txBody>
      </p:sp>
      <p:sp>
        <p:nvSpPr>
          <p:cNvPr id="7" name="Rectangle 6">
            <a:extLst>
              <a:ext uri="{FF2B5EF4-FFF2-40B4-BE49-F238E27FC236}">
                <a16:creationId xmlns:a16="http://schemas.microsoft.com/office/drawing/2014/main" id="{EC02BA13-7AFA-9D7A-5991-A83EF41BD7A5}"/>
              </a:ext>
            </a:extLst>
          </p:cNvPr>
          <p:cNvSpPr>
            <a:spLocks noGrp="1" noRot="1" noMove="1" noResize="1" noEditPoints="1" noAdjustHandles="1" noChangeArrowheads="1" noChangeShapeType="1"/>
          </p:cNvSpPr>
          <p:nvPr/>
        </p:nvSpPr>
        <p:spPr>
          <a:xfrm>
            <a:off x="12697428" y="7419372"/>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48241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2909" y="450102"/>
            <a:ext cx="7850981" cy="688481"/>
          </a:xfrm>
          <a:prstGeom prst="rect">
            <a:avLst/>
          </a:prstGeom>
          <a:noFill/>
          <a:ln/>
        </p:spPr>
        <p:txBody>
          <a:bodyPr wrap="square" lIns="0" tIns="0" rIns="0" bIns="0" rtlCol="0" anchor="t"/>
          <a:lstStyle/>
          <a:p>
            <a:pPr marL="0" indent="0" algn="l">
              <a:lnSpc>
                <a:spcPts val="4500"/>
              </a:lnSpc>
              <a:buNone/>
            </a:pPr>
            <a:endParaRPr lang="en-US" sz="3600" dirty="0"/>
          </a:p>
        </p:txBody>
      </p:sp>
      <p:grpSp>
        <p:nvGrpSpPr>
          <p:cNvPr id="17" name="Group 16">
            <a:extLst>
              <a:ext uri="{FF2B5EF4-FFF2-40B4-BE49-F238E27FC236}">
                <a16:creationId xmlns:a16="http://schemas.microsoft.com/office/drawing/2014/main" id="{2833464A-D6ED-1073-DB2E-992E657CC930}"/>
              </a:ext>
            </a:extLst>
          </p:cNvPr>
          <p:cNvGrpSpPr/>
          <p:nvPr/>
        </p:nvGrpSpPr>
        <p:grpSpPr>
          <a:xfrm>
            <a:off x="6132908" y="1296710"/>
            <a:ext cx="7850981" cy="5407461"/>
            <a:chOff x="6132909" y="2101096"/>
            <a:chExt cx="7850981" cy="5407461"/>
          </a:xfrm>
        </p:grpSpPr>
        <p:pic>
          <p:nvPicPr>
            <p:cNvPr id="4" name="Image 1" descr="preencoded.png"/>
            <p:cNvPicPr>
              <a:picLocks noChangeAspect="1"/>
            </p:cNvPicPr>
            <p:nvPr/>
          </p:nvPicPr>
          <p:blipFill>
            <a:blip r:embed="rId4"/>
            <a:stretch>
              <a:fillRect/>
            </a:stretch>
          </p:blipFill>
          <p:spPr>
            <a:xfrm>
              <a:off x="6132909" y="2101096"/>
              <a:ext cx="923687" cy="1108472"/>
            </a:xfrm>
            <a:prstGeom prst="rect">
              <a:avLst/>
            </a:prstGeom>
          </p:spPr>
        </p:pic>
        <p:sp>
          <p:nvSpPr>
            <p:cNvPr id="5" name="Text 1"/>
            <p:cNvSpPr/>
            <p:nvPr/>
          </p:nvSpPr>
          <p:spPr>
            <a:xfrm>
              <a:off x="7206972" y="2285762"/>
              <a:ext cx="2309217" cy="288727"/>
            </a:xfrm>
            <a:prstGeom prst="rect">
              <a:avLst/>
            </a:prstGeom>
            <a:noFill/>
            <a:ln/>
          </p:spPr>
          <p:txBody>
            <a:bodyPr wrap="none" lIns="0" tIns="0" rIns="0" bIns="0" rtlCol="0" anchor="t"/>
            <a:lstStyle/>
            <a:p>
              <a:pPr marL="0" indent="0" algn="l">
                <a:lnSpc>
                  <a:spcPts val="2250"/>
                </a:lnSpc>
                <a:buNone/>
              </a:pPr>
              <a:r>
                <a:rPr lang="en-US" sz="1800" dirty="0">
                  <a:solidFill>
                    <a:srgbClr val="4A4A4A"/>
                  </a:solidFill>
                  <a:latin typeface="DM Sans Semi Bold" pitchFamily="34" charset="0"/>
                  <a:ea typeface="DM Sans Semi Bold" pitchFamily="34" charset="-122"/>
                  <a:cs typeface="DM Sans Semi Bold" pitchFamily="34" charset="-120"/>
                </a:rPr>
                <a:t>Data Processing</a:t>
              </a:r>
              <a:endParaRPr lang="en-US" sz="1800" dirty="0"/>
            </a:p>
          </p:txBody>
        </p:sp>
        <p:sp>
          <p:nvSpPr>
            <p:cNvPr id="6" name="Text 2"/>
            <p:cNvSpPr/>
            <p:nvPr/>
          </p:nvSpPr>
          <p:spPr>
            <a:xfrm>
              <a:off x="7206972" y="2664738"/>
              <a:ext cx="6776918" cy="268129"/>
            </a:xfrm>
            <a:prstGeom prst="rect">
              <a:avLst/>
            </a:prstGeom>
            <a:noFill/>
            <a:ln/>
          </p:spPr>
          <p:txBody>
            <a:bodyPr wrap="none" lIns="0" tIns="0" rIns="0" bIns="0" rtlCol="0" anchor="t"/>
            <a:lstStyle/>
            <a:p>
              <a:pPr marL="0" indent="0" algn="l">
                <a:lnSpc>
                  <a:spcPts val="2100"/>
                </a:lnSpc>
                <a:buNone/>
              </a:pPr>
              <a:r>
                <a:rPr lang="en-US" sz="1450" dirty="0">
                  <a:solidFill>
                    <a:srgbClr val="4A4A4A"/>
                  </a:solidFill>
                  <a:latin typeface="DM Sans" pitchFamily="34" charset="0"/>
                  <a:ea typeface="DM Sans" pitchFamily="34" charset="-122"/>
                  <a:cs typeface="DM Sans" pitchFamily="34" charset="-120"/>
                </a:rPr>
                <a:t>11 engineered features from planetary and stellar parameters</a:t>
              </a:r>
              <a:endParaRPr lang="en-US" sz="1450" dirty="0"/>
            </a:p>
          </p:txBody>
        </p:sp>
        <p:pic>
          <p:nvPicPr>
            <p:cNvPr id="7" name="Image 2" descr="preencoded.png"/>
            <p:cNvPicPr>
              <a:picLocks noChangeAspect="1"/>
            </p:cNvPicPr>
            <p:nvPr/>
          </p:nvPicPr>
          <p:blipFill>
            <a:blip r:embed="rId5"/>
            <a:stretch>
              <a:fillRect/>
            </a:stretch>
          </p:blipFill>
          <p:spPr>
            <a:xfrm>
              <a:off x="6132909" y="3209568"/>
              <a:ext cx="923687" cy="1108472"/>
            </a:xfrm>
            <a:prstGeom prst="rect">
              <a:avLst/>
            </a:prstGeom>
          </p:spPr>
        </p:pic>
        <p:sp>
          <p:nvSpPr>
            <p:cNvPr id="8" name="Text 3"/>
            <p:cNvSpPr/>
            <p:nvPr/>
          </p:nvSpPr>
          <p:spPr>
            <a:xfrm>
              <a:off x="7206972" y="3394234"/>
              <a:ext cx="2309217" cy="288727"/>
            </a:xfrm>
            <a:prstGeom prst="rect">
              <a:avLst/>
            </a:prstGeom>
            <a:noFill/>
            <a:ln/>
          </p:spPr>
          <p:txBody>
            <a:bodyPr wrap="none" lIns="0" tIns="0" rIns="0" bIns="0" rtlCol="0" anchor="t"/>
            <a:lstStyle/>
            <a:p>
              <a:pPr marL="0" indent="0" algn="l">
                <a:lnSpc>
                  <a:spcPts val="2250"/>
                </a:lnSpc>
                <a:buNone/>
              </a:pPr>
              <a:r>
                <a:rPr lang="en-US" sz="1800" dirty="0">
                  <a:solidFill>
                    <a:srgbClr val="4A4A4A"/>
                  </a:solidFill>
                  <a:latin typeface="DM Sans Semi Bold" pitchFamily="34" charset="0"/>
                  <a:ea typeface="DM Sans Semi Bold" pitchFamily="34" charset="-122"/>
                  <a:cs typeface="DM Sans Semi Bold" pitchFamily="34" charset="-120"/>
                </a:rPr>
                <a:t>AI Engine</a:t>
              </a:r>
              <a:endParaRPr lang="en-US" sz="1800" dirty="0"/>
            </a:p>
          </p:txBody>
        </p:sp>
        <p:sp>
          <p:nvSpPr>
            <p:cNvPr id="9" name="Text 4"/>
            <p:cNvSpPr/>
            <p:nvPr/>
          </p:nvSpPr>
          <p:spPr>
            <a:xfrm>
              <a:off x="7206972" y="3773210"/>
              <a:ext cx="6776918" cy="268129"/>
            </a:xfrm>
            <a:prstGeom prst="rect">
              <a:avLst/>
            </a:prstGeom>
            <a:noFill/>
            <a:ln/>
          </p:spPr>
          <p:txBody>
            <a:bodyPr wrap="none" lIns="0" tIns="0" rIns="0" bIns="0" rtlCol="0" anchor="t"/>
            <a:lstStyle/>
            <a:p>
              <a:pPr marL="0" indent="0" algn="l">
                <a:lnSpc>
                  <a:spcPts val="2100"/>
                </a:lnSpc>
                <a:buNone/>
              </a:pPr>
              <a:r>
                <a:rPr lang="en-US" sz="1450" dirty="0">
                  <a:solidFill>
                    <a:srgbClr val="4A4A4A"/>
                  </a:solidFill>
                  <a:latin typeface="DM Sans" pitchFamily="34" charset="0"/>
                  <a:ea typeface="DM Sans" pitchFamily="34" charset="-122"/>
                  <a:cs typeface="DM Sans" pitchFamily="34" charset="-120"/>
                </a:rPr>
                <a:t>4 ensemble ML models deployed simultaneously</a:t>
              </a:r>
              <a:endParaRPr lang="en-US" sz="1450" dirty="0"/>
            </a:p>
          </p:txBody>
        </p:sp>
        <p:pic>
          <p:nvPicPr>
            <p:cNvPr id="10" name="Image 3" descr="preencoded.png"/>
            <p:cNvPicPr>
              <a:picLocks noChangeAspect="1"/>
            </p:cNvPicPr>
            <p:nvPr/>
          </p:nvPicPr>
          <p:blipFill>
            <a:blip r:embed="rId6"/>
            <a:stretch>
              <a:fillRect/>
            </a:stretch>
          </p:blipFill>
          <p:spPr>
            <a:xfrm>
              <a:off x="6132909" y="4318040"/>
              <a:ext cx="923687" cy="1108472"/>
            </a:xfrm>
            <a:prstGeom prst="rect">
              <a:avLst/>
            </a:prstGeom>
          </p:spPr>
        </p:pic>
        <p:sp>
          <p:nvSpPr>
            <p:cNvPr id="11" name="Text 5"/>
            <p:cNvSpPr/>
            <p:nvPr/>
          </p:nvSpPr>
          <p:spPr>
            <a:xfrm>
              <a:off x="7206972" y="4502706"/>
              <a:ext cx="2309217" cy="288727"/>
            </a:xfrm>
            <a:prstGeom prst="rect">
              <a:avLst/>
            </a:prstGeom>
            <a:noFill/>
            <a:ln/>
          </p:spPr>
          <p:txBody>
            <a:bodyPr wrap="none" lIns="0" tIns="0" rIns="0" bIns="0" rtlCol="0" anchor="t"/>
            <a:lstStyle/>
            <a:p>
              <a:pPr marL="0" indent="0" algn="l">
                <a:lnSpc>
                  <a:spcPts val="2250"/>
                </a:lnSpc>
                <a:buNone/>
              </a:pPr>
              <a:r>
                <a:rPr lang="en-US" sz="1800" dirty="0">
                  <a:solidFill>
                    <a:srgbClr val="4A4A4A"/>
                  </a:solidFill>
                  <a:latin typeface="DM Sans Semi Bold" pitchFamily="34" charset="0"/>
                  <a:ea typeface="DM Sans Semi Bold" pitchFamily="34" charset="-122"/>
                  <a:cs typeface="DM Sans Semi Bold" pitchFamily="34" charset="-120"/>
                </a:rPr>
                <a:t>Prediction</a:t>
              </a:r>
              <a:endParaRPr lang="en-US" sz="1800" dirty="0"/>
            </a:p>
          </p:txBody>
        </p:sp>
        <p:sp>
          <p:nvSpPr>
            <p:cNvPr id="12" name="Text 6"/>
            <p:cNvSpPr/>
            <p:nvPr/>
          </p:nvSpPr>
          <p:spPr>
            <a:xfrm>
              <a:off x="7206972" y="4881682"/>
              <a:ext cx="6776918" cy="268129"/>
            </a:xfrm>
            <a:prstGeom prst="rect">
              <a:avLst/>
            </a:prstGeom>
            <a:noFill/>
            <a:ln/>
          </p:spPr>
          <p:txBody>
            <a:bodyPr wrap="none" lIns="0" tIns="0" rIns="0" bIns="0" rtlCol="0" anchor="t"/>
            <a:lstStyle/>
            <a:p>
              <a:pPr marL="0" indent="0" algn="l">
                <a:lnSpc>
                  <a:spcPts val="2100"/>
                </a:lnSpc>
                <a:buNone/>
              </a:pPr>
              <a:r>
                <a:rPr lang="en-US" sz="1450" dirty="0">
                  <a:solidFill>
                    <a:srgbClr val="4A4A4A"/>
                  </a:solidFill>
                  <a:latin typeface="DM Sans" pitchFamily="34" charset="0"/>
                  <a:ea typeface="DM Sans" pitchFamily="34" charset="-122"/>
                  <a:cs typeface="DM Sans" pitchFamily="34" charset="-120"/>
                </a:rPr>
                <a:t>Real-time habitability probability scores</a:t>
              </a:r>
              <a:endParaRPr lang="en-US" sz="1450" dirty="0"/>
            </a:p>
          </p:txBody>
        </p:sp>
        <p:pic>
          <p:nvPicPr>
            <p:cNvPr id="13" name="Image 4" descr="preencoded.png"/>
            <p:cNvPicPr>
              <a:picLocks noChangeAspect="1"/>
            </p:cNvPicPr>
            <p:nvPr/>
          </p:nvPicPr>
          <p:blipFill>
            <a:blip r:embed="rId7"/>
            <a:stretch>
              <a:fillRect/>
            </a:stretch>
          </p:blipFill>
          <p:spPr>
            <a:xfrm>
              <a:off x="6132909" y="5426512"/>
              <a:ext cx="923687" cy="1108472"/>
            </a:xfrm>
            <a:prstGeom prst="rect">
              <a:avLst/>
            </a:prstGeom>
          </p:spPr>
        </p:pic>
        <p:sp>
          <p:nvSpPr>
            <p:cNvPr id="14" name="Text 7"/>
            <p:cNvSpPr/>
            <p:nvPr/>
          </p:nvSpPr>
          <p:spPr>
            <a:xfrm>
              <a:off x="7206972" y="5611177"/>
              <a:ext cx="2309217" cy="288727"/>
            </a:xfrm>
            <a:prstGeom prst="rect">
              <a:avLst/>
            </a:prstGeom>
            <a:noFill/>
            <a:ln/>
          </p:spPr>
          <p:txBody>
            <a:bodyPr wrap="none" lIns="0" tIns="0" rIns="0" bIns="0" rtlCol="0" anchor="t"/>
            <a:lstStyle/>
            <a:p>
              <a:pPr marL="0" indent="0" algn="l">
                <a:lnSpc>
                  <a:spcPts val="2250"/>
                </a:lnSpc>
                <a:buNone/>
              </a:pPr>
              <a:r>
                <a:rPr lang="en-US" sz="1800" dirty="0">
                  <a:solidFill>
                    <a:srgbClr val="4A4A4A"/>
                  </a:solidFill>
                  <a:latin typeface="DM Sans Semi Bold" pitchFamily="34" charset="0"/>
                  <a:ea typeface="DM Sans Semi Bold" pitchFamily="34" charset="-122"/>
                  <a:cs typeface="DM Sans Semi Bold" pitchFamily="34" charset="-120"/>
                </a:rPr>
                <a:t>Interface</a:t>
              </a:r>
              <a:endParaRPr lang="en-US" sz="1800" dirty="0"/>
            </a:p>
          </p:txBody>
        </p:sp>
        <p:sp>
          <p:nvSpPr>
            <p:cNvPr id="15" name="Text 8"/>
            <p:cNvSpPr/>
            <p:nvPr/>
          </p:nvSpPr>
          <p:spPr>
            <a:xfrm>
              <a:off x="7206972" y="5990153"/>
              <a:ext cx="6776918" cy="268129"/>
            </a:xfrm>
            <a:prstGeom prst="rect">
              <a:avLst/>
            </a:prstGeom>
            <a:noFill/>
            <a:ln/>
          </p:spPr>
          <p:txBody>
            <a:bodyPr wrap="none" lIns="0" tIns="0" rIns="0" bIns="0" rtlCol="0" anchor="t"/>
            <a:lstStyle/>
            <a:p>
              <a:pPr marL="0" indent="0" algn="l">
                <a:lnSpc>
                  <a:spcPts val="2100"/>
                </a:lnSpc>
                <a:buNone/>
              </a:pPr>
              <a:r>
                <a:rPr lang="en-US" sz="1450" dirty="0">
                  <a:solidFill>
                    <a:srgbClr val="4A4A4A"/>
                  </a:solidFill>
                  <a:latin typeface="DM Sans" pitchFamily="34" charset="0"/>
                  <a:ea typeface="DM Sans" pitchFamily="34" charset="-122"/>
                  <a:cs typeface="DM Sans" pitchFamily="34" charset="-120"/>
                </a:rPr>
                <a:t>Interactive web application for researchers</a:t>
              </a:r>
              <a:endParaRPr lang="en-US" sz="1450" dirty="0"/>
            </a:p>
          </p:txBody>
        </p:sp>
        <p:sp>
          <p:nvSpPr>
            <p:cNvPr id="16" name="Text 9"/>
            <p:cNvSpPr/>
            <p:nvPr/>
          </p:nvSpPr>
          <p:spPr>
            <a:xfrm>
              <a:off x="6132909" y="6704171"/>
              <a:ext cx="7850981" cy="804386"/>
            </a:xfrm>
            <a:prstGeom prst="rect">
              <a:avLst/>
            </a:prstGeom>
            <a:noFill/>
            <a:ln/>
          </p:spPr>
          <p:txBody>
            <a:bodyPr wrap="square" lIns="0" tIns="0" rIns="0" bIns="0" rtlCol="0" anchor="t"/>
            <a:lstStyle/>
            <a:p>
              <a:pPr marL="0" indent="0" algn="l">
                <a:lnSpc>
                  <a:spcPts val="2100"/>
                </a:lnSpc>
                <a:buNone/>
              </a:pPr>
              <a:r>
                <a:rPr lang="en-US" sz="1450" dirty="0">
                  <a:solidFill>
                    <a:srgbClr val="4A4A4A"/>
                  </a:solidFill>
                  <a:latin typeface="DM Sans" pitchFamily="34" charset="0"/>
                  <a:ea typeface="DM Sans" pitchFamily="34" charset="-122"/>
                  <a:cs typeface="DM Sans" pitchFamily="34" charset="-120"/>
                </a:rPr>
                <a:t>The ExoHabitAI system integrates sophisticated machine learning with modern full-stack architecture, delivering production-ready predictions </a:t>
              </a:r>
              <a:r>
                <a:rPr lang="en-US" sz="1450" b="1" dirty="0">
                  <a:solidFill>
                    <a:srgbClr val="FF2E45"/>
                  </a:solidFill>
                  <a:latin typeface="DM Sans" pitchFamily="34" charset="0"/>
                  <a:ea typeface="DM Sans" pitchFamily="34" charset="-122"/>
                  <a:cs typeface="DM Sans" pitchFamily="34" charset="-120"/>
                </a:rPr>
                <a:t>in under one second</a:t>
              </a:r>
              <a:r>
                <a:rPr lang="en-US" sz="1450" dirty="0">
                  <a:solidFill>
                    <a:srgbClr val="4A4A4A"/>
                  </a:solidFill>
                  <a:latin typeface="DM Sans" pitchFamily="34" charset="0"/>
                  <a:ea typeface="DM Sans" pitchFamily="34" charset="-122"/>
                  <a:cs typeface="DM Sans" pitchFamily="34" charset="-120"/>
                </a:rPr>
                <a:t> with </a:t>
              </a:r>
              <a:r>
                <a:rPr lang="en-US" sz="1450" b="1" dirty="0">
                  <a:solidFill>
                    <a:srgbClr val="FF2E45"/>
                  </a:solidFill>
                  <a:latin typeface="DM Sans" pitchFamily="34" charset="0"/>
                  <a:ea typeface="DM Sans" pitchFamily="34" charset="-122"/>
                  <a:cs typeface="DM Sans" pitchFamily="34" charset="-120"/>
                </a:rPr>
                <a:t>95.67% accuracy</a:t>
              </a:r>
              <a:r>
                <a:rPr lang="en-US" sz="1450" dirty="0">
                  <a:solidFill>
                    <a:srgbClr val="4A4A4A"/>
                  </a:solidFill>
                  <a:latin typeface="DM Sans" pitchFamily="34" charset="0"/>
                  <a:ea typeface="DM Sans" pitchFamily="34" charset="-122"/>
                  <a:cs typeface="DM Sans" pitchFamily="34" charset="-120"/>
                </a:rPr>
                <a:t>.</a:t>
              </a:r>
              <a:endParaRPr lang="en-US" sz="1450" dirty="0"/>
            </a:p>
          </p:txBody>
        </p:sp>
      </p:grpSp>
      <p:sp>
        <p:nvSpPr>
          <p:cNvPr id="18" name="Text 0">
            <a:extLst>
              <a:ext uri="{FF2B5EF4-FFF2-40B4-BE49-F238E27FC236}">
                <a16:creationId xmlns:a16="http://schemas.microsoft.com/office/drawing/2014/main" id="{A635DC40-1A66-0FEE-A06E-E7961AB37C32}"/>
              </a:ext>
            </a:extLst>
          </p:cNvPr>
          <p:cNvSpPr/>
          <p:nvPr/>
        </p:nvSpPr>
        <p:spPr>
          <a:xfrm>
            <a:off x="6132909" y="746700"/>
            <a:ext cx="7850981" cy="688481"/>
          </a:xfrm>
          <a:prstGeom prst="rect">
            <a:avLst/>
          </a:prstGeom>
          <a:noFill/>
          <a:ln/>
        </p:spPr>
        <p:txBody>
          <a:bodyPr wrap="square" lIns="0" tIns="0" rIns="0" bIns="0" rtlCol="0" anchor="t"/>
          <a:lstStyle/>
          <a:p>
            <a:pPr marL="0" indent="0" algn="l">
              <a:lnSpc>
                <a:spcPts val="4500"/>
              </a:lnSpc>
              <a:buNone/>
            </a:pPr>
            <a:endParaRPr lang="en-US" sz="3600" dirty="0"/>
          </a:p>
        </p:txBody>
      </p:sp>
      <p:sp>
        <p:nvSpPr>
          <p:cNvPr id="20" name="Text 0"/>
          <p:cNvSpPr/>
          <p:nvPr/>
        </p:nvSpPr>
        <p:spPr>
          <a:xfrm>
            <a:off x="6132908" y="208282"/>
            <a:ext cx="5988468" cy="593288"/>
          </a:xfrm>
          <a:prstGeom prst="rect">
            <a:avLst/>
          </a:prstGeom>
          <a:noFill/>
          <a:ln/>
        </p:spPr>
        <p:txBody>
          <a:bodyPr wrap="none" lIns="0" tIns="0" rIns="0" bIns="0" rtlCol="0" anchor="t"/>
          <a:lstStyle/>
          <a:p>
            <a:pPr>
              <a:lnSpc>
                <a:spcPts val="4650"/>
              </a:lnSpc>
            </a:pPr>
            <a:r>
              <a:rPr lang="en-US" sz="3700" dirty="0">
                <a:solidFill>
                  <a:srgbClr val="9C5461"/>
                </a:solidFill>
                <a:latin typeface="DM Sans Semi Bold" pitchFamily="34" charset="0"/>
                <a:ea typeface="DM Sans Semi Bold" pitchFamily="34" charset="-122"/>
                <a:cs typeface="DM Sans Semi Bold" pitchFamily="34" charset="-120"/>
              </a:rPr>
              <a:t>Methodology</a:t>
            </a:r>
            <a:endParaRPr lang="en-US" sz="3700" dirty="0"/>
          </a:p>
        </p:txBody>
      </p:sp>
      <p:sp>
        <p:nvSpPr>
          <p:cNvPr id="21" name="Rectangle 20">
            <a:extLst>
              <a:ext uri="{FF2B5EF4-FFF2-40B4-BE49-F238E27FC236}">
                <a16:creationId xmlns:a16="http://schemas.microsoft.com/office/drawing/2014/main" id="{8C18C322-59BE-B8C7-2DEE-4F8DCF53F1A2}"/>
              </a:ext>
            </a:extLst>
          </p:cNvPr>
          <p:cNvSpPr>
            <a:spLocks noGrp="1" noRot="1" noMove="1" noResize="1" noEditPoints="1" noAdjustHandles="1" noChangeArrowheads="1" noChangeShapeType="1"/>
          </p:cNvSpPr>
          <p:nvPr/>
        </p:nvSpPr>
        <p:spPr>
          <a:xfrm>
            <a:off x="12697428" y="7407797"/>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75152" y="1441728"/>
            <a:ext cx="4154805" cy="349091"/>
          </a:xfrm>
          <a:prstGeom prst="rect">
            <a:avLst/>
          </a:prstGeom>
          <a:noFill/>
          <a:ln/>
        </p:spPr>
        <p:txBody>
          <a:bodyPr wrap="none" lIns="0" tIns="0" rIns="0" bIns="0" rtlCol="0" anchor="t"/>
          <a:lstStyle/>
          <a:p>
            <a:pPr marL="0" indent="0" algn="l">
              <a:lnSpc>
                <a:spcPts val="2700"/>
              </a:lnSpc>
              <a:buNone/>
            </a:pPr>
            <a:r>
              <a:rPr lang="en-US" sz="3600" dirty="0">
                <a:solidFill>
                  <a:srgbClr val="9C5461"/>
                </a:solidFill>
                <a:latin typeface="DM Sans Semi Bold" pitchFamily="34" charset="0"/>
                <a:ea typeface="DM Sans Semi Bold" pitchFamily="34" charset="-122"/>
                <a:cs typeface="DM Sans Semi Bold" pitchFamily="34" charset="-120"/>
              </a:rPr>
              <a:t>Machine Learning Architecture</a:t>
            </a:r>
            <a:endParaRPr lang="en-US" sz="360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75152" y="1919764"/>
            <a:ext cx="349091" cy="349091"/>
          </a:xfrm>
          <a:prstGeom prst="rect">
            <a:avLst/>
          </a:prstGeom>
        </p:spPr>
      </p:pic>
      <p:sp>
        <p:nvSpPr>
          <p:cNvPr id="5" name="Text 1"/>
          <p:cNvSpPr/>
          <p:nvPr/>
        </p:nvSpPr>
        <p:spPr>
          <a:xfrm>
            <a:off x="5975152" y="2376249"/>
            <a:ext cx="1745813" cy="218123"/>
          </a:xfrm>
          <a:prstGeom prst="rect">
            <a:avLst/>
          </a:prstGeom>
          <a:noFill/>
          <a:ln/>
        </p:spPr>
        <p:txBody>
          <a:bodyPr wrap="none" lIns="0" tIns="0" rIns="0" bIns="0" rtlCol="0" anchor="t"/>
          <a:lstStyle/>
          <a:p>
            <a:pPr marL="0" indent="0" algn="l">
              <a:lnSpc>
                <a:spcPts val="1700"/>
              </a:lnSpc>
              <a:buNone/>
            </a:pPr>
            <a:r>
              <a:rPr lang="en-US" sz="1600" dirty="0">
                <a:solidFill>
                  <a:srgbClr val="4A4A4A"/>
                </a:solidFill>
                <a:latin typeface="DM Sans Semi Bold" pitchFamily="34" charset="0"/>
                <a:ea typeface="DM Sans Semi Bold" pitchFamily="34" charset="-122"/>
                <a:cs typeface="DM Sans Semi Bold" pitchFamily="34" charset="-120"/>
              </a:rPr>
              <a:t>Random Forest</a:t>
            </a:r>
            <a:endParaRPr lang="en-US" sz="1600" dirty="0"/>
          </a:p>
        </p:txBody>
      </p:sp>
      <p:sp>
        <p:nvSpPr>
          <p:cNvPr id="6" name="Text 2"/>
          <p:cNvSpPr/>
          <p:nvPr/>
        </p:nvSpPr>
        <p:spPr>
          <a:xfrm>
            <a:off x="5975152" y="2645926"/>
            <a:ext cx="8166497" cy="180499"/>
          </a:xfrm>
          <a:prstGeom prst="rect">
            <a:avLst/>
          </a:prstGeom>
          <a:noFill/>
          <a:ln/>
        </p:spPr>
        <p:txBody>
          <a:bodyPr wrap="none" lIns="0" tIns="0" rIns="0" bIns="0" rtlCol="0" anchor="t"/>
          <a:lstStyle/>
          <a:p>
            <a:pPr marL="0" indent="0" algn="l">
              <a:lnSpc>
                <a:spcPts val="1400"/>
              </a:lnSpc>
              <a:buNone/>
            </a:pPr>
            <a:r>
              <a:rPr lang="en-US" sz="1600" dirty="0">
                <a:solidFill>
                  <a:srgbClr val="4A4A4A"/>
                </a:solidFill>
                <a:latin typeface="DM Sans" pitchFamily="34" charset="0"/>
                <a:ea typeface="DM Sans" pitchFamily="34" charset="-122"/>
                <a:cs typeface="DM Sans" pitchFamily="34" charset="-120"/>
              </a:rPr>
              <a:t>95.67% accuracy, 0.98 AUC-ROC. Handles complex feature interactions effectively.</a:t>
            </a:r>
            <a:endParaRPr lang="en-US" sz="16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75152" y="2998351"/>
            <a:ext cx="349091" cy="349091"/>
          </a:xfrm>
          <a:prstGeom prst="rect">
            <a:avLst/>
          </a:prstGeom>
        </p:spPr>
      </p:pic>
      <p:sp>
        <p:nvSpPr>
          <p:cNvPr id="8" name="Text 3"/>
          <p:cNvSpPr/>
          <p:nvPr/>
        </p:nvSpPr>
        <p:spPr>
          <a:xfrm>
            <a:off x="5975152" y="3454837"/>
            <a:ext cx="1745813" cy="218123"/>
          </a:xfrm>
          <a:prstGeom prst="rect">
            <a:avLst/>
          </a:prstGeom>
          <a:noFill/>
          <a:ln/>
        </p:spPr>
        <p:txBody>
          <a:bodyPr wrap="none" lIns="0" tIns="0" rIns="0" bIns="0" rtlCol="0" anchor="t"/>
          <a:lstStyle/>
          <a:p>
            <a:pPr marL="0" indent="0" algn="l">
              <a:lnSpc>
                <a:spcPts val="1700"/>
              </a:lnSpc>
              <a:buNone/>
            </a:pPr>
            <a:r>
              <a:rPr lang="en-US" sz="1600" dirty="0">
                <a:solidFill>
                  <a:srgbClr val="4A4A4A"/>
                </a:solidFill>
                <a:latin typeface="DM Sans Semi Bold" pitchFamily="34" charset="0"/>
                <a:ea typeface="DM Sans Semi Bold" pitchFamily="34" charset="-122"/>
                <a:cs typeface="DM Sans Semi Bold" pitchFamily="34" charset="-120"/>
              </a:rPr>
              <a:t>Gradient Boosting</a:t>
            </a:r>
            <a:endParaRPr lang="en-US" sz="1600" dirty="0"/>
          </a:p>
        </p:txBody>
      </p:sp>
      <p:sp>
        <p:nvSpPr>
          <p:cNvPr id="9" name="Text 4"/>
          <p:cNvSpPr/>
          <p:nvPr/>
        </p:nvSpPr>
        <p:spPr>
          <a:xfrm>
            <a:off x="5975152" y="3724513"/>
            <a:ext cx="8166497" cy="180499"/>
          </a:xfrm>
          <a:prstGeom prst="rect">
            <a:avLst/>
          </a:prstGeom>
          <a:noFill/>
          <a:ln/>
        </p:spPr>
        <p:txBody>
          <a:bodyPr wrap="none" lIns="0" tIns="0" rIns="0" bIns="0" rtlCol="0" anchor="t"/>
          <a:lstStyle/>
          <a:p>
            <a:pPr marL="0" indent="0" algn="l">
              <a:lnSpc>
                <a:spcPts val="1400"/>
              </a:lnSpc>
              <a:buNone/>
            </a:pPr>
            <a:r>
              <a:rPr lang="en-US" sz="1600" dirty="0">
                <a:solidFill>
                  <a:srgbClr val="4A4A4A"/>
                </a:solidFill>
                <a:latin typeface="DM Sans" pitchFamily="34" charset="0"/>
                <a:ea typeface="DM Sans" pitchFamily="34" charset="-122"/>
                <a:cs typeface="DM Sans" pitchFamily="34" charset="-120"/>
              </a:rPr>
              <a:t>95.12% accuracy, 0.98 AUC-ROC. Sequential model optimization approach.</a:t>
            </a:r>
            <a:endParaRPr lang="en-US" sz="16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75152" y="4076938"/>
            <a:ext cx="349091" cy="349091"/>
          </a:xfrm>
          <a:prstGeom prst="rect">
            <a:avLst/>
          </a:prstGeom>
        </p:spPr>
      </p:pic>
      <p:sp>
        <p:nvSpPr>
          <p:cNvPr id="11" name="Text 5"/>
          <p:cNvSpPr/>
          <p:nvPr/>
        </p:nvSpPr>
        <p:spPr>
          <a:xfrm>
            <a:off x="5975152" y="4533424"/>
            <a:ext cx="1745813" cy="218123"/>
          </a:xfrm>
          <a:prstGeom prst="rect">
            <a:avLst/>
          </a:prstGeom>
          <a:noFill/>
          <a:ln/>
        </p:spPr>
        <p:txBody>
          <a:bodyPr wrap="none" lIns="0" tIns="0" rIns="0" bIns="0" rtlCol="0" anchor="t"/>
          <a:lstStyle/>
          <a:p>
            <a:pPr marL="0" indent="0" algn="l">
              <a:lnSpc>
                <a:spcPts val="1700"/>
              </a:lnSpc>
              <a:buNone/>
            </a:pPr>
            <a:r>
              <a:rPr lang="en-US" sz="1600" dirty="0">
                <a:solidFill>
                  <a:srgbClr val="4A4A4A"/>
                </a:solidFill>
                <a:latin typeface="DM Sans Semi Bold" pitchFamily="34" charset="0"/>
                <a:ea typeface="DM Sans Semi Bold" pitchFamily="34" charset="-122"/>
                <a:cs typeface="DM Sans Semi Bold" pitchFamily="34" charset="-120"/>
              </a:rPr>
              <a:t>Neural Network</a:t>
            </a:r>
            <a:endParaRPr lang="en-US" sz="1600" dirty="0"/>
          </a:p>
        </p:txBody>
      </p:sp>
      <p:sp>
        <p:nvSpPr>
          <p:cNvPr id="12" name="Text 6"/>
          <p:cNvSpPr/>
          <p:nvPr/>
        </p:nvSpPr>
        <p:spPr>
          <a:xfrm>
            <a:off x="5975152" y="4803100"/>
            <a:ext cx="8166497" cy="180499"/>
          </a:xfrm>
          <a:prstGeom prst="rect">
            <a:avLst/>
          </a:prstGeom>
          <a:noFill/>
          <a:ln/>
        </p:spPr>
        <p:txBody>
          <a:bodyPr wrap="none" lIns="0" tIns="0" rIns="0" bIns="0" rtlCol="0" anchor="t"/>
          <a:lstStyle/>
          <a:p>
            <a:pPr marL="0" indent="0" algn="l">
              <a:lnSpc>
                <a:spcPts val="1400"/>
              </a:lnSpc>
              <a:buNone/>
            </a:pPr>
            <a:r>
              <a:rPr lang="en-US" sz="1600" dirty="0">
                <a:solidFill>
                  <a:srgbClr val="4A4A4A"/>
                </a:solidFill>
                <a:latin typeface="DM Sans" pitchFamily="34" charset="0"/>
                <a:ea typeface="DM Sans" pitchFamily="34" charset="-122"/>
                <a:cs typeface="DM Sans" pitchFamily="34" charset="-120"/>
              </a:rPr>
              <a:t>94.45% accuracy, 0.97 AUC-ROC. Captures non-linear relationships.</a:t>
            </a:r>
            <a:endParaRPr lang="en-US" sz="1600" dirty="0"/>
          </a:p>
        </p:txBody>
      </p:sp>
      <p:pic>
        <p:nvPicPr>
          <p:cNvPr id="1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75152" y="5155525"/>
            <a:ext cx="349091" cy="349091"/>
          </a:xfrm>
          <a:prstGeom prst="rect">
            <a:avLst/>
          </a:prstGeom>
        </p:spPr>
      </p:pic>
      <p:sp>
        <p:nvSpPr>
          <p:cNvPr id="14" name="Text 7"/>
          <p:cNvSpPr/>
          <p:nvPr/>
        </p:nvSpPr>
        <p:spPr>
          <a:xfrm>
            <a:off x="5975152" y="5612011"/>
            <a:ext cx="1745813" cy="218123"/>
          </a:xfrm>
          <a:prstGeom prst="rect">
            <a:avLst/>
          </a:prstGeom>
          <a:noFill/>
          <a:ln/>
        </p:spPr>
        <p:txBody>
          <a:bodyPr wrap="none" lIns="0" tIns="0" rIns="0" bIns="0" rtlCol="0" anchor="t"/>
          <a:lstStyle/>
          <a:p>
            <a:pPr marL="0" indent="0" algn="l">
              <a:lnSpc>
                <a:spcPts val="1700"/>
              </a:lnSpc>
              <a:buNone/>
            </a:pPr>
            <a:r>
              <a:rPr lang="en-US" sz="1600" dirty="0">
                <a:solidFill>
                  <a:srgbClr val="4A4A4A"/>
                </a:solidFill>
                <a:latin typeface="DM Sans Semi Bold" pitchFamily="34" charset="0"/>
                <a:ea typeface="DM Sans Semi Bold" pitchFamily="34" charset="-122"/>
                <a:cs typeface="DM Sans Semi Bold" pitchFamily="34" charset="-120"/>
              </a:rPr>
              <a:t>Logistic Regression</a:t>
            </a:r>
            <a:endParaRPr lang="en-US" sz="1600" dirty="0"/>
          </a:p>
        </p:txBody>
      </p:sp>
      <p:sp>
        <p:nvSpPr>
          <p:cNvPr id="15" name="Text 8"/>
          <p:cNvSpPr/>
          <p:nvPr/>
        </p:nvSpPr>
        <p:spPr>
          <a:xfrm>
            <a:off x="5975152" y="5881688"/>
            <a:ext cx="8166497" cy="180499"/>
          </a:xfrm>
          <a:prstGeom prst="rect">
            <a:avLst/>
          </a:prstGeom>
          <a:noFill/>
          <a:ln/>
        </p:spPr>
        <p:txBody>
          <a:bodyPr wrap="none" lIns="0" tIns="0" rIns="0" bIns="0" rtlCol="0" anchor="t"/>
          <a:lstStyle/>
          <a:p>
            <a:pPr marL="0" indent="0" algn="l">
              <a:lnSpc>
                <a:spcPts val="1400"/>
              </a:lnSpc>
              <a:buNone/>
            </a:pPr>
            <a:r>
              <a:rPr lang="en-US" sz="1600" dirty="0">
                <a:solidFill>
                  <a:srgbClr val="4A4A4A"/>
                </a:solidFill>
                <a:latin typeface="DM Sans" pitchFamily="34" charset="0"/>
                <a:ea typeface="DM Sans" pitchFamily="34" charset="-122"/>
                <a:cs typeface="DM Sans" pitchFamily="34" charset="-120"/>
              </a:rPr>
              <a:t>92.34% accuracy, 0.95 AUC-ROC. Baseline interpretability model.</a:t>
            </a:r>
            <a:endParaRPr lang="en-US" sz="1600" dirty="0"/>
          </a:p>
        </p:txBody>
      </p:sp>
      <p:sp>
        <p:nvSpPr>
          <p:cNvPr id="16" name="Shape 9"/>
          <p:cNvSpPr/>
          <p:nvPr/>
        </p:nvSpPr>
        <p:spPr>
          <a:xfrm>
            <a:off x="5967944" y="6919197"/>
            <a:ext cx="8166497" cy="629007"/>
          </a:xfrm>
          <a:prstGeom prst="roundRect">
            <a:avLst>
              <a:gd name="adj" fmla="val 19984"/>
            </a:avLst>
          </a:prstGeom>
          <a:solidFill>
            <a:srgbClr val="FFB3BB"/>
          </a:solidFill>
          <a:ln/>
        </p:spPr>
        <p:txBody>
          <a:bodyPr/>
          <a:lstStyle/>
          <a:p>
            <a:endParaRPr lang="en-IN"/>
          </a:p>
        </p:txBody>
      </p:sp>
      <p:pic>
        <p:nvPicPr>
          <p:cNvPr id="17" name="Image 5" descr="preencoded.png"/>
          <p:cNvPicPr>
            <a:picLocks noChangeAspect="1"/>
          </p:cNvPicPr>
          <p:nvPr/>
        </p:nvPicPr>
        <p:blipFill>
          <a:blip r:embed="rId12"/>
          <a:stretch>
            <a:fillRect/>
          </a:stretch>
        </p:blipFill>
        <p:spPr>
          <a:xfrm>
            <a:off x="6114812" y="7011589"/>
            <a:ext cx="174546" cy="139660"/>
          </a:xfrm>
          <a:prstGeom prst="rect">
            <a:avLst/>
          </a:prstGeom>
        </p:spPr>
      </p:pic>
      <p:sp>
        <p:nvSpPr>
          <p:cNvPr id="18" name="Text 10"/>
          <p:cNvSpPr/>
          <p:nvPr/>
        </p:nvSpPr>
        <p:spPr>
          <a:xfrm>
            <a:off x="6324243" y="6983871"/>
            <a:ext cx="7572970" cy="360998"/>
          </a:xfrm>
          <a:prstGeom prst="rect">
            <a:avLst/>
          </a:prstGeom>
          <a:noFill/>
          <a:ln/>
        </p:spPr>
        <p:txBody>
          <a:bodyPr wrap="square" lIns="0" tIns="0" rIns="0" bIns="0" rtlCol="0" anchor="t"/>
          <a:lstStyle/>
          <a:p>
            <a:pPr marL="0" indent="0" algn="l">
              <a:lnSpc>
                <a:spcPts val="1400"/>
              </a:lnSpc>
              <a:buNone/>
            </a:pPr>
            <a:r>
              <a:rPr lang="en-US" sz="1400" b="1" dirty="0">
                <a:solidFill>
                  <a:srgbClr val="000000"/>
                </a:solidFill>
                <a:latin typeface="DM Sans" pitchFamily="34" charset="0"/>
                <a:ea typeface="DM Sans" pitchFamily="34" charset="-122"/>
                <a:cs typeface="DM Sans" pitchFamily="34" charset="-120"/>
              </a:rPr>
              <a:t>Training Methodology:</a:t>
            </a:r>
            <a:r>
              <a:rPr lang="en-US" sz="1400" dirty="0">
                <a:solidFill>
                  <a:srgbClr val="000000"/>
                </a:solidFill>
                <a:latin typeface="DM Sans" pitchFamily="34" charset="0"/>
                <a:ea typeface="DM Sans" pitchFamily="34" charset="-122"/>
                <a:cs typeface="DM Sans" pitchFamily="34" charset="-120"/>
              </a:rPr>
              <a:t> 80-20 train-test split with balanced class weights to address imbalanced classification. 34,892 clean samples processed from NASA exoplanet archive after rigorous quality filtering.</a:t>
            </a:r>
            <a:endParaRPr lang="en-US" sz="1400" dirty="0"/>
          </a:p>
        </p:txBody>
      </p:sp>
      <p:sp>
        <p:nvSpPr>
          <p:cNvPr id="19" name="Rectangle 18">
            <a:extLst>
              <a:ext uri="{FF2B5EF4-FFF2-40B4-BE49-F238E27FC236}">
                <a16:creationId xmlns:a16="http://schemas.microsoft.com/office/drawing/2014/main" id="{8ABC7F68-34ED-AF61-FE12-008912770D5E}"/>
              </a:ext>
            </a:extLst>
          </p:cNvPr>
          <p:cNvSpPr>
            <a:spLocks noGrp="1" noRot="1" noMove="1" noResize="1" noEditPoints="1" noAdjustHandles="1" noChangeArrowheads="1" noChangeShapeType="1"/>
          </p:cNvSpPr>
          <p:nvPr/>
        </p:nvSpPr>
        <p:spPr>
          <a:xfrm>
            <a:off x="12697428" y="7697164"/>
            <a:ext cx="1932972" cy="5324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1"/>
          <p:cNvSpPr/>
          <p:nvPr/>
        </p:nvSpPr>
        <p:spPr>
          <a:xfrm>
            <a:off x="763548" y="1665923"/>
            <a:ext cx="2183844" cy="1050727"/>
          </a:xfrm>
          <a:prstGeom prst="roundRect">
            <a:avLst>
              <a:gd name="adj" fmla="val 16266"/>
            </a:avLst>
          </a:prstGeom>
          <a:solidFill>
            <a:srgbClr val="FFCCD1"/>
          </a:solidFill>
          <a:ln w="7620">
            <a:solidFill>
              <a:srgbClr val="E5B2B7"/>
            </a:solidFill>
            <a:prstDash val="solid"/>
          </a:ln>
          <a:effectLst>
            <a:outerShdw dist="17780" dir="2700000" algn="bl" rotWithShape="0">
              <a:srgbClr val="E5B2B7">
                <a:alpha val="100000"/>
              </a:srgbClr>
            </a:outerShdw>
          </a:effectLst>
        </p:spPr>
        <p:txBody>
          <a:bodyPr/>
          <a:lstStyle/>
          <a:p>
            <a:endParaRPr lang="en-IN"/>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2001" y="2057757"/>
            <a:ext cx="266938" cy="266938"/>
          </a:xfrm>
          <a:prstGeom prst="rect">
            <a:avLst/>
          </a:prstGeom>
        </p:spPr>
      </p:pic>
      <p:sp>
        <p:nvSpPr>
          <p:cNvPr id="5" name="Text 2"/>
          <p:cNvSpPr/>
          <p:nvPr/>
        </p:nvSpPr>
        <p:spPr>
          <a:xfrm>
            <a:off x="3137178" y="1855708"/>
            <a:ext cx="2373749" cy="296704"/>
          </a:xfrm>
          <a:prstGeom prst="rect">
            <a:avLst/>
          </a:prstGeom>
          <a:noFill/>
          <a:ln/>
        </p:spPr>
        <p:txBody>
          <a:bodyPr wrap="none" lIns="0" tIns="0" rIns="0" bIns="0" rtlCol="0" anchor="t"/>
          <a:lstStyle/>
          <a:p>
            <a:pPr marL="0" indent="0" algn="l">
              <a:lnSpc>
                <a:spcPts val="2300"/>
              </a:lnSpc>
              <a:buNone/>
            </a:pPr>
            <a:r>
              <a:rPr lang="en-US" sz="1850" dirty="0">
                <a:solidFill>
                  <a:srgbClr val="4A4A4A"/>
                </a:solidFill>
                <a:latin typeface="DM Sans Semi Bold" pitchFamily="34" charset="0"/>
                <a:ea typeface="DM Sans Semi Bold" pitchFamily="34" charset="-122"/>
                <a:cs typeface="DM Sans Semi Bold" pitchFamily="34" charset="-120"/>
              </a:rPr>
              <a:t>Frontend Layer</a:t>
            </a:r>
            <a:endParaRPr lang="en-US" sz="1850" dirty="0"/>
          </a:p>
        </p:txBody>
      </p:sp>
      <p:sp>
        <p:nvSpPr>
          <p:cNvPr id="6" name="Text 3"/>
          <p:cNvSpPr/>
          <p:nvPr/>
        </p:nvSpPr>
        <p:spPr>
          <a:xfrm>
            <a:off x="3137178" y="2247781"/>
            <a:ext cx="3743563" cy="279083"/>
          </a:xfrm>
          <a:prstGeom prst="rect">
            <a:avLst/>
          </a:prstGeom>
          <a:noFill/>
          <a:ln/>
        </p:spPr>
        <p:txBody>
          <a:bodyPr wrap="none" lIns="0" tIns="0" rIns="0" bIns="0" rtlCol="0" anchor="t"/>
          <a:lstStyle/>
          <a:p>
            <a:pPr marL="0" indent="0" algn="l">
              <a:lnSpc>
                <a:spcPts val="2150"/>
              </a:lnSpc>
              <a:buNone/>
            </a:pPr>
            <a:r>
              <a:rPr lang="en-US" sz="1450" dirty="0">
                <a:solidFill>
                  <a:srgbClr val="4A4A4A"/>
                </a:solidFill>
                <a:latin typeface="DM Sans" pitchFamily="34" charset="0"/>
                <a:ea typeface="DM Sans" pitchFamily="34" charset="-122"/>
                <a:cs typeface="DM Sans" pitchFamily="34" charset="-120"/>
              </a:rPr>
              <a:t>React + Tailwind CSS for responsive design</a:t>
            </a:r>
            <a:endParaRPr lang="en-US" sz="1450" dirty="0"/>
          </a:p>
        </p:txBody>
      </p:sp>
      <p:sp>
        <p:nvSpPr>
          <p:cNvPr id="7" name="Shape 4"/>
          <p:cNvSpPr/>
          <p:nvPr/>
        </p:nvSpPr>
        <p:spPr>
          <a:xfrm>
            <a:off x="3042285" y="2707124"/>
            <a:ext cx="10729555" cy="11430"/>
          </a:xfrm>
          <a:prstGeom prst="roundRect">
            <a:avLst>
              <a:gd name="adj" fmla="val 1495296"/>
            </a:avLst>
          </a:prstGeom>
          <a:solidFill>
            <a:srgbClr val="E5B2B7"/>
          </a:solidFill>
          <a:ln/>
        </p:spPr>
        <p:txBody>
          <a:bodyPr/>
          <a:lstStyle/>
          <a:p>
            <a:endParaRPr lang="en-IN"/>
          </a:p>
        </p:txBody>
      </p:sp>
      <p:sp>
        <p:nvSpPr>
          <p:cNvPr id="8" name="Shape 5"/>
          <p:cNvSpPr/>
          <p:nvPr/>
        </p:nvSpPr>
        <p:spPr>
          <a:xfrm>
            <a:off x="763548" y="2811542"/>
            <a:ext cx="4367689" cy="1050727"/>
          </a:xfrm>
          <a:prstGeom prst="roundRect">
            <a:avLst>
              <a:gd name="adj" fmla="val 16266"/>
            </a:avLst>
          </a:prstGeom>
          <a:solidFill>
            <a:srgbClr val="FFCCD1"/>
          </a:solidFill>
          <a:ln w="7620">
            <a:solidFill>
              <a:srgbClr val="E5B2B7"/>
            </a:solidFill>
            <a:prstDash val="solid"/>
          </a:ln>
          <a:effectLst>
            <a:outerShdw dist="17780" dir="2700000" algn="bl" rotWithShape="0">
              <a:srgbClr val="E5B2B7">
                <a:alpha val="100000"/>
              </a:srgbClr>
            </a:outerShdw>
          </a:effectLst>
        </p:spPr>
        <p:txBody>
          <a:bodyPr/>
          <a:lstStyle/>
          <a:p>
            <a:endParaRPr lang="en-IN"/>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13923" y="3203377"/>
            <a:ext cx="266938" cy="266938"/>
          </a:xfrm>
          <a:prstGeom prst="rect">
            <a:avLst/>
          </a:prstGeom>
        </p:spPr>
      </p:pic>
      <p:sp>
        <p:nvSpPr>
          <p:cNvPr id="10" name="Text 6"/>
          <p:cNvSpPr/>
          <p:nvPr/>
        </p:nvSpPr>
        <p:spPr>
          <a:xfrm>
            <a:off x="5321022" y="3001327"/>
            <a:ext cx="2373749" cy="296704"/>
          </a:xfrm>
          <a:prstGeom prst="rect">
            <a:avLst/>
          </a:prstGeom>
          <a:noFill/>
          <a:ln/>
        </p:spPr>
        <p:txBody>
          <a:bodyPr wrap="none" lIns="0" tIns="0" rIns="0" bIns="0" rtlCol="0" anchor="t"/>
          <a:lstStyle/>
          <a:p>
            <a:pPr marL="0" indent="0" algn="l">
              <a:lnSpc>
                <a:spcPts val="2300"/>
              </a:lnSpc>
              <a:buNone/>
            </a:pPr>
            <a:r>
              <a:rPr lang="en-US" sz="1850" dirty="0">
                <a:solidFill>
                  <a:srgbClr val="4A4A4A"/>
                </a:solidFill>
                <a:latin typeface="DM Sans Semi Bold" pitchFamily="34" charset="0"/>
                <a:ea typeface="DM Sans Semi Bold" pitchFamily="34" charset="-122"/>
                <a:cs typeface="DM Sans Semi Bold" pitchFamily="34" charset="-120"/>
              </a:rPr>
              <a:t>API Layer</a:t>
            </a:r>
            <a:endParaRPr lang="en-US" sz="1850" dirty="0"/>
          </a:p>
        </p:txBody>
      </p:sp>
      <p:sp>
        <p:nvSpPr>
          <p:cNvPr id="11" name="Text 7"/>
          <p:cNvSpPr/>
          <p:nvPr/>
        </p:nvSpPr>
        <p:spPr>
          <a:xfrm>
            <a:off x="5321022" y="3393400"/>
            <a:ext cx="4579739" cy="279083"/>
          </a:xfrm>
          <a:prstGeom prst="rect">
            <a:avLst/>
          </a:prstGeom>
          <a:noFill/>
          <a:ln/>
        </p:spPr>
        <p:txBody>
          <a:bodyPr wrap="none" lIns="0" tIns="0" rIns="0" bIns="0" rtlCol="0" anchor="t"/>
          <a:lstStyle/>
          <a:p>
            <a:pPr marL="0" indent="0" algn="l">
              <a:lnSpc>
                <a:spcPts val="2150"/>
              </a:lnSpc>
              <a:buNone/>
            </a:pPr>
            <a:r>
              <a:rPr lang="en-US" sz="1450" dirty="0">
                <a:solidFill>
                  <a:srgbClr val="4A4A4A"/>
                </a:solidFill>
                <a:latin typeface="DM Sans" pitchFamily="34" charset="0"/>
                <a:ea typeface="DM Sans" pitchFamily="34" charset="-122"/>
                <a:cs typeface="DM Sans" pitchFamily="34" charset="-120"/>
              </a:rPr>
              <a:t>8+ Flask endpoints for model and data management</a:t>
            </a:r>
            <a:endParaRPr lang="en-US" sz="1450" dirty="0"/>
          </a:p>
        </p:txBody>
      </p:sp>
      <p:sp>
        <p:nvSpPr>
          <p:cNvPr id="12" name="Shape 8"/>
          <p:cNvSpPr/>
          <p:nvPr/>
        </p:nvSpPr>
        <p:spPr>
          <a:xfrm>
            <a:off x="5226129" y="3852743"/>
            <a:ext cx="8545711" cy="11430"/>
          </a:xfrm>
          <a:prstGeom prst="roundRect">
            <a:avLst>
              <a:gd name="adj" fmla="val 1495296"/>
            </a:avLst>
          </a:prstGeom>
          <a:solidFill>
            <a:srgbClr val="E5B2B7"/>
          </a:solidFill>
          <a:ln/>
        </p:spPr>
        <p:txBody>
          <a:bodyPr/>
          <a:lstStyle/>
          <a:p>
            <a:endParaRPr lang="en-IN"/>
          </a:p>
        </p:txBody>
      </p:sp>
      <p:sp>
        <p:nvSpPr>
          <p:cNvPr id="13" name="Shape 9"/>
          <p:cNvSpPr/>
          <p:nvPr/>
        </p:nvSpPr>
        <p:spPr>
          <a:xfrm>
            <a:off x="763548" y="3957161"/>
            <a:ext cx="6551533" cy="1050727"/>
          </a:xfrm>
          <a:prstGeom prst="roundRect">
            <a:avLst>
              <a:gd name="adj" fmla="val 16266"/>
            </a:avLst>
          </a:prstGeom>
          <a:solidFill>
            <a:srgbClr val="FFCCD1"/>
          </a:solidFill>
          <a:ln w="7620">
            <a:solidFill>
              <a:srgbClr val="E5B2B7"/>
            </a:solidFill>
            <a:prstDash val="solid"/>
          </a:ln>
          <a:effectLst>
            <a:outerShdw dist="17780" dir="2700000" algn="bl" rotWithShape="0">
              <a:srgbClr val="E5B2B7">
                <a:alpha val="100000"/>
              </a:srgbClr>
            </a:outerShdw>
          </a:effectLst>
        </p:spPr>
        <p:txBody>
          <a:bodyPr/>
          <a:lstStyle/>
          <a:p>
            <a:endParaRPr lang="en-IN"/>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05845" y="4348996"/>
            <a:ext cx="266938" cy="266938"/>
          </a:xfrm>
          <a:prstGeom prst="rect">
            <a:avLst/>
          </a:prstGeom>
        </p:spPr>
      </p:pic>
      <p:sp>
        <p:nvSpPr>
          <p:cNvPr id="15" name="Text 10"/>
          <p:cNvSpPr/>
          <p:nvPr/>
        </p:nvSpPr>
        <p:spPr>
          <a:xfrm>
            <a:off x="7504867" y="4146947"/>
            <a:ext cx="2373749" cy="296704"/>
          </a:xfrm>
          <a:prstGeom prst="rect">
            <a:avLst/>
          </a:prstGeom>
          <a:noFill/>
          <a:ln/>
        </p:spPr>
        <p:txBody>
          <a:bodyPr wrap="none" lIns="0" tIns="0" rIns="0" bIns="0" rtlCol="0" anchor="t"/>
          <a:lstStyle/>
          <a:p>
            <a:pPr marL="0" indent="0" algn="l">
              <a:lnSpc>
                <a:spcPts val="2300"/>
              </a:lnSpc>
              <a:buNone/>
            </a:pPr>
            <a:r>
              <a:rPr lang="en-US" sz="1850" dirty="0">
                <a:solidFill>
                  <a:srgbClr val="4A4A4A"/>
                </a:solidFill>
                <a:latin typeface="DM Sans Semi Bold" pitchFamily="34" charset="0"/>
                <a:ea typeface="DM Sans Semi Bold" pitchFamily="34" charset="-122"/>
                <a:cs typeface="DM Sans Semi Bold" pitchFamily="34" charset="-120"/>
              </a:rPr>
              <a:t>ML Layer</a:t>
            </a:r>
            <a:endParaRPr lang="en-US" sz="1850" dirty="0"/>
          </a:p>
        </p:txBody>
      </p:sp>
      <p:sp>
        <p:nvSpPr>
          <p:cNvPr id="16" name="Text 11"/>
          <p:cNvSpPr/>
          <p:nvPr/>
        </p:nvSpPr>
        <p:spPr>
          <a:xfrm>
            <a:off x="7504867" y="4539020"/>
            <a:ext cx="4289346" cy="279083"/>
          </a:xfrm>
          <a:prstGeom prst="rect">
            <a:avLst/>
          </a:prstGeom>
          <a:noFill/>
          <a:ln/>
        </p:spPr>
        <p:txBody>
          <a:bodyPr wrap="none" lIns="0" tIns="0" rIns="0" bIns="0" rtlCol="0" anchor="t"/>
          <a:lstStyle/>
          <a:p>
            <a:pPr marL="0" indent="0" algn="l">
              <a:lnSpc>
                <a:spcPts val="2150"/>
              </a:lnSpc>
              <a:buNone/>
            </a:pPr>
            <a:r>
              <a:rPr lang="en-US" sz="1450" dirty="0">
                <a:solidFill>
                  <a:srgbClr val="4A4A4A"/>
                </a:solidFill>
                <a:latin typeface="DM Sans" pitchFamily="34" charset="0"/>
                <a:ea typeface="DM Sans" pitchFamily="34" charset="-122"/>
                <a:cs typeface="DM Sans" pitchFamily="34" charset="-120"/>
              </a:rPr>
              <a:t>4 serialized models (.pkl) with dynamic switching</a:t>
            </a:r>
            <a:endParaRPr lang="en-US" sz="1450" dirty="0"/>
          </a:p>
        </p:txBody>
      </p:sp>
      <p:sp>
        <p:nvSpPr>
          <p:cNvPr id="17" name="Text 12"/>
          <p:cNvSpPr/>
          <p:nvPr/>
        </p:nvSpPr>
        <p:spPr>
          <a:xfrm>
            <a:off x="763548" y="5345668"/>
            <a:ext cx="2373749" cy="296704"/>
          </a:xfrm>
          <a:prstGeom prst="rect">
            <a:avLst/>
          </a:prstGeom>
          <a:noFill/>
          <a:ln/>
        </p:spPr>
        <p:txBody>
          <a:bodyPr wrap="none" lIns="0" tIns="0" rIns="0" bIns="0" rtlCol="0" anchor="t"/>
          <a:lstStyle/>
          <a:p>
            <a:pPr marL="0" indent="0" algn="l">
              <a:lnSpc>
                <a:spcPts val="2300"/>
              </a:lnSpc>
              <a:buNone/>
            </a:pPr>
            <a:r>
              <a:rPr lang="en-US" sz="1850" dirty="0">
                <a:solidFill>
                  <a:srgbClr val="9C5461"/>
                </a:solidFill>
                <a:latin typeface="DM Sans Semi Bold" pitchFamily="34" charset="0"/>
                <a:ea typeface="DM Sans Semi Bold" pitchFamily="34" charset="-122"/>
                <a:cs typeface="DM Sans Semi Bold" pitchFamily="34" charset="-120"/>
              </a:rPr>
              <a:t>Key Technologies</a:t>
            </a:r>
            <a:endParaRPr lang="en-US" sz="1850" dirty="0"/>
          </a:p>
        </p:txBody>
      </p:sp>
      <p:sp>
        <p:nvSpPr>
          <p:cNvPr id="18" name="Text 13"/>
          <p:cNvSpPr/>
          <p:nvPr/>
        </p:nvSpPr>
        <p:spPr>
          <a:xfrm>
            <a:off x="763548" y="5801320"/>
            <a:ext cx="6319957" cy="1617821"/>
          </a:xfrm>
          <a:prstGeom prst="rect">
            <a:avLst/>
          </a:prstGeom>
          <a:noFill/>
          <a:ln/>
        </p:spPr>
        <p:txBody>
          <a:bodyPr wrap="square" lIns="0" tIns="0" rIns="0" bIns="0" rtlCol="0" anchor="t"/>
          <a:lstStyle/>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React for component-based UI development</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Flask for RESTful API implementation</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scikit-learn for ML model training</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Pandas/NumPy for data processing</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Tailwind CSS for modern styling</a:t>
            </a:r>
            <a:endParaRPr lang="en-US" sz="1450" dirty="0"/>
          </a:p>
        </p:txBody>
      </p:sp>
      <p:sp>
        <p:nvSpPr>
          <p:cNvPr id="19" name="Text 14"/>
          <p:cNvSpPr/>
          <p:nvPr/>
        </p:nvSpPr>
        <p:spPr>
          <a:xfrm>
            <a:off x="7554278" y="5345668"/>
            <a:ext cx="2924651" cy="296704"/>
          </a:xfrm>
          <a:prstGeom prst="rect">
            <a:avLst/>
          </a:prstGeom>
          <a:noFill/>
          <a:ln/>
        </p:spPr>
        <p:txBody>
          <a:bodyPr wrap="none" lIns="0" tIns="0" rIns="0" bIns="0" rtlCol="0" anchor="t"/>
          <a:lstStyle/>
          <a:p>
            <a:pPr marL="0" indent="0" algn="l">
              <a:lnSpc>
                <a:spcPts val="2300"/>
              </a:lnSpc>
              <a:buNone/>
            </a:pPr>
            <a:r>
              <a:rPr lang="en-US" sz="1850" dirty="0">
                <a:solidFill>
                  <a:srgbClr val="9C5461"/>
                </a:solidFill>
                <a:latin typeface="DM Sans Semi Bold" pitchFamily="34" charset="0"/>
                <a:ea typeface="DM Sans Semi Bold" pitchFamily="34" charset="-122"/>
                <a:cs typeface="DM Sans Semi Bold" pitchFamily="34" charset="-120"/>
              </a:rPr>
              <a:t>Architectural Advantages</a:t>
            </a:r>
            <a:endParaRPr lang="en-US" sz="1850" dirty="0"/>
          </a:p>
        </p:txBody>
      </p:sp>
      <p:sp>
        <p:nvSpPr>
          <p:cNvPr id="20" name="Text 15"/>
          <p:cNvSpPr/>
          <p:nvPr/>
        </p:nvSpPr>
        <p:spPr>
          <a:xfrm>
            <a:off x="7554278" y="5812895"/>
            <a:ext cx="6319957" cy="1283137"/>
          </a:xfrm>
          <a:prstGeom prst="rect">
            <a:avLst/>
          </a:prstGeom>
          <a:noFill/>
          <a:ln/>
        </p:spPr>
        <p:txBody>
          <a:bodyPr wrap="square" lIns="0" tIns="0" rIns="0" bIns="0" rtlCol="0" anchor="t"/>
          <a:lstStyle/>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Modular, testable codebase</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Horizontal scalability potential</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Stateless API design</a:t>
            </a:r>
            <a:endParaRPr lang="en-US" sz="1450" dirty="0"/>
          </a:p>
          <a:p>
            <a:pPr marL="342900" indent="-342900" algn="l">
              <a:lnSpc>
                <a:spcPts val="2150"/>
              </a:lnSpc>
              <a:buSzPct val="100000"/>
              <a:buChar char="•"/>
            </a:pPr>
            <a:r>
              <a:rPr lang="en-US" sz="1450" dirty="0">
                <a:solidFill>
                  <a:srgbClr val="4A4A4A"/>
                </a:solidFill>
                <a:latin typeface="DM Sans" pitchFamily="34" charset="0"/>
                <a:ea typeface="DM Sans" pitchFamily="34" charset="-122"/>
                <a:cs typeface="DM Sans" pitchFamily="34" charset="-120"/>
              </a:rPr>
              <a:t>Production-grade error handling</a:t>
            </a:r>
            <a:endParaRPr lang="en-US" sz="1450" dirty="0"/>
          </a:p>
        </p:txBody>
      </p:sp>
      <p:sp>
        <p:nvSpPr>
          <p:cNvPr id="21" name="Text 0">
            <a:extLst>
              <a:ext uri="{FF2B5EF4-FFF2-40B4-BE49-F238E27FC236}">
                <a16:creationId xmlns:a16="http://schemas.microsoft.com/office/drawing/2014/main" id="{E2273864-D4F8-DF4C-38AA-5AB0F0534F57}"/>
              </a:ext>
            </a:extLst>
          </p:cNvPr>
          <p:cNvSpPr/>
          <p:nvPr/>
        </p:nvSpPr>
        <p:spPr>
          <a:xfrm>
            <a:off x="763548" y="749976"/>
            <a:ext cx="10849808" cy="593288"/>
          </a:xfrm>
          <a:prstGeom prst="rect">
            <a:avLst/>
          </a:prstGeom>
          <a:noFill/>
          <a:ln/>
        </p:spPr>
        <p:txBody>
          <a:bodyPr wrap="none" lIns="0" tIns="0" rIns="0" bIns="0" rtlCol="0" anchor="t"/>
          <a:lstStyle/>
          <a:p>
            <a:pPr>
              <a:lnSpc>
                <a:spcPts val="4650"/>
              </a:lnSpc>
            </a:pPr>
            <a:r>
              <a:rPr lang="en-US" sz="3700" dirty="0">
                <a:solidFill>
                  <a:srgbClr val="9C5461"/>
                </a:solidFill>
                <a:latin typeface="DM Sans Semi Bold" pitchFamily="34" charset="0"/>
                <a:ea typeface="DM Sans Semi Bold" pitchFamily="34" charset="-122"/>
                <a:cs typeface="DM Sans Semi Bold" pitchFamily="34" charset="-120"/>
              </a:rPr>
              <a:t>System Architecture</a:t>
            </a:r>
            <a:endParaRPr lang="en-US" sz="3700" dirty="0"/>
          </a:p>
        </p:txBody>
      </p:sp>
      <p:sp>
        <p:nvSpPr>
          <p:cNvPr id="22" name="Rectangle 21">
            <a:extLst>
              <a:ext uri="{FF2B5EF4-FFF2-40B4-BE49-F238E27FC236}">
                <a16:creationId xmlns:a16="http://schemas.microsoft.com/office/drawing/2014/main" id="{6E742C70-E393-4D11-F50B-B1D83631A898}"/>
              </a:ext>
            </a:extLst>
          </p:cNvPr>
          <p:cNvSpPr>
            <a:spLocks noGrp="1" noRot="1" noMove="1" noResize="1" noEditPoints="1" noAdjustHandles="1" noChangeArrowheads="1" noChangeShapeType="1"/>
          </p:cNvSpPr>
          <p:nvPr/>
        </p:nvSpPr>
        <p:spPr>
          <a:xfrm>
            <a:off x="12697428" y="7419372"/>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70786" y="1768793"/>
            <a:ext cx="8002429" cy="1019413"/>
          </a:xfrm>
          <a:prstGeom prst="rect">
            <a:avLst/>
          </a:prstGeom>
          <a:noFill/>
          <a:ln/>
        </p:spPr>
        <p:txBody>
          <a:bodyPr wrap="square" lIns="0" tIns="0" rIns="0" bIns="0" rtlCol="0" anchor="t"/>
          <a:lstStyle/>
          <a:p>
            <a:pPr marL="0" indent="0" algn="l">
              <a:lnSpc>
                <a:spcPts val="4000"/>
              </a:lnSpc>
              <a:buNone/>
            </a:pPr>
            <a:r>
              <a:rPr lang="en-US" sz="3200" dirty="0">
                <a:solidFill>
                  <a:srgbClr val="9C5461"/>
                </a:solidFill>
                <a:latin typeface="DM Sans Semi Bold" pitchFamily="34" charset="0"/>
                <a:ea typeface="DM Sans Semi Bold" pitchFamily="34" charset="-122"/>
                <a:cs typeface="DM Sans Semi Bold" pitchFamily="34" charset="-120"/>
              </a:rPr>
              <a:t>User Interface</a:t>
            </a:r>
            <a:endParaRPr lang="en-US" sz="3200" dirty="0"/>
          </a:p>
        </p:txBody>
      </p:sp>
      <p:sp>
        <p:nvSpPr>
          <p:cNvPr id="4" name="Shape 1"/>
          <p:cNvSpPr/>
          <p:nvPr/>
        </p:nvSpPr>
        <p:spPr>
          <a:xfrm>
            <a:off x="570786" y="2964061"/>
            <a:ext cx="2589371" cy="1563529"/>
          </a:xfrm>
          <a:prstGeom prst="roundRect">
            <a:avLst>
              <a:gd name="adj" fmla="val 9388"/>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sp>
        <p:nvSpPr>
          <p:cNvPr id="5" name="Text 2"/>
          <p:cNvSpPr/>
          <p:nvPr/>
        </p:nvSpPr>
        <p:spPr>
          <a:xfrm>
            <a:off x="741402" y="3134678"/>
            <a:ext cx="2038707" cy="254794"/>
          </a:xfrm>
          <a:prstGeom prst="rect">
            <a:avLst/>
          </a:prstGeom>
          <a:noFill/>
          <a:ln/>
        </p:spPr>
        <p:txBody>
          <a:bodyPr wrap="none" lIns="0" tIns="0" rIns="0" bIns="0" rtlCol="0" anchor="t"/>
          <a:lstStyle/>
          <a:p>
            <a:pPr marL="0" indent="0" algn="l">
              <a:lnSpc>
                <a:spcPts val="2000"/>
              </a:lnSpc>
              <a:buNone/>
            </a:pPr>
            <a:r>
              <a:rPr lang="en-US" sz="1600" dirty="0">
                <a:solidFill>
                  <a:srgbClr val="4A4A4A"/>
                </a:solidFill>
                <a:latin typeface="DM Sans Semi Bold" pitchFamily="34" charset="0"/>
                <a:ea typeface="DM Sans Semi Bold" pitchFamily="34" charset="-122"/>
                <a:cs typeface="DM Sans Semi Bold" pitchFamily="34" charset="-120"/>
              </a:rPr>
              <a:t>Dashboard Overview</a:t>
            </a:r>
            <a:endParaRPr lang="en-US" sz="1600" dirty="0"/>
          </a:p>
        </p:txBody>
      </p:sp>
      <p:sp>
        <p:nvSpPr>
          <p:cNvPr id="6" name="Text 3"/>
          <p:cNvSpPr/>
          <p:nvPr/>
        </p:nvSpPr>
        <p:spPr>
          <a:xfrm>
            <a:off x="741402" y="3459718"/>
            <a:ext cx="2248138" cy="897255"/>
          </a:xfrm>
          <a:prstGeom prst="rect">
            <a:avLst/>
          </a:prstGeom>
          <a:noFill/>
          <a:ln/>
        </p:spPr>
        <p:txBody>
          <a:bodyPr wrap="square" lIns="0" tIns="0" rIns="0" bIns="0" rtlCol="0" anchor="t"/>
          <a:lstStyle/>
          <a:p>
            <a:pPr marL="0" indent="0" algn="l">
              <a:lnSpc>
                <a:spcPts val="1750"/>
              </a:lnSpc>
              <a:buNone/>
            </a:pPr>
            <a:r>
              <a:rPr lang="en-US" sz="1250" dirty="0">
                <a:solidFill>
                  <a:srgbClr val="4A4A4A"/>
                </a:solidFill>
                <a:latin typeface="DM Sans" pitchFamily="34" charset="0"/>
                <a:ea typeface="DM Sans" pitchFamily="34" charset="-122"/>
                <a:cs typeface="DM Sans" pitchFamily="34" charset="-120"/>
              </a:rPr>
              <a:t>Real-time statistics display current prediction metrics and system status with visual confidence meters.</a:t>
            </a:r>
            <a:endParaRPr lang="en-US" sz="1250" dirty="0"/>
          </a:p>
        </p:txBody>
      </p:sp>
      <p:sp>
        <p:nvSpPr>
          <p:cNvPr id="7" name="Shape 4"/>
          <p:cNvSpPr/>
          <p:nvPr/>
        </p:nvSpPr>
        <p:spPr>
          <a:xfrm>
            <a:off x="3277314" y="2964061"/>
            <a:ext cx="2589371" cy="1563529"/>
          </a:xfrm>
          <a:prstGeom prst="roundRect">
            <a:avLst>
              <a:gd name="adj" fmla="val 9388"/>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sp>
        <p:nvSpPr>
          <p:cNvPr id="8" name="Text 5"/>
          <p:cNvSpPr/>
          <p:nvPr/>
        </p:nvSpPr>
        <p:spPr>
          <a:xfrm>
            <a:off x="3447931" y="3134678"/>
            <a:ext cx="2038707" cy="254794"/>
          </a:xfrm>
          <a:prstGeom prst="rect">
            <a:avLst/>
          </a:prstGeom>
          <a:noFill/>
          <a:ln/>
        </p:spPr>
        <p:txBody>
          <a:bodyPr wrap="none" lIns="0" tIns="0" rIns="0" bIns="0" rtlCol="0" anchor="t"/>
          <a:lstStyle/>
          <a:p>
            <a:pPr marL="0" indent="0" algn="l">
              <a:lnSpc>
                <a:spcPts val="2000"/>
              </a:lnSpc>
              <a:buNone/>
            </a:pPr>
            <a:r>
              <a:rPr lang="en-US" sz="1600" dirty="0">
                <a:solidFill>
                  <a:srgbClr val="4A4A4A"/>
                </a:solidFill>
                <a:latin typeface="DM Sans Semi Bold" pitchFamily="34" charset="0"/>
                <a:ea typeface="DM Sans Semi Bold" pitchFamily="34" charset="-122"/>
                <a:cs typeface="DM Sans Semi Bold" pitchFamily="34" charset="-120"/>
              </a:rPr>
              <a:t>Prediction Form</a:t>
            </a:r>
            <a:endParaRPr lang="en-US" sz="1600" dirty="0"/>
          </a:p>
        </p:txBody>
      </p:sp>
      <p:sp>
        <p:nvSpPr>
          <p:cNvPr id="9" name="Text 6"/>
          <p:cNvSpPr/>
          <p:nvPr/>
        </p:nvSpPr>
        <p:spPr>
          <a:xfrm>
            <a:off x="3447931" y="3459718"/>
            <a:ext cx="2248138" cy="672941"/>
          </a:xfrm>
          <a:prstGeom prst="rect">
            <a:avLst/>
          </a:prstGeom>
          <a:noFill/>
          <a:ln/>
        </p:spPr>
        <p:txBody>
          <a:bodyPr wrap="square" lIns="0" tIns="0" rIns="0" bIns="0" rtlCol="0" anchor="t"/>
          <a:lstStyle/>
          <a:p>
            <a:pPr marL="0" indent="0" algn="l">
              <a:lnSpc>
                <a:spcPts val="1750"/>
              </a:lnSpc>
              <a:buNone/>
            </a:pPr>
            <a:r>
              <a:rPr lang="en-US" sz="1250" dirty="0">
                <a:solidFill>
                  <a:srgbClr val="4A4A4A"/>
                </a:solidFill>
                <a:latin typeface="DM Sans" pitchFamily="34" charset="0"/>
                <a:ea typeface="DM Sans" pitchFamily="34" charset="-122"/>
                <a:cs typeface="DM Sans" pitchFamily="34" charset="-120"/>
              </a:rPr>
              <a:t>11 input fields for planetary parameters with validation and unit conversion support.</a:t>
            </a:r>
            <a:endParaRPr lang="en-US" sz="1250" dirty="0"/>
          </a:p>
        </p:txBody>
      </p:sp>
      <p:sp>
        <p:nvSpPr>
          <p:cNvPr id="10" name="Shape 7"/>
          <p:cNvSpPr/>
          <p:nvPr/>
        </p:nvSpPr>
        <p:spPr>
          <a:xfrm>
            <a:off x="5983843" y="2964061"/>
            <a:ext cx="2589371" cy="1563529"/>
          </a:xfrm>
          <a:prstGeom prst="roundRect">
            <a:avLst>
              <a:gd name="adj" fmla="val 9388"/>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sp>
        <p:nvSpPr>
          <p:cNvPr id="11" name="Text 8"/>
          <p:cNvSpPr/>
          <p:nvPr/>
        </p:nvSpPr>
        <p:spPr>
          <a:xfrm>
            <a:off x="6154460" y="3134678"/>
            <a:ext cx="2038707" cy="254794"/>
          </a:xfrm>
          <a:prstGeom prst="rect">
            <a:avLst/>
          </a:prstGeom>
          <a:noFill/>
          <a:ln/>
        </p:spPr>
        <p:txBody>
          <a:bodyPr wrap="none" lIns="0" tIns="0" rIns="0" bIns="0" rtlCol="0" anchor="t"/>
          <a:lstStyle/>
          <a:p>
            <a:pPr marL="0" indent="0" algn="l">
              <a:lnSpc>
                <a:spcPts val="2000"/>
              </a:lnSpc>
              <a:buNone/>
            </a:pPr>
            <a:r>
              <a:rPr lang="en-US" sz="1600" dirty="0">
                <a:solidFill>
                  <a:srgbClr val="4A4A4A"/>
                </a:solidFill>
                <a:latin typeface="DM Sans Semi Bold" pitchFamily="34" charset="0"/>
                <a:ea typeface="DM Sans Semi Bold" pitchFamily="34" charset="-122"/>
                <a:cs typeface="DM Sans Semi Bold" pitchFamily="34" charset="-120"/>
              </a:rPr>
              <a:t>Results Panel</a:t>
            </a:r>
            <a:endParaRPr lang="en-US" sz="1600" dirty="0"/>
          </a:p>
        </p:txBody>
      </p:sp>
      <p:sp>
        <p:nvSpPr>
          <p:cNvPr id="12" name="Text 9"/>
          <p:cNvSpPr/>
          <p:nvPr/>
        </p:nvSpPr>
        <p:spPr>
          <a:xfrm>
            <a:off x="6154460" y="3459718"/>
            <a:ext cx="2248138" cy="672941"/>
          </a:xfrm>
          <a:prstGeom prst="rect">
            <a:avLst/>
          </a:prstGeom>
          <a:noFill/>
          <a:ln/>
        </p:spPr>
        <p:txBody>
          <a:bodyPr wrap="square" lIns="0" tIns="0" rIns="0" bIns="0" rtlCol="0" anchor="t"/>
          <a:lstStyle/>
          <a:p>
            <a:pPr marL="0" indent="0" algn="l">
              <a:lnSpc>
                <a:spcPts val="1750"/>
              </a:lnSpc>
              <a:buNone/>
            </a:pPr>
            <a:r>
              <a:rPr lang="en-US" sz="1250" dirty="0">
                <a:solidFill>
                  <a:srgbClr val="4A4A4A"/>
                </a:solidFill>
                <a:latin typeface="DM Sans" pitchFamily="34" charset="0"/>
                <a:ea typeface="DM Sans" pitchFamily="34" charset="-122"/>
                <a:cs typeface="DM Sans" pitchFamily="34" charset="-120"/>
              </a:rPr>
              <a:t>Confidence visualization, habitability score breakdown, and explanatory metrics.</a:t>
            </a:r>
            <a:endParaRPr lang="en-US" sz="1250" dirty="0"/>
          </a:p>
        </p:txBody>
      </p:sp>
      <p:sp>
        <p:nvSpPr>
          <p:cNvPr id="13" name="Shape 10"/>
          <p:cNvSpPr/>
          <p:nvPr/>
        </p:nvSpPr>
        <p:spPr>
          <a:xfrm>
            <a:off x="570786" y="4644747"/>
            <a:ext cx="8002429" cy="890588"/>
          </a:xfrm>
          <a:prstGeom prst="roundRect">
            <a:avLst>
              <a:gd name="adj" fmla="val 16482"/>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sp>
        <p:nvSpPr>
          <p:cNvPr id="14" name="Text 11"/>
          <p:cNvSpPr/>
          <p:nvPr/>
        </p:nvSpPr>
        <p:spPr>
          <a:xfrm>
            <a:off x="741402" y="4815364"/>
            <a:ext cx="2038707" cy="254794"/>
          </a:xfrm>
          <a:prstGeom prst="rect">
            <a:avLst/>
          </a:prstGeom>
          <a:noFill/>
          <a:ln/>
        </p:spPr>
        <p:txBody>
          <a:bodyPr wrap="none" lIns="0" tIns="0" rIns="0" bIns="0" rtlCol="0" anchor="t"/>
          <a:lstStyle/>
          <a:p>
            <a:pPr marL="0" indent="0" algn="l">
              <a:lnSpc>
                <a:spcPts val="2000"/>
              </a:lnSpc>
              <a:buNone/>
            </a:pPr>
            <a:r>
              <a:rPr lang="en-US" sz="1600" dirty="0">
                <a:solidFill>
                  <a:srgbClr val="4A4A4A"/>
                </a:solidFill>
                <a:latin typeface="DM Sans Semi Bold" pitchFamily="34" charset="0"/>
                <a:ea typeface="DM Sans Semi Bold" pitchFamily="34" charset="-122"/>
                <a:cs typeface="DM Sans Semi Bold" pitchFamily="34" charset="-120"/>
              </a:rPr>
              <a:t>Planet Ranking</a:t>
            </a:r>
            <a:endParaRPr lang="en-US" sz="1600" dirty="0"/>
          </a:p>
        </p:txBody>
      </p:sp>
      <p:sp>
        <p:nvSpPr>
          <p:cNvPr id="15" name="Text 12"/>
          <p:cNvSpPr/>
          <p:nvPr/>
        </p:nvSpPr>
        <p:spPr>
          <a:xfrm>
            <a:off x="741402" y="5140404"/>
            <a:ext cx="7661196" cy="224314"/>
          </a:xfrm>
          <a:prstGeom prst="rect">
            <a:avLst/>
          </a:prstGeom>
          <a:noFill/>
          <a:ln/>
        </p:spPr>
        <p:txBody>
          <a:bodyPr wrap="none" lIns="0" tIns="0" rIns="0" bIns="0" rtlCol="0" anchor="t"/>
          <a:lstStyle/>
          <a:p>
            <a:pPr marL="0" indent="0" algn="l">
              <a:lnSpc>
                <a:spcPts val="1750"/>
              </a:lnSpc>
              <a:buNone/>
            </a:pPr>
            <a:r>
              <a:rPr lang="en-US" sz="1250" dirty="0">
                <a:solidFill>
                  <a:srgbClr val="4A4A4A"/>
                </a:solidFill>
                <a:latin typeface="DM Sans" pitchFamily="34" charset="0"/>
                <a:ea typeface="DM Sans" pitchFamily="34" charset="-122"/>
                <a:cs typeface="DM Sans" pitchFamily="34" charset="-120"/>
              </a:rPr>
              <a:t>Dynamic leaderboard of top habitable candidates sorted by probability score.</a:t>
            </a:r>
            <a:endParaRPr lang="en-US" sz="1250" dirty="0"/>
          </a:p>
        </p:txBody>
      </p:sp>
      <p:sp>
        <p:nvSpPr>
          <p:cNvPr id="16" name="Shape 13"/>
          <p:cNvSpPr/>
          <p:nvPr/>
        </p:nvSpPr>
        <p:spPr>
          <a:xfrm>
            <a:off x="570786" y="5667256"/>
            <a:ext cx="8002429" cy="793433"/>
          </a:xfrm>
          <a:prstGeom prst="roundRect">
            <a:avLst>
              <a:gd name="adj" fmla="val 18500"/>
            </a:avLst>
          </a:prstGeom>
          <a:solidFill>
            <a:srgbClr val="FFB3BB"/>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733782" y="5888355"/>
            <a:ext cx="203835" cy="162997"/>
          </a:xfrm>
          <a:prstGeom prst="rect">
            <a:avLst/>
          </a:prstGeom>
        </p:spPr>
      </p:pic>
      <p:sp>
        <p:nvSpPr>
          <p:cNvPr id="18" name="Text 14"/>
          <p:cNvSpPr/>
          <p:nvPr/>
        </p:nvSpPr>
        <p:spPr>
          <a:xfrm>
            <a:off x="1100614" y="5825133"/>
            <a:ext cx="7309604" cy="448628"/>
          </a:xfrm>
          <a:prstGeom prst="rect">
            <a:avLst/>
          </a:prstGeom>
          <a:noFill/>
          <a:ln/>
        </p:spPr>
        <p:txBody>
          <a:bodyPr wrap="square" lIns="0" tIns="0" rIns="0" bIns="0" rtlCol="0" anchor="t"/>
          <a:lstStyle/>
          <a:p>
            <a:pPr marL="0" indent="0" algn="l">
              <a:lnSpc>
                <a:spcPts val="1750"/>
              </a:lnSpc>
              <a:buNone/>
            </a:pPr>
            <a:r>
              <a:rPr lang="en-US" sz="1250" b="1" dirty="0">
                <a:solidFill>
                  <a:srgbClr val="000000"/>
                </a:solidFill>
                <a:latin typeface="DM Sans" pitchFamily="34" charset="0"/>
                <a:ea typeface="DM Sans" pitchFamily="34" charset="-122"/>
                <a:cs typeface="DM Sans" pitchFamily="34" charset="-120"/>
              </a:rPr>
              <a:t>Performance:</a:t>
            </a:r>
            <a:r>
              <a:rPr lang="en-US" sz="1250" dirty="0">
                <a:solidFill>
                  <a:srgbClr val="000000"/>
                </a:solidFill>
                <a:latin typeface="DM Sans" pitchFamily="34" charset="0"/>
                <a:ea typeface="DM Sans" pitchFamily="34" charset="-122"/>
                <a:cs typeface="DM Sans" pitchFamily="34" charset="-120"/>
              </a:rPr>
              <a:t> End-to-end predictions generate visual outputs in </a:t>
            </a:r>
            <a:r>
              <a:rPr lang="en-US" sz="1250" b="1" dirty="0">
                <a:solidFill>
                  <a:srgbClr val="FF2E45"/>
                </a:solidFill>
                <a:latin typeface="DM Sans" pitchFamily="34" charset="0"/>
                <a:ea typeface="DM Sans" pitchFamily="34" charset="-122"/>
                <a:cs typeface="DM Sans" pitchFamily="34" charset="-120"/>
              </a:rPr>
              <a:t>&lt; 1 second</a:t>
            </a:r>
            <a:r>
              <a:rPr lang="en-US" sz="1250" dirty="0">
                <a:solidFill>
                  <a:srgbClr val="000000"/>
                </a:solidFill>
                <a:latin typeface="DM Sans" pitchFamily="34" charset="0"/>
                <a:ea typeface="DM Sans" pitchFamily="34" charset="-122"/>
                <a:cs typeface="DM Sans" pitchFamily="34" charset="-120"/>
              </a:rPr>
              <a:t>, enabling real-time hypothesis testing and batch analysis.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881539"/>
            <a:ext cx="11296412" cy="653177"/>
          </a:xfrm>
          <a:prstGeom prst="rect">
            <a:avLst/>
          </a:prstGeom>
          <a:noFill/>
          <a:ln/>
        </p:spPr>
        <p:txBody>
          <a:bodyPr wrap="none" lIns="0" tIns="0" rIns="0" bIns="0" rtlCol="0" anchor="t"/>
          <a:lstStyle/>
          <a:p>
            <a:pPr marL="0" indent="0" algn="l">
              <a:lnSpc>
                <a:spcPts val="5100"/>
              </a:lnSpc>
              <a:buNone/>
            </a:pPr>
            <a:r>
              <a:rPr lang="en-US" sz="3200" dirty="0">
                <a:solidFill>
                  <a:srgbClr val="9C5461"/>
                </a:solidFill>
                <a:latin typeface="DM Sans Semi Bold" pitchFamily="34" charset="0"/>
                <a:ea typeface="DM Sans Semi Bold" pitchFamily="34" charset="-122"/>
                <a:cs typeface="DM Sans Semi Bold" pitchFamily="34" charset="-120"/>
              </a:rPr>
              <a:t>Feature Importance</a:t>
            </a:r>
            <a:endParaRPr lang="en-US" sz="3200" dirty="0"/>
          </a:p>
        </p:txBody>
      </p:sp>
      <p:sp>
        <p:nvSpPr>
          <p:cNvPr id="4" name="Text 1"/>
          <p:cNvSpPr/>
          <p:nvPr/>
        </p:nvSpPr>
        <p:spPr>
          <a:xfrm>
            <a:off x="9629299" y="2016085"/>
            <a:ext cx="2612708" cy="326469"/>
          </a:xfrm>
          <a:prstGeom prst="rect">
            <a:avLst/>
          </a:prstGeom>
          <a:noFill/>
          <a:ln/>
        </p:spPr>
        <p:txBody>
          <a:bodyPr wrap="none" lIns="0" tIns="0" rIns="0" bIns="0" rtlCol="0" anchor="t"/>
          <a:lstStyle/>
          <a:p>
            <a:pPr marL="0" indent="0" algn="l">
              <a:lnSpc>
                <a:spcPts val="2550"/>
              </a:lnSpc>
              <a:buNone/>
            </a:pPr>
            <a:r>
              <a:rPr lang="en-US" sz="2050" dirty="0">
                <a:solidFill>
                  <a:srgbClr val="9C5461"/>
                </a:solidFill>
                <a:latin typeface="DM Sans Semi Bold" pitchFamily="34" charset="0"/>
                <a:ea typeface="DM Sans Semi Bold" pitchFamily="34" charset="-122"/>
                <a:cs typeface="DM Sans Semi Bold" pitchFamily="34" charset="-120"/>
              </a:rPr>
              <a:t>Scientific Validation</a:t>
            </a:r>
            <a:endParaRPr lang="en-US" sz="2050" dirty="0"/>
          </a:p>
        </p:txBody>
      </p:sp>
      <p:sp>
        <p:nvSpPr>
          <p:cNvPr id="5" name="Text 2"/>
          <p:cNvSpPr/>
          <p:nvPr/>
        </p:nvSpPr>
        <p:spPr>
          <a:xfrm>
            <a:off x="9629299" y="2523504"/>
            <a:ext cx="4277082" cy="3415665"/>
          </a:xfrm>
          <a:prstGeom prst="rect">
            <a:avLst/>
          </a:prstGeom>
          <a:noFill/>
          <a:ln/>
        </p:spPr>
        <p:txBody>
          <a:bodyPr wrap="square" lIns="0" tIns="0" rIns="0" bIns="0" rtlCol="0" anchor="t"/>
          <a:lstStyle/>
          <a:p>
            <a:pPr marL="342900" indent="-342900" algn="l">
              <a:lnSpc>
                <a:spcPts val="2500"/>
              </a:lnSpc>
              <a:buSzPct val="100000"/>
              <a:buChar char="•"/>
            </a:pPr>
            <a:r>
              <a:rPr lang="en-US" sz="1600" b="1" dirty="0">
                <a:solidFill>
                  <a:srgbClr val="FF0000"/>
                </a:solidFill>
                <a:latin typeface="DM Sans" pitchFamily="34" charset="0"/>
                <a:ea typeface="DM Sans" pitchFamily="34" charset="-122"/>
                <a:cs typeface="DM Sans" pitchFamily="34" charset="-120"/>
              </a:rPr>
              <a:t>Planet radius (</a:t>
            </a:r>
            <a:r>
              <a:rPr lang="en-US" sz="1600" b="1" dirty="0" err="1">
                <a:solidFill>
                  <a:srgbClr val="FF0000"/>
                </a:solidFill>
                <a:latin typeface="DM Sans" pitchFamily="34" charset="0"/>
                <a:ea typeface="DM Sans" pitchFamily="34" charset="-122"/>
                <a:cs typeface="DM Sans" pitchFamily="34" charset="-120"/>
              </a:rPr>
              <a:t>pl_rade</a:t>
            </a:r>
            <a:r>
              <a:rPr lang="en-US" sz="1600" b="1" dirty="0">
                <a:solidFill>
                  <a:srgbClr val="FF0000"/>
                </a:solidFill>
                <a:latin typeface="DM Sans" pitchFamily="34" charset="0"/>
                <a:ea typeface="DM Sans" pitchFamily="34" charset="-122"/>
                <a:cs typeface="DM Sans" pitchFamily="34" charset="-120"/>
              </a:rPr>
              <a:t>) </a:t>
            </a:r>
            <a:r>
              <a:rPr lang="en-US" sz="1600" dirty="0">
                <a:solidFill>
                  <a:srgbClr val="4A4A4A"/>
                </a:solidFill>
                <a:latin typeface="DM Sans" pitchFamily="34" charset="0"/>
                <a:ea typeface="DM Sans" pitchFamily="34" charset="-122"/>
                <a:cs typeface="DM Sans" pitchFamily="34" charset="-120"/>
              </a:rPr>
              <a:t>most important  aligns with established astronomy principles</a:t>
            </a:r>
            <a:endParaRPr lang="en-US" sz="1600" dirty="0"/>
          </a:p>
          <a:p>
            <a:pPr marL="342900" indent="-342900" algn="l">
              <a:lnSpc>
                <a:spcPts val="2500"/>
              </a:lnSpc>
              <a:buSzPct val="100000"/>
              <a:buChar char="•"/>
            </a:pPr>
            <a:r>
              <a:rPr lang="en-US" sz="1600" b="1" dirty="0">
                <a:solidFill>
                  <a:srgbClr val="FF2E45"/>
                </a:solidFill>
                <a:latin typeface="DM Sans" pitchFamily="34" charset="0"/>
                <a:ea typeface="DM Sans" pitchFamily="34" charset="-122"/>
                <a:cs typeface="DM Sans" pitchFamily="34" charset="-120"/>
              </a:rPr>
              <a:t>Planet isolation flux ranks #2 </a:t>
            </a:r>
            <a:r>
              <a:rPr lang="en-US" sz="1600" dirty="0">
                <a:solidFill>
                  <a:srgbClr val="4A4A4A"/>
                </a:solidFill>
                <a:latin typeface="DM Sans" pitchFamily="34" charset="0"/>
                <a:ea typeface="DM Sans" pitchFamily="34" charset="-122"/>
                <a:cs typeface="DM Sans" pitchFamily="34" charset="-120"/>
              </a:rPr>
              <a:t> — validates our novel feature engineering</a:t>
            </a:r>
            <a:endParaRPr lang="en-US" sz="1600" dirty="0"/>
          </a:p>
          <a:p>
            <a:pPr marL="342900" indent="-342900" algn="l">
              <a:lnSpc>
                <a:spcPts val="2500"/>
              </a:lnSpc>
              <a:buSzPct val="100000"/>
              <a:buChar char="•"/>
            </a:pPr>
            <a:r>
              <a:rPr lang="en-US" sz="1600" dirty="0">
                <a:solidFill>
                  <a:srgbClr val="4A4A4A"/>
                </a:solidFill>
                <a:latin typeface="DM Sans" pitchFamily="34" charset="0"/>
                <a:ea typeface="DM Sans" pitchFamily="34" charset="-122"/>
                <a:cs typeface="DM Sans" pitchFamily="34" charset="-120"/>
              </a:rPr>
              <a:t>Planetary size and mass critical for atmosphere retention</a:t>
            </a:r>
            <a:endParaRPr lang="en-US" sz="1600" dirty="0"/>
          </a:p>
          <a:p>
            <a:pPr marL="342900" indent="-342900" algn="l">
              <a:lnSpc>
                <a:spcPts val="2500"/>
              </a:lnSpc>
              <a:buSzPct val="100000"/>
              <a:buChar char="•"/>
            </a:pPr>
            <a:r>
              <a:rPr lang="en-US" sz="1600" dirty="0">
                <a:solidFill>
                  <a:srgbClr val="4A4A4A"/>
                </a:solidFill>
                <a:latin typeface="DM Sans" pitchFamily="34" charset="0"/>
                <a:ea typeface="DM Sans" pitchFamily="34" charset="-122"/>
                <a:cs typeface="DM Sans" pitchFamily="34" charset="-120"/>
              </a:rPr>
              <a:t>All features agree with peer-reviewed habitability criteria</a:t>
            </a:r>
            <a:endParaRPr lang="en-US" sz="1600" dirty="0"/>
          </a:p>
        </p:txBody>
      </p:sp>
      <p:sp>
        <p:nvSpPr>
          <p:cNvPr id="6" name="Text 3"/>
          <p:cNvSpPr/>
          <p:nvPr/>
        </p:nvSpPr>
        <p:spPr>
          <a:xfrm>
            <a:off x="9942790" y="6167318"/>
            <a:ext cx="3963591" cy="964049"/>
          </a:xfrm>
          <a:prstGeom prst="rect">
            <a:avLst/>
          </a:prstGeom>
          <a:noFill/>
          <a:ln/>
        </p:spPr>
        <p:txBody>
          <a:bodyPr wrap="square" lIns="0" tIns="0" rIns="0" bIns="0" rtlCol="0" anchor="t"/>
          <a:lstStyle/>
          <a:p>
            <a:pPr marL="0" indent="0" algn="l">
              <a:lnSpc>
                <a:spcPts val="2500"/>
              </a:lnSpc>
              <a:buNone/>
            </a:pPr>
            <a:r>
              <a:rPr lang="en-US" sz="1600" dirty="0">
                <a:solidFill>
                  <a:srgbClr val="4A4A4A"/>
                </a:solidFill>
                <a:latin typeface="DM Sans" pitchFamily="34" charset="0"/>
                <a:ea typeface="DM Sans" pitchFamily="34" charset="-122"/>
                <a:cs typeface="DM Sans" pitchFamily="34" charset="-120"/>
              </a:rPr>
              <a:t>"Feature importance directly reflects established planetary science — insolation and temperature dominate."</a:t>
            </a:r>
            <a:endParaRPr lang="en-US" sz="1600" dirty="0"/>
          </a:p>
        </p:txBody>
      </p:sp>
      <p:sp>
        <p:nvSpPr>
          <p:cNvPr id="7" name="Shape 4"/>
          <p:cNvSpPr/>
          <p:nvPr/>
        </p:nvSpPr>
        <p:spPr>
          <a:xfrm>
            <a:off x="9629299" y="6167318"/>
            <a:ext cx="22860" cy="964049"/>
          </a:xfrm>
          <a:prstGeom prst="rect">
            <a:avLst/>
          </a:prstGeom>
          <a:solidFill>
            <a:srgbClr val="FFC7CD"/>
          </a:solidFill>
          <a:ln/>
        </p:spPr>
        <p:txBody>
          <a:bodyPr/>
          <a:lstStyle/>
          <a:p>
            <a:endParaRPr lang="en-IN"/>
          </a:p>
        </p:txBody>
      </p:sp>
      <p:pic>
        <p:nvPicPr>
          <p:cNvPr id="9" name="Picture 8">
            <a:extLst>
              <a:ext uri="{FF2B5EF4-FFF2-40B4-BE49-F238E27FC236}">
                <a16:creationId xmlns:a16="http://schemas.microsoft.com/office/drawing/2014/main" id="{034136BD-FFB4-6708-EA72-9B64A93788A5}"/>
              </a:ext>
            </a:extLst>
          </p:cNvPr>
          <p:cNvPicPr>
            <a:picLocks noChangeAspect="1"/>
          </p:cNvPicPr>
          <p:nvPr/>
        </p:nvPicPr>
        <p:blipFill>
          <a:blip r:embed="rId3"/>
          <a:stretch>
            <a:fillRect/>
          </a:stretch>
        </p:blipFill>
        <p:spPr>
          <a:xfrm>
            <a:off x="220088" y="1971375"/>
            <a:ext cx="9118579" cy="5376685"/>
          </a:xfrm>
          <a:prstGeom prst="rect">
            <a:avLst/>
          </a:prstGeom>
        </p:spPr>
      </p:pic>
      <p:sp>
        <p:nvSpPr>
          <p:cNvPr id="3" name="Text 0">
            <a:extLst>
              <a:ext uri="{FF2B5EF4-FFF2-40B4-BE49-F238E27FC236}">
                <a16:creationId xmlns:a16="http://schemas.microsoft.com/office/drawing/2014/main" id="{931EE69C-EEA4-1ACA-F6BF-529A60585A6B}"/>
              </a:ext>
            </a:extLst>
          </p:cNvPr>
          <p:cNvSpPr/>
          <p:nvPr/>
        </p:nvSpPr>
        <p:spPr>
          <a:xfrm>
            <a:off x="731520" y="314266"/>
            <a:ext cx="11296412" cy="653177"/>
          </a:xfrm>
          <a:prstGeom prst="rect">
            <a:avLst/>
          </a:prstGeom>
          <a:noFill/>
          <a:ln/>
        </p:spPr>
        <p:txBody>
          <a:bodyPr wrap="none" lIns="0" tIns="0" rIns="0" bIns="0" rtlCol="0" anchor="t"/>
          <a:lstStyle/>
          <a:p>
            <a:pPr marL="0" indent="0" algn="l">
              <a:lnSpc>
                <a:spcPts val="5100"/>
              </a:lnSpc>
              <a:buNone/>
            </a:pPr>
            <a:r>
              <a:rPr lang="en-US" sz="4100" dirty="0">
                <a:solidFill>
                  <a:srgbClr val="9C5461"/>
                </a:solidFill>
                <a:latin typeface="DM Sans Semi Bold" pitchFamily="34" charset="0"/>
                <a:ea typeface="DM Sans Semi Bold" pitchFamily="34" charset="-122"/>
                <a:cs typeface="DM Sans Semi Bold" pitchFamily="34" charset="-120"/>
              </a:rPr>
              <a:t>Result</a:t>
            </a:r>
            <a:endParaRPr lang="en-US" sz="4100" dirty="0"/>
          </a:p>
        </p:txBody>
      </p:sp>
      <p:sp>
        <p:nvSpPr>
          <p:cNvPr id="8" name="Rectangle 7">
            <a:extLst>
              <a:ext uri="{FF2B5EF4-FFF2-40B4-BE49-F238E27FC236}">
                <a16:creationId xmlns:a16="http://schemas.microsoft.com/office/drawing/2014/main" id="{39DED37F-74B1-3A18-FCC7-F5A509ABF08E}"/>
              </a:ext>
            </a:extLst>
          </p:cNvPr>
          <p:cNvSpPr>
            <a:spLocks noGrp="1" noRot="1" noMove="1" noResize="1" noEditPoints="1" noAdjustHandles="1" noChangeArrowheads="1" noChangeShapeType="1"/>
          </p:cNvSpPr>
          <p:nvPr/>
        </p:nvSpPr>
        <p:spPr>
          <a:xfrm>
            <a:off x="12697428" y="7419372"/>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514475" y="1172408"/>
            <a:ext cx="11601331" cy="1050608"/>
          </a:xfrm>
          <a:prstGeom prst="rect">
            <a:avLst/>
          </a:prstGeom>
          <a:noFill/>
          <a:ln/>
        </p:spPr>
        <p:txBody>
          <a:bodyPr wrap="square" lIns="0" tIns="0" rIns="0" bIns="0" rtlCol="0" anchor="t"/>
          <a:lstStyle/>
          <a:p>
            <a:pPr marL="0" indent="0" algn="l">
              <a:lnSpc>
                <a:spcPts val="4100"/>
              </a:lnSpc>
              <a:buNone/>
            </a:pPr>
            <a:r>
              <a:rPr lang="en-US" sz="3300" dirty="0">
                <a:solidFill>
                  <a:srgbClr val="9C5461"/>
                </a:solidFill>
                <a:latin typeface="DM Sans Semi Bold" pitchFamily="34" charset="0"/>
                <a:ea typeface="DM Sans Semi Bold" pitchFamily="34" charset="-122"/>
                <a:cs typeface="DM Sans Semi Bold" pitchFamily="34" charset="-120"/>
              </a:rPr>
              <a:t>Conclusion</a:t>
            </a:r>
            <a:endParaRPr lang="en-US" sz="3300" dirty="0"/>
          </a:p>
        </p:txBody>
      </p:sp>
      <p:sp>
        <p:nvSpPr>
          <p:cNvPr id="3" name="Shape 1"/>
          <p:cNvSpPr/>
          <p:nvPr/>
        </p:nvSpPr>
        <p:spPr>
          <a:xfrm>
            <a:off x="1514475" y="2472214"/>
            <a:ext cx="2806898" cy="2020014"/>
          </a:xfrm>
          <a:prstGeom prst="roundRect">
            <a:avLst>
              <a:gd name="adj" fmla="val 7491"/>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pic>
        <p:nvPicPr>
          <p:cNvPr id="4" name="Image 0" descr="preencoded.png"/>
          <p:cNvPicPr>
            <a:picLocks noChangeAspect="1"/>
          </p:cNvPicPr>
          <p:nvPr/>
        </p:nvPicPr>
        <p:blipFill>
          <a:blip r:embed="rId3"/>
          <a:stretch>
            <a:fillRect/>
          </a:stretch>
        </p:blipFill>
        <p:spPr>
          <a:xfrm>
            <a:off x="1690211" y="2647950"/>
            <a:ext cx="504349" cy="504349"/>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8919" y="2786539"/>
            <a:ext cx="226933" cy="226933"/>
          </a:xfrm>
          <a:prstGeom prst="rect">
            <a:avLst/>
          </a:prstGeom>
        </p:spPr>
      </p:pic>
      <p:sp>
        <p:nvSpPr>
          <p:cNvPr id="6" name="Text 2"/>
          <p:cNvSpPr/>
          <p:nvPr/>
        </p:nvSpPr>
        <p:spPr>
          <a:xfrm>
            <a:off x="1690211" y="3276838"/>
            <a:ext cx="2101691" cy="262652"/>
          </a:xfrm>
          <a:prstGeom prst="rect">
            <a:avLst/>
          </a:prstGeom>
          <a:noFill/>
          <a:ln/>
        </p:spPr>
        <p:txBody>
          <a:bodyPr wrap="none" lIns="0" tIns="0" rIns="0" bIns="0" rtlCol="0" anchor="t"/>
          <a:lstStyle/>
          <a:p>
            <a:pPr marL="0" indent="0" algn="l">
              <a:lnSpc>
                <a:spcPts val="2050"/>
              </a:lnSpc>
              <a:buNone/>
            </a:pPr>
            <a:r>
              <a:rPr lang="en-US" sz="1650" dirty="0">
                <a:solidFill>
                  <a:srgbClr val="4A4A4A"/>
                </a:solidFill>
                <a:latin typeface="DM Sans Semi Bold" pitchFamily="34" charset="0"/>
                <a:ea typeface="DM Sans Semi Bold" pitchFamily="34" charset="-122"/>
                <a:cs typeface="DM Sans Semi Bold" pitchFamily="34" charset="-120"/>
              </a:rPr>
              <a:t>95.67% Accuracy</a:t>
            </a:r>
            <a:endParaRPr lang="en-US" sz="1650" dirty="0"/>
          </a:p>
        </p:txBody>
      </p:sp>
      <p:sp>
        <p:nvSpPr>
          <p:cNvPr id="7" name="Text 3"/>
          <p:cNvSpPr/>
          <p:nvPr/>
        </p:nvSpPr>
        <p:spPr>
          <a:xfrm>
            <a:off x="1690211" y="3614261"/>
            <a:ext cx="2455426" cy="702231"/>
          </a:xfrm>
          <a:prstGeom prst="rect">
            <a:avLst/>
          </a:prstGeom>
          <a:noFill/>
          <a:ln/>
        </p:spPr>
        <p:txBody>
          <a:bodyPr wrap="square" lIns="0" tIns="0" rIns="0" bIns="0" rtlCol="0" anchor="t"/>
          <a:lstStyle/>
          <a:p>
            <a:pPr marL="0" indent="0" algn="l">
              <a:lnSpc>
                <a:spcPts val="1800"/>
              </a:lnSpc>
              <a:buNone/>
            </a:pPr>
            <a:r>
              <a:rPr lang="en-US" sz="1300" dirty="0">
                <a:solidFill>
                  <a:srgbClr val="4A4A4A"/>
                </a:solidFill>
                <a:latin typeface="DM Sans" pitchFamily="34" charset="0"/>
                <a:ea typeface="DM Sans" pitchFamily="34" charset="-122"/>
                <a:cs typeface="DM Sans" pitchFamily="34" charset="-120"/>
              </a:rPr>
              <a:t>Exceeds published industry standards for exoplanet habitability prediction</a:t>
            </a:r>
            <a:endParaRPr lang="en-US" sz="1300" dirty="0"/>
          </a:p>
        </p:txBody>
      </p:sp>
      <p:sp>
        <p:nvSpPr>
          <p:cNvPr id="8" name="Shape 4"/>
          <p:cNvSpPr/>
          <p:nvPr/>
        </p:nvSpPr>
        <p:spPr>
          <a:xfrm>
            <a:off x="4445913" y="2472214"/>
            <a:ext cx="2806898" cy="2020014"/>
          </a:xfrm>
          <a:prstGeom prst="roundRect">
            <a:avLst>
              <a:gd name="adj" fmla="val 7491"/>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pic>
        <p:nvPicPr>
          <p:cNvPr id="9" name="Image 2" descr="preencoded.png"/>
          <p:cNvPicPr>
            <a:picLocks noChangeAspect="1"/>
          </p:cNvPicPr>
          <p:nvPr/>
        </p:nvPicPr>
        <p:blipFill>
          <a:blip r:embed="rId6"/>
          <a:stretch>
            <a:fillRect/>
          </a:stretch>
        </p:blipFill>
        <p:spPr>
          <a:xfrm>
            <a:off x="4621649" y="2647950"/>
            <a:ext cx="504349" cy="504349"/>
          </a:xfrm>
          <a:prstGeom prst="rect">
            <a:avLst/>
          </a:prstGeom>
        </p:spPr>
      </p:pic>
      <p:pic>
        <p:nvPicPr>
          <p:cNvPr id="1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60357" y="2786539"/>
            <a:ext cx="226933" cy="226933"/>
          </a:xfrm>
          <a:prstGeom prst="rect">
            <a:avLst/>
          </a:prstGeom>
        </p:spPr>
      </p:pic>
      <p:sp>
        <p:nvSpPr>
          <p:cNvPr id="11" name="Text 5"/>
          <p:cNvSpPr/>
          <p:nvPr/>
        </p:nvSpPr>
        <p:spPr>
          <a:xfrm>
            <a:off x="4621649" y="3276838"/>
            <a:ext cx="2234922" cy="262652"/>
          </a:xfrm>
          <a:prstGeom prst="rect">
            <a:avLst/>
          </a:prstGeom>
          <a:noFill/>
          <a:ln/>
        </p:spPr>
        <p:txBody>
          <a:bodyPr wrap="none" lIns="0" tIns="0" rIns="0" bIns="0" rtlCol="0" anchor="t"/>
          <a:lstStyle/>
          <a:p>
            <a:pPr marL="0" indent="0" algn="l">
              <a:lnSpc>
                <a:spcPts val="2050"/>
              </a:lnSpc>
              <a:buNone/>
            </a:pPr>
            <a:r>
              <a:rPr lang="en-US" sz="1650" dirty="0">
                <a:solidFill>
                  <a:srgbClr val="4A4A4A"/>
                </a:solidFill>
                <a:latin typeface="DM Sans Semi Bold" pitchFamily="34" charset="0"/>
                <a:ea typeface="DM Sans Semi Bold" pitchFamily="34" charset="-122"/>
                <a:cs typeface="DM Sans Semi Bold" pitchFamily="34" charset="-120"/>
              </a:rPr>
              <a:t>Real-Time Predictions</a:t>
            </a:r>
            <a:endParaRPr lang="en-US" sz="1650" dirty="0"/>
          </a:p>
        </p:txBody>
      </p:sp>
      <p:sp>
        <p:nvSpPr>
          <p:cNvPr id="12" name="Text 6"/>
          <p:cNvSpPr/>
          <p:nvPr/>
        </p:nvSpPr>
        <p:spPr>
          <a:xfrm>
            <a:off x="4621649" y="3614261"/>
            <a:ext cx="2455426" cy="702231"/>
          </a:xfrm>
          <a:prstGeom prst="rect">
            <a:avLst/>
          </a:prstGeom>
          <a:noFill/>
          <a:ln/>
        </p:spPr>
        <p:txBody>
          <a:bodyPr wrap="square" lIns="0" tIns="0" rIns="0" bIns="0" rtlCol="0" anchor="t"/>
          <a:lstStyle/>
          <a:p>
            <a:pPr marL="0" indent="0" algn="l">
              <a:lnSpc>
                <a:spcPts val="1800"/>
              </a:lnSpc>
              <a:buNone/>
            </a:pPr>
            <a:r>
              <a:rPr lang="en-US" sz="1300" dirty="0">
                <a:solidFill>
                  <a:srgbClr val="4A4A4A"/>
                </a:solidFill>
                <a:latin typeface="DM Sans" pitchFamily="34" charset="0"/>
                <a:ea typeface="DM Sans" pitchFamily="34" charset="-122"/>
                <a:cs typeface="DM Sans" pitchFamily="34" charset="-120"/>
              </a:rPr>
              <a:t>&lt; 1 second end-to-end inference time for production deployment readiness</a:t>
            </a:r>
            <a:endParaRPr lang="en-US" sz="1300" dirty="0"/>
          </a:p>
        </p:txBody>
      </p:sp>
      <p:sp>
        <p:nvSpPr>
          <p:cNvPr id="13" name="Shape 7"/>
          <p:cNvSpPr/>
          <p:nvPr/>
        </p:nvSpPr>
        <p:spPr>
          <a:xfrm>
            <a:off x="7377351" y="2472214"/>
            <a:ext cx="2806898" cy="2020014"/>
          </a:xfrm>
          <a:prstGeom prst="roundRect">
            <a:avLst>
              <a:gd name="adj" fmla="val 7491"/>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pic>
        <p:nvPicPr>
          <p:cNvPr id="14" name="Image 4" descr="preencoded.png"/>
          <p:cNvPicPr>
            <a:picLocks noChangeAspect="1"/>
          </p:cNvPicPr>
          <p:nvPr/>
        </p:nvPicPr>
        <p:blipFill>
          <a:blip r:embed="rId9"/>
          <a:stretch>
            <a:fillRect/>
          </a:stretch>
        </p:blipFill>
        <p:spPr>
          <a:xfrm>
            <a:off x="7553087" y="2647950"/>
            <a:ext cx="504349" cy="504349"/>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91795" y="2786539"/>
            <a:ext cx="226933" cy="226933"/>
          </a:xfrm>
          <a:prstGeom prst="rect">
            <a:avLst/>
          </a:prstGeom>
        </p:spPr>
      </p:pic>
      <p:sp>
        <p:nvSpPr>
          <p:cNvPr id="16" name="Text 8"/>
          <p:cNvSpPr/>
          <p:nvPr/>
        </p:nvSpPr>
        <p:spPr>
          <a:xfrm>
            <a:off x="7553087" y="3276838"/>
            <a:ext cx="2101691" cy="262652"/>
          </a:xfrm>
          <a:prstGeom prst="rect">
            <a:avLst/>
          </a:prstGeom>
          <a:noFill/>
          <a:ln/>
        </p:spPr>
        <p:txBody>
          <a:bodyPr wrap="none" lIns="0" tIns="0" rIns="0" bIns="0" rtlCol="0" anchor="t"/>
          <a:lstStyle/>
          <a:p>
            <a:pPr marL="0" indent="0" algn="l">
              <a:lnSpc>
                <a:spcPts val="2050"/>
              </a:lnSpc>
              <a:buNone/>
            </a:pPr>
            <a:r>
              <a:rPr lang="en-US" sz="1650" dirty="0">
                <a:solidFill>
                  <a:srgbClr val="4A4A4A"/>
                </a:solidFill>
                <a:latin typeface="DM Sans Semi Bold" pitchFamily="34" charset="0"/>
                <a:ea typeface="DM Sans Semi Bold" pitchFamily="34" charset="-122"/>
                <a:cs typeface="DM Sans Semi Bold" pitchFamily="34" charset="-120"/>
              </a:rPr>
              <a:t>Novel Features</a:t>
            </a:r>
            <a:endParaRPr lang="en-US" sz="1650" dirty="0"/>
          </a:p>
        </p:txBody>
      </p:sp>
      <p:sp>
        <p:nvSpPr>
          <p:cNvPr id="17" name="Text 9"/>
          <p:cNvSpPr/>
          <p:nvPr/>
        </p:nvSpPr>
        <p:spPr>
          <a:xfrm>
            <a:off x="7553087" y="3614261"/>
            <a:ext cx="2455426" cy="702231"/>
          </a:xfrm>
          <a:prstGeom prst="rect">
            <a:avLst/>
          </a:prstGeom>
          <a:noFill/>
          <a:ln/>
        </p:spPr>
        <p:txBody>
          <a:bodyPr wrap="square" lIns="0" tIns="0" rIns="0" bIns="0" rtlCol="0" anchor="t"/>
          <a:lstStyle/>
          <a:p>
            <a:pPr marL="0" indent="0" algn="l">
              <a:lnSpc>
                <a:spcPts val="1800"/>
              </a:lnSpc>
              <a:buNone/>
            </a:pPr>
            <a:r>
              <a:rPr lang="en-US" sz="1300" dirty="0">
                <a:solidFill>
                  <a:srgbClr val="4A4A4A"/>
                </a:solidFill>
                <a:latin typeface="DM Sans" pitchFamily="34" charset="0"/>
                <a:ea typeface="DM Sans" pitchFamily="34" charset="-122"/>
                <a:cs typeface="DM Sans" pitchFamily="34" charset="-120"/>
              </a:rPr>
              <a:t>Equilibrium temperature integration validates innovative feature engineering</a:t>
            </a:r>
            <a:endParaRPr lang="en-US" sz="1300" dirty="0"/>
          </a:p>
        </p:txBody>
      </p:sp>
      <p:sp>
        <p:nvSpPr>
          <p:cNvPr id="18" name="Shape 10"/>
          <p:cNvSpPr/>
          <p:nvPr/>
        </p:nvSpPr>
        <p:spPr>
          <a:xfrm>
            <a:off x="10308788" y="2472214"/>
            <a:ext cx="2807018" cy="2020014"/>
          </a:xfrm>
          <a:prstGeom prst="roundRect">
            <a:avLst>
              <a:gd name="adj" fmla="val 7491"/>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pic>
        <p:nvPicPr>
          <p:cNvPr id="19" name="Image 6" descr="preencoded.png"/>
          <p:cNvPicPr>
            <a:picLocks noChangeAspect="1"/>
          </p:cNvPicPr>
          <p:nvPr/>
        </p:nvPicPr>
        <p:blipFill>
          <a:blip r:embed="rId12"/>
          <a:stretch>
            <a:fillRect/>
          </a:stretch>
        </p:blipFill>
        <p:spPr>
          <a:xfrm>
            <a:off x="10484525" y="2647950"/>
            <a:ext cx="504349" cy="504349"/>
          </a:xfrm>
          <a:prstGeom prst="rect">
            <a:avLst/>
          </a:prstGeom>
        </p:spPr>
      </p:pic>
      <p:pic>
        <p:nvPicPr>
          <p:cNvPr id="20"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23233" y="2786539"/>
            <a:ext cx="226933" cy="226933"/>
          </a:xfrm>
          <a:prstGeom prst="rect">
            <a:avLst/>
          </a:prstGeom>
        </p:spPr>
      </p:pic>
      <p:sp>
        <p:nvSpPr>
          <p:cNvPr id="21" name="Text 11"/>
          <p:cNvSpPr/>
          <p:nvPr/>
        </p:nvSpPr>
        <p:spPr>
          <a:xfrm>
            <a:off x="10484525" y="3276838"/>
            <a:ext cx="2101691" cy="262652"/>
          </a:xfrm>
          <a:prstGeom prst="rect">
            <a:avLst/>
          </a:prstGeom>
          <a:noFill/>
          <a:ln/>
        </p:spPr>
        <p:txBody>
          <a:bodyPr wrap="none" lIns="0" tIns="0" rIns="0" bIns="0" rtlCol="0" anchor="t"/>
          <a:lstStyle/>
          <a:p>
            <a:pPr marL="0" indent="0" algn="l">
              <a:lnSpc>
                <a:spcPts val="2050"/>
              </a:lnSpc>
              <a:buNone/>
            </a:pPr>
            <a:r>
              <a:rPr lang="en-US" sz="1650" dirty="0">
                <a:solidFill>
                  <a:srgbClr val="4A4A4A"/>
                </a:solidFill>
                <a:latin typeface="DM Sans Semi Bold" pitchFamily="34" charset="0"/>
                <a:ea typeface="DM Sans Semi Bold" pitchFamily="34" charset="-122"/>
                <a:cs typeface="DM Sans Semi Bold" pitchFamily="34" charset="-120"/>
              </a:rPr>
              <a:t>Ensemble Approach</a:t>
            </a:r>
            <a:endParaRPr lang="en-US" sz="1650" dirty="0"/>
          </a:p>
        </p:txBody>
      </p:sp>
      <p:sp>
        <p:nvSpPr>
          <p:cNvPr id="22" name="Text 12"/>
          <p:cNvSpPr/>
          <p:nvPr/>
        </p:nvSpPr>
        <p:spPr>
          <a:xfrm>
            <a:off x="10484525" y="3614261"/>
            <a:ext cx="2455545" cy="702231"/>
          </a:xfrm>
          <a:prstGeom prst="rect">
            <a:avLst/>
          </a:prstGeom>
          <a:noFill/>
          <a:ln/>
        </p:spPr>
        <p:txBody>
          <a:bodyPr wrap="square" lIns="0" tIns="0" rIns="0" bIns="0" rtlCol="0" anchor="t"/>
          <a:lstStyle/>
          <a:p>
            <a:pPr marL="0" indent="0" algn="l">
              <a:lnSpc>
                <a:spcPts val="1800"/>
              </a:lnSpc>
              <a:buNone/>
            </a:pPr>
            <a:r>
              <a:rPr lang="en-US" sz="1300" dirty="0">
                <a:solidFill>
                  <a:srgbClr val="4A4A4A"/>
                </a:solidFill>
                <a:latin typeface="DM Sans" pitchFamily="34" charset="0"/>
                <a:ea typeface="DM Sans" pitchFamily="34" charset="-122"/>
                <a:cs typeface="DM Sans" pitchFamily="34" charset="-120"/>
              </a:rPr>
              <a:t>4 complementary ML models provide robust, validated predictions</a:t>
            </a:r>
            <a:endParaRPr lang="en-US" sz="1300" dirty="0"/>
          </a:p>
        </p:txBody>
      </p:sp>
      <p:sp>
        <p:nvSpPr>
          <p:cNvPr id="23" name="Shape 13"/>
          <p:cNvSpPr/>
          <p:nvPr/>
        </p:nvSpPr>
        <p:spPr>
          <a:xfrm>
            <a:off x="1514475" y="4616768"/>
            <a:ext cx="5738336" cy="1551861"/>
          </a:xfrm>
          <a:prstGeom prst="roundRect">
            <a:avLst>
              <a:gd name="adj" fmla="val 9751"/>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pic>
        <p:nvPicPr>
          <p:cNvPr id="24" name="Image 8" descr="preencoded.png"/>
          <p:cNvPicPr>
            <a:picLocks noChangeAspect="1"/>
          </p:cNvPicPr>
          <p:nvPr/>
        </p:nvPicPr>
        <p:blipFill>
          <a:blip r:embed="rId15"/>
          <a:stretch>
            <a:fillRect/>
          </a:stretch>
        </p:blipFill>
        <p:spPr>
          <a:xfrm>
            <a:off x="1690211" y="4792504"/>
            <a:ext cx="504349" cy="504349"/>
          </a:xfrm>
          <a:prstGeom prst="rect">
            <a:avLst/>
          </a:prstGeom>
        </p:spPr>
      </p:pic>
      <p:pic>
        <p:nvPicPr>
          <p:cNvPr id="25"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828919" y="4931093"/>
            <a:ext cx="226933" cy="226933"/>
          </a:xfrm>
          <a:prstGeom prst="rect">
            <a:avLst/>
          </a:prstGeom>
        </p:spPr>
      </p:pic>
      <p:sp>
        <p:nvSpPr>
          <p:cNvPr id="26" name="Text 14"/>
          <p:cNvSpPr/>
          <p:nvPr/>
        </p:nvSpPr>
        <p:spPr>
          <a:xfrm>
            <a:off x="1690211" y="5421392"/>
            <a:ext cx="2101691" cy="262652"/>
          </a:xfrm>
          <a:prstGeom prst="rect">
            <a:avLst/>
          </a:prstGeom>
          <a:noFill/>
          <a:ln/>
        </p:spPr>
        <p:txBody>
          <a:bodyPr wrap="none" lIns="0" tIns="0" rIns="0" bIns="0" rtlCol="0" anchor="t"/>
          <a:lstStyle/>
          <a:p>
            <a:pPr marL="0" indent="0" algn="l">
              <a:lnSpc>
                <a:spcPts val="2050"/>
              </a:lnSpc>
              <a:buNone/>
            </a:pPr>
            <a:r>
              <a:rPr lang="en-US" sz="1650" dirty="0">
                <a:solidFill>
                  <a:srgbClr val="4A4A4A"/>
                </a:solidFill>
                <a:latin typeface="DM Sans Semi Bold" pitchFamily="34" charset="0"/>
                <a:ea typeface="DM Sans Semi Bold" pitchFamily="34" charset="-122"/>
                <a:cs typeface="DM Sans Semi Bold" pitchFamily="34" charset="-120"/>
              </a:rPr>
              <a:t>Production-Ready</a:t>
            </a:r>
            <a:endParaRPr lang="en-US" sz="1650" dirty="0"/>
          </a:p>
        </p:txBody>
      </p:sp>
      <p:sp>
        <p:nvSpPr>
          <p:cNvPr id="27" name="Text 15"/>
          <p:cNvSpPr/>
          <p:nvPr/>
        </p:nvSpPr>
        <p:spPr>
          <a:xfrm>
            <a:off x="1690211" y="5758815"/>
            <a:ext cx="5386864" cy="234077"/>
          </a:xfrm>
          <a:prstGeom prst="rect">
            <a:avLst/>
          </a:prstGeom>
          <a:noFill/>
          <a:ln/>
        </p:spPr>
        <p:txBody>
          <a:bodyPr wrap="none" lIns="0" tIns="0" rIns="0" bIns="0" rtlCol="0" anchor="t"/>
          <a:lstStyle/>
          <a:p>
            <a:pPr marL="0" indent="0" algn="l">
              <a:lnSpc>
                <a:spcPts val="1800"/>
              </a:lnSpc>
              <a:buNone/>
            </a:pPr>
            <a:r>
              <a:rPr lang="en-US" sz="1300" dirty="0">
                <a:solidFill>
                  <a:srgbClr val="4A4A4A"/>
                </a:solidFill>
                <a:latin typeface="DM Sans" pitchFamily="34" charset="0"/>
                <a:ea typeface="DM Sans" pitchFamily="34" charset="-122"/>
                <a:cs typeface="DM Sans" pitchFamily="34" charset="-120"/>
              </a:rPr>
              <a:t>Full-stack RESTful API architecture with modular, scalable codebase</a:t>
            </a:r>
            <a:endParaRPr lang="en-US" sz="1300" dirty="0"/>
          </a:p>
        </p:txBody>
      </p:sp>
      <p:sp>
        <p:nvSpPr>
          <p:cNvPr id="28" name="Shape 16"/>
          <p:cNvSpPr/>
          <p:nvPr/>
        </p:nvSpPr>
        <p:spPr>
          <a:xfrm>
            <a:off x="7377351" y="4616768"/>
            <a:ext cx="5738455" cy="1551861"/>
          </a:xfrm>
          <a:prstGeom prst="roundRect">
            <a:avLst>
              <a:gd name="adj" fmla="val 9751"/>
            </a:avLst>
          </a:prstGeom>
          <a:solidFill>
            <a:srgbClr val="FFCCD1"/>
          </a:solidFill>
          <a:ln w="7620">
            <a:solidFill>
              <a:srgbClr val="E5B2B7"/>
            </a:solidFill>
            <a:prstDash val="solid"/>
          </a:ln>
          <a:effectLst>
            <a:outerShdw dist="15240" dir="2700000" algn="bl" rotWithShape="0">
              <a:srgbClr val="E5B2B7">
                <a:alpha val="100000"/>
              </a:srgbClr>
            </a:outerShdw>
          </a:effectLst>
        </p:spPr>
        <p:txBody>
          <a:bodyPr/>
          <a:lstStyle/>
          <a:p>
            <a:endParaRPr lang="en-IN"/>
          </a:p>
        </p:txBody>
      </p:sp>
      <p:pic>
        <p:nvPicPr>
          <p:cNvPr id="29" name="Image 10" descr="preencoded.png"/>
          <p:cNvPicPr>
            <a:picLocks noChangeAspect="1"/>
          </p:cNvPicPr>
          <p:nvPr/>
        </p:nvPicPr>
        <p:blipFill>
          <a:blip r:embed="rId18"/>
          <a:stretch>
            <a:fillRect/>
          </a:stretch>
        </p:blipFill>
        <p:spPr>
          <a:xfrm>
            <a:off x="7553087" y="4792504"/>
            <a:ext cx="504349" cy="504349"/>
          </a:xfrm>
          <a:prstGeom prst="rect">
            <a:avLst/>
          </a:prstGeom>
        </p:spPr>
      </p:pic>
      <p:pic>
        <p:nvPicPr>
          <p:cNvPr id="30"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691795" y="4931093"/>
            <a:ext cx="226933" cy="226933"/>
          </a:xfrm>
          <a:prstGeom prst="rect">
            <a:avLst/>
          </a:prstGeom>
        </p:spPr>
      </p:pic>
      <p:sp>
        <p:nvSpPr>
          <p:cNvPr id="31" name="Text 17"/>
          <p:cNvSpPr/>
          <p:nvPr/>
        </p:nvSpPr>
        <p:spPr>
          <a:xfrm>
            <a:off x="7553087" y="5421392"/>
            <a:ext cx="2101691" cy="262652"/>
          </a:xfrm>
          <a:prstGeom prst="rect">
            <a:avLst/>
          </a:prstGeom>
          <a:noFill/>
          <a:ln/>
        </p:spPr>
        <p:txBody>
          <a:bodyPr wrap="none" lIns="0" tIns="0" rIns="0" bIns="0" rtlCol="0" anchor="t"/>
          <a:lstStyle/>
          <a:p>
            <a:pPr marL="0" indent="0" algn="l">
              <a:lnSpc>
                <a:spcPts val="2050"/>
              </a:lnSpc>
              <a:buNone/>
            </a:pPr>
            <a:r>
              <a:rPr lang="en-US" sz="1650" dirty="0">
                <a:solidFill>
                  <a:srgbClr val="4A4A4A"/>
                </a:solidFill>
                <a:latin typeface="DM Sans Semi Bold" pitchFamily="34" charset="0"/>
                <a:ea typeface="DM Sans Semi Bold" pitchFamily="34" charset="-122"/>
                <a:cs typeface="DM Sans Semi Bold" pitchFamily="34" charset="-120"/>
              </a:rPr>
              <a:t>Built on Science</a:t>
            </a:r>
            <a:endParaRPr lang="en-US" sz="1650" dirty="0"/>
          </a:p>
        </p:txBody>
      </p:sp>
      <p:sp>
        <p:nvSpPr>
          <p:cNvPr id="32" name="Text 18"/>
          <p:cNvSpPr/>
          <p:nvPr/>
        </p:nvSpPr>
        <p:spPr>
          <a:xfrm>
            <a:off x="7553087" y="5758815"/>
            <a:ext cx="5386983" cy="234077"/>
          </a:xfrm>
          <a:prstGeom prst="rect">
            <a:avLst/>
          </a:prstGeom>
          <a:noFill/>
          <a:ln/>
        </p:spPr>
        <p:txBody>
          <a:bodyPr wrap="none" lIns="0" tIns="0" rIns="0" bIns="0" rtlCol="0" anchor="t"/>
          <a:lstStyle/>
          <a:p>
            <a:pPr marL="0" indent="0" algn="l">
              <a:lnSpc>
                <a:spcPts val="1800"/>
              </a:lnSpc>
              <a:buNone/>
            </a:pPr>
            <a:r>
              <a:rPr lang="en-US" sz="1300" dirty="0">
                <a:solidFill>
                  <a:srgbClr val="4A4A4A"/>
                </a:solidFill>
                <a:latin typeface="DM Sans" pitchFamily="34" charset="0"/>
                <a:ea typeface="DM Sans" pitchFamily="34" charset="-122"/>
                <a:cs typeface="DM Sans" pitchFamily="34" charset="-120"/>
              </a:rPr>
              <a:t>7 NASA-established habitability criteria plus 4 engineered features</a:t>
            </a:r>
            <a:endParaRPr lang="en-US" sz="1300" dirty="0"/>
          </a:p>
        </p:txBody>
      </p:sp>
      <p:sp>
        <p:nvSpPr>
          <p:cNvPr id="33" name="Text 19"/>
          <p:cNvSpPr/>
          <p:nvPr/>
        </p:nvSpPr>
        <p:spPr>
          <a:xfrm>
            <a:off x="1766649" y="6448901"/>
            <a:ext cx="11349157" cy="468154"/>
          </a:xfrm>
          <a:prstGeom prst="rect">
            <a:avLst/>
          </a:prstGeom>
          <a:noFill/>
          <a:ln/>
        </p:spPr>
        <p:txBody>
          <a:bodyPr wrap="square" lIns="0" tIns="0" rIns="0" bIns="0" rtlCol="0" anchor="t"/>
          <a:lstStyle/>
          <a:p>
            <a:pPr marL="0" indent="0" algn="ctr">
              <a:lnSpc>
                <a:spcPts val="1800"/>
              </a:lnSpc>
              <a:buNone/>
            </a:pPr>
            <a:r>
              <a:rPr lang="en-US" sz="1300" b="1" dirty="0">
                <a:solidFill>
                  <a:srgbClr val="4A4A4A"/>
                </a:solidFill>
                <a:latin typeface="DM Sans" pitchFamily="34" charset="0"/>
                <a:ea typeface="DM Sans" pitchFamily="34" charset="-122"/>
                <a:cs typeface="DM Sans" pitchFamily="34" charset="-120"/>
              </a:rPr>
              <a:t>The Path Forward:</a:t>
            </a:r>
            <a:r>
              <a:rPr lang="en-US" sz="1300" dirty="0">
                <a:solidFill>
                  <a:srgbClr val="4A4A4A"/>
                </a:solidFill>
                <a:latin typeface="DM Sans" pitchFamily="34" charset="0"/>
                <a:ea typeface="DM Sans" pitchFamily="34" charset="-122"/>
                <a:cs typeface="DM Sans" pitchFamily="34" charset="-120"/>
              </a:rPr>
              <a:t> ExoHabitAI establishes a foundation for AI-assisted exoplanet science, with planned integration to real-time NASA data feeds, JWST observation planning, and collaborative researcher tools within 12 months.</a:t>
            </a:r>
            <a:endParaRPr lang="en-US" sz="1300" dirty="0"/>
          </a:p>
        </p:txBody>
      </p:sp>
      <p:sp>
        <p:nvSpPr>
          <p:cNvPr id="34" name="Shape 20"/>
          <p:cNvSpPr/>
          <p:nvPr/>
        </p:nvSpPr>
        <p:spPr>
          <a:xfrm>
            <a:off x="1514475" y="6308765"/>
            <a:ext cx="22860" cy="748427"/>
          </a:xfrm>
          <a:prstGeom prst="rect">
            <a:avLst/>
          </a:prstGeom>
          <a:solidFill>
            <a:srgbClr val="FFC7CD"/>
          </a:solidFill>
          <a:ln/>
        </p:spPr>
        <p:txBody>
          <a:bodyPr/>
          <a:lstStyle/>
          <a:p>
            <a:endParaRPr lang="en-IN"/>
          </a:p>
        </p:txBody>
      </p:sp>
      <p:sp>
        <p:nvSpPr>
          <p:cNvPr id="35" name="Rectangle 34">
            <a:extLst>
              <a:ext uri="{FF2B5EF4-FFF2-40B4-BE49-F238E27FC236}">
                <a16:creationId xmlns:a16="http://schemas.microsoft.com/office/drawing/2014/main" id="{8D0AD20A-DEDA-EA4D-C39B-9180BA548A05}"/>
              </a:ext>
            </a:extLst>
          </p:cNvPr>
          <p:cNvSpPr>
            <a:spLocks noGrp="1" noRot="1" noMove="1" noResize="1" noEditPoints="1" noAdjustHandles="1" noChangeArrowheads="1" noChangeShapeType="1"/>
          </p:cNvSpPr>
          <p:nvPr/>
        </p:nvSpPr>
        <p:spPr>
          <a:xfrm>
            <a:off x="12697428" y="7419372"/>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33174" y="1512213"/>
            <a:ext cx="7078385" cy="565309"/>
          </a:xfrm>
          <a:prstGeom prst="rect">
            <a:avLst/>
          </a:prstGeom>
          <a:noFill/>
          <a:ln/>
        </p:spPr>
        <p:txBody>
          <a:bodyPr wrap="none" lIns="0" tIns="0" rIns="0" bIns="0" rtlCol="0" anchor="t"/>
          <a:lstStyle/>
          <a:p>
            <a:pPr marL="0" indent="0" algn="l">
              <a:lnSpc>
                <a:spcPts val="4450"/>
              </a:lnSpc>
              <a:buNone/>
            </a:pPr>
            <a:r>
              <a:rPr lang="en-US" sz="3550" dirty="0">
                <a:solidFill>
                  <a:srgbClr val="9C5461"/>
                </a:solidFill>
                <a:latin typeface="DM Sans Semi Bold" pitchFamily="34" charset="0"/>
                <a:ea typeface="DM Sans Semi Bold" pitchFamily="34" charset="-122"/>
                <a:cs typeface="DM Sans Semi Bold" pitchFamily="34" charset="-120"/>
              </a:rPr>
              <a:t>Future Scope</a:t>
            </a:r>
            <a:endParaRPr lang="en-US" sz="355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174" y="2293977"/>
            <a:ext cx="452199" cy="452199"/>
          </a:xfrm>
          <a:prstGeom prst="rect">
            <a:avLst/>
          </a:prstGeom>
        </p:spPr>
      </p:pic>
      <p:sp>
        <p:nvSpPr>
          <p:cNvPr id="5" name="Text 1"/>
          <p:cNvSpPr/>
          <p:nvPr/>
        </p:nvSpPr>
        <p:spPr>
          <a:xfrm>
            <a:off x="1265753" y="2293977"/>
            <a:ext cx="2265283" cy="282535"/>
          </a:xfrm>
          <a:prstGeom prst="rect">
            <a:avLst/>
          </a:prstGeom>
          <a:noFill/>
          <a:ln/>
        </p:spPr>
        <p:txBody>
          <a:bodyPr wrap="none" lIns="0" tIns="0" rIns="0" bIns="0" rtlCol="0" anchor="t"/>
          <a:lstStyle/>
          <a:p>
            <a:pPr marL="0" indent="0" algn="l">
              <a:lnSpc>
                <a:spcPts val="2200"/>
              </a:lnSpc>
              <a:buNone/>
            </a:pPr>
            <a:r>
              <a:rPr lang="en-US" sz="1750" dirty="0">
                <a:solidFill>
                  <a:srgbClr val="4A4A4A"/>
                </a:solidFill>
                <a:latin typeface="DM Sans Semi Bold" pitchFamily="34" charset="0"/>
                <a:ea typeface="DM Sans Semi Bold" pitchFamily="34" charset="-122"/>
                <a:cs typeface="DM Sans Semi Bold" pitchFamily="34" charset="-120"/>
              </a:rPr>
              <a:t>Astronomy Research</a:t>
            </a:r>
            <a:endParaRPr lang="en-US" sz="1750" dirty="0"/>
          </a:p>
        </p:txBody>
      </p:sp>
      <p:sp>
        <p:nvSpPr>
          <p:cNvPr id="6" name="Text 2"/>
          <p:cNvSpPr/>
          <p:nvPr/>
        </p:nvSpPr>
        <p:spPr>
          <a:xfrm>
            <a:off x="1265753" y="2663071"/>
            <a:ext cx="7245072" cy="520303"/>
          </a:xfrm>
          <a:prstGeom prst="rect">
            <a:avLst/>
          </a:prstGeom>
          <a:noFill/>
          <a:ln/>
        </p:spPr>
        <p:txBody>
          <a:bodyPr wrap="square" lIns="0" tIns="0" rIns="0" bIns="0" rtlCol="0" anchor="t"/>
          <a:lstStyle/>
          <a:p>
            <a:pPr marL="0" indent="0" algn="l">
              <a:lnSpc>
                <a:spcPts val="2000"/>
              </a:lnSpc>
              <a:buNone/>
            </a:pPr>
            <a:r>
              <a:rPr lang="en-US" sz="1400" dirty="0">
                <a:solidFill>
                  <a:srgbClr val="4A4A4A"/>
                </a:solidFill>
                <a:latin typeface="DM Sans" pitchFamily="34" charset="0"/>
                <a:ea typeface="DM Sans" pitchFamily="34" charset="-122"/>
                <a:cs typeface="DM Sans" pitchFamily="34" charset="-120"/>
              </a:rPr>
              <a:t>Automated habitability screening enables telescope time prioritization. Potential for millions in cost savings and accelerated discovery rates.</a:t>
            </a:r>
            <a:endParaRPr lang="en-US" sz="14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3174" y="3471982"/>
            <a:ext cx="452199" cy="452199"/>
          </a:xfrm>
          <a:prstGeom prst="rect">
            <a:avLst/>
          </a:prstGeom>
        </p:spPr>
      </p:pic>
      <p:sp>
        <p:nvSpPr>
          <p:cNvPr id="8" name="Text 3"/>
          <p:cNvSpPr/>
          <p:nvPr/>
        </p:nvSpPr>
        <p:spPr>
          <a:xfrm>
            <a:off x="1265753" y="3471982"/>
            <a:ext cx="2261473" cy="282535"/>
          </a:xfrm>
          <a:prstGeom prst="rect">
            <a:avLst/>
          </a:prstGeom>
          <a:noFill/>
          <a:ln/>
        </p:spPr>
        <p:txBody>
          <a:bodyPr wrap="none" lIns="0" tIns="0" rIns="0" bIns="0" rtlCol="0" anchor="t"/>
          <a:lstStyle/>
          <a:p>
            <a:pPr marL="0" indent="0" algn="l">
              <a:lnSpc>
                <a:spcPts val="2200"/>
              </a:lnSpc>
              <a:buNone/>
            </a:pPr>
            <a:r>
              <a:rPr lang="en-US" sz="1750" dirty="0">
                <a:solidFill>
                  <a:srgbClr val="4A4A4A"/>
                </a:solidFill>
                <a:latin typeface="DM Sans Semi Bold" pitchFamily="34" charset="0"/>
                <a:ea typeface="DM Sans Semi Bold" pitchFamily="34" charset="-122"/>
                <a:cs typeface="DM Sans Semi Bold" pitchFamily="34" charset="-120"/>
              </a:rPr>
              <a:t>Space Missions</a:t>
            </a:r>
            <a:endParaRPr lang="en-US" sz="1750" dirty="0"/>
          </a:p>
        </p:txBody>
      </p:sp>
      <p:sp>
        <p:nvSpPr>
          <p:cNvPr id="9" name="Text 4"/>
          <p:cNvSpPr/>
          <p:nvPr/>
        </p:nvSpPr>
        <p:spPr>
          <a:xfrm>
            <a:off x="1265753" y="3841075"/>
            <a:ext cx="7245072" cy="520303"/>
          </a:xfrm>
          <a:prstGeom prst="rect">
            <a:avLst/>
          </a:prstGeom>
          <a:noFill/>
          <a:ln/>
        </p:spPr>
        <p:txBody>
          <a:bodyPr wrap="square" lIns="0" tIns="0" rIns="0" bIns="0" rtlCol="0" anchor="t"/>
          <a:lstStyle/>
          <a:p>
            <a:pPr marL="0" indent="0" algn="l">
              <a:lnSpc>
                <a:spcPts val="2000"/>
              </a:lnSpc>
              <a:buNone/>
            </a:pPr>
            <a:r>
              <a:rPr lang="en-US" sz="1400" dirty="0">
                <a:solidFill>
                  <a:srgbClr val="4A4A4A"/>
                </a:solidFill>
                <a:latin typeface="DM Sans" pitchFamily="34" charset="0"/>
                <a:ea typeface="DM Sans" pitchFamily="34" charset="-122"/>
                <a:cs typeface="DM Sans" pitchFamily="34" charset="-120"/>
              </a:rPr>
              <a:t>Target selection for James Webb Space Telescope and future flagship missions. Data-driven prioritization of observation candidates.</a:t>
            </a:r>
            <a:endParaRPr lang="en-US" sz="14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3174" y="4649986"/>
            <a:ext cx="452199" cy="452199"/>
          </a:xfrm>
          <a:prstGeom prst="rect">
            <a:avLst/>
          </a:prstGeom>
        </p:spPr>
      </p:pic>
      <p:sp>
        <p:nvSpPr>
          <p:cNvPr id="11" name="Text 5"/>
          <p:cNvSpPr/>
          <p:nvPr/>
        </p:nvSpPr>
        <p:spPr>
          <a:xfrm>
            <a:off x="1265753" y="4649986"/>
            <a:ext cx="2261473" cy="282535"/>
          </a:xfrm>
          <a:prstGeom prst="rect">
            <a:avLst/>
          </a:prstGeom>
          <a:noFill/>
          <a:ln/>
        </p:spPr>
        <p:txBody>
          <a:bodyPr wrap="none" lIns="0" tIns="0" rIns="0" bIns="0" rtlCol="0" anchor="t"/>
          <a:lstStyle/>
          <a:p>
            <a:pPr marL="0" indent="0" algn="l">
              <a:lnSpc>
                <a:spcPts val="2200"/>
              </a:lnSpc>
              <a:buNone/>
            </a:pPr>
            <a:r>
              <a:rPr lang="en-US" sz="1750" dirty="0">
                <a:solidFill>
                  <a:srgbClr val="4A4A4A"/>
                </a:solidFill>
                <a:latin typeface="DM Sans Semi Bold" pitchFamily="34" charset="0"/>
                <a:ea typeface="DM Sans Semi Bold" pitchFamily="34" charset="-122"/>
                <a:cs typeface="DM Sans Semi Bold" pitchFamily="34" charset="-120"/>
              </a:rPr>
              <a:t>Education</a:t>
            </a:r>
            <a:endParaRPr lang="en-US" sz="1750" dirty="0"/>
          </a:p>
        </p:txBody>
      </p:sp>
      <p:sp>
        <p:nvSpPr>
          <p:cNvPr id="12" name="Text 6"/>
          <p:cNvSpPr/>
          <p:nvPr/>
        </p:nvSpPr>
        <p:spPr>
          <a:xfrm>
            <a:off x="1265753" y="5019080"/>
            <a:ext cx="7245072" cy="520303"/>
          </a:xfrm>
          <a:prstGeom prst="rect">
            <a:avLst/>
          </a:prstGeom>
          <a:noFill/>
          <a:ln/>
        </p:spPr>
        <p:txBody>
          <a:bodyPr wrap="square" lIns="0" tIns="0" rIns="0" bIns="0" rtlCol="0" anchor="t"/>
          <a:lstStyle/>
          <a:p>
            <a:pPr marL="0" indent="0" algn="l">
              <a:lnSpc>
                <a:spcPts val="2000"/>
              </a:lnSpc>
              <a:buNone/>
            </a:pPr>
            <a:r>
              <a:rPr lang="en-US" sz="1400" dirty="0">
                <a:solidFill>
                  <a:srgbClr val="4A4A4A"/>
                </a:solidFill>
                <a:latin typeface="DM Sans" pitchFamily="34" charset="0"/>
                <a:ea typeface="DM Sans" pitchFamily="34" charset="-122"/>
                <a:cs typeface="DM Sans" pitchFamily="34" charset="-120"/>
              </a:rPr>
              <a:t>Interactive tool for university astronomy courses. Citizen science projects engaging public in exoplanet discovery.</a:t>
            </a:r>
            <a:endParaRPr lang="en-US" sz="1400" dirty="0"/>
          </a:p>
        </p:txBody>
      </p:sp>
      <p:pic>
        <p:nvPicPr>
          <p:cNvPr id="1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3174" y="5827990"/>
            <a:ext cx="452199" cy="452199"/>
          </a:xfrm>
          <a:prstGeom prst="rect">
            <a:avLst/>
          </a:prstGeom>
        </p:spPr>
      </p:pic>
      <p:sp>
        <p:nvSpPr>
          <p:cNvPr id="14" name="Text 7"/>
          <p:cNvSpPr/>
          <p:nvPr/>
        </p:nvSpPr>
        <p:spPr>
          <a:xfrm>
            <a:off x="1265753" y="5827990"/>
            <a:ext cx="2261473" cy="282535"/>
          </a:xfrm>
          <a:prstGeom prst="rect">
            <a:avLst/>
          </a:prstGeom>
          <a:noFill/>
          <a:ln/>
        </p:spPr>
        <p:txBody>
          <a:bodyPr wrap="none" lIns="0" tIns="0" rIns="0" bIns="0" rtlCol="0" anchor="t"/>
          <a:lstStyle/>
          <a:p>
            <a:pPr marL="0" indent="0" algn="l">
              <a:lnSpc>
                <a:spcPts val="2200"/>
              </a:lnSpc>
              <a:buNone/>
            </a:pPr>
            <a:r>
              <a:rPr lang="en-US" sz="1750" dirty="0">
                <a:solidFill>
                  <a:srgbClr val="4A4A4A"/>
                </a:solidFill>
                <a:latin typeface="DM Sans Semi Bold" pitchFamily="34" charset="0"/>
                <a:ea typeface="DM Sans Semi Bold" pitchFamily="34" charset="-122"/>
                <a:cs typeface="DM Sans Semi Bold" pitchFamily="34" charset="-120"/>
              </a:rPr>
              <a:t>Scientific Discovery</a:t>
            </a:r>
            <a:endParaRPr lang="en-US" sz="1750" dirty="0"/>
          </a:p>
        </p:txBody>
      </p:sp>
      <p:sp>
        <p:nvSpPr>
          <p:cNvPr id="15" name="Text 8"/>
          <p:cNvSpPr/>
          <p:nvPr/>
        </p:nvSpPr>
        <p:spPr>
          <a:xfrm>
            <a:off x="1265753" y="6197084"/>
            <a:ext cx="7245072" cy="520303"/>
          </a:xfrm>
          <a:prstGeom prst="rect">
            <a:avLst/>
          </a:prstGeom>
          <a:noFill/>
          <a:ln/>
        </p:spPr>
        <p:txBody>
          <a:bodyPr wrap="square" lIns="0" tIns="0" rIns="0" bIns="0" rtlCol="0" anchor="t"/>
          <a:lstStyle/>
          <a:p>
            <a:pPr marL="0" indent="0" algn="l">
              <a:lnSpc>
                <a:spcPts val="2000"/>
              </a:lnSpc>
              <a:buNone/>
            </a:pPr>
            <a:r>
              <a:rPr lang="en-US" sz="1400" dirty="0">
                <a:solidFill>
                  <a:srgbClr val="4A4A4A"/>
                </a:solidFill>
                <a:latin typeface="DM Sans" pitchFamily="34" charset="0"/>
                <a:ea typeface="DM Sans" pitchFamily="34" charset="-122"/>
                <a:cs typeface="DM Sans" pitchFamily="34" charset="-120"/>
              </a:rPr>
              <a:t>Accelerated analysis of new exoplanet detections. Enabled discovery of previously overlooked habitable candidates in archival data.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Text 0">
            <a:extLst>
              <a:ext uri="{FF2B5EF4-FFF2-40B4-BE49-F238E27FC236}">
                <a16:creationId xmlns:a16="http://schemas.microsoft.com/office/drawing/2014/main" id="{30F54B81-ECB4-9725-DAE8-EF2C894A84B3}"/>
              </a:ext>
            </a:extLst>
          </p:cNvPr>
          <p:cNvSpPr/>
          <p:nvPr/>
        </p:nvSpPr>
        <p:spPr>
          <a:xfrm>
            <a:off x="5421567" y="3605033"/>
            <a:ext cx="3454803" cy="1019413"/>
          </a:xfrm>
          <a:prstGeom prst="rect">
            <a:avLst/>
          </a:prstGeom>
          <a:noFill/>
          <a:ln/>
        </p:spPr>
        <p:txBody>
          <a:bodyPr wrap="square" lIns="0" tIns="0" rIns="0" bIns="0" rtlCol="0" anchor="t"/>
          <a:lstStyle/>
          <a:p>
            <a:pPr marL="0" indent="0" algn="l">
              <a:lnSpc>
                <a:spcPts val="4000"/>
              </a:lnSpc>
              <a:buNone/>
            </a:pPr>
            <a:r>
              <a:rPr lang="en-US" sz="4000" dirty="0">
                <a:solidFill>
                  <a:srgbClr val="9C5461"/>
                </a:solidFill>
                <a:latin typeface="DM Sans Semi Bold" pitchFamily="34" charset="0"/>
                <a:ea typeface="DM Sans Semi Bold" pitchFamily="34" charset="-122"/>
                <a:cs typeface="DM Sans Semi Bold" pitchFamily="34" charset="-120"/>
              </a:rPr>
              <a:t>Any Queries?</a:t>
            </a:r>
            <a:endParaRPr lang="en-US" sz="4000" dirty="0"/>
          </a:p>
        </p:txBody>
      </p:sp>
      <p:sp>
        <p:nvSpPr>
          <p:cNvPr id="4" name="Rectangle 3">
            <a:extLst>
              <a:ext uri="{FF2B5EF4-FFF2-40B4-BE49-F238E27FC236}">
                <a16:creationId xmlns:a16="http://schemas.microsoft.com/office/drawing/2014/main" id="{F7B20279-191C-C94E-5971-9C53E8615E61}"/>
              </a:ext>
            </a:extLst>
          </p:cNvPr>
          <p:cNvSpPr>
            <a:spLocks noGrp="1" noRot="1" noMove="1" noResize="1" noEditPoints="1" noAdjustHandles="1" noChangeArrowheads="1" noChangeShapeType="1"/>
          </p:cNvSpPr>
          <p:nvPr/>
        </p:nvSpPr>
        <p:spPr>
          <a:xfrm>
            <a:off x="12697428" y="7407797"/>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Text 0">
            <a:extLst>
              <a:ext uri="{FF2B5EF4-FFF2-40B4-BE49-F238E27FC236}">
                <a16:creationId xmlns:a16="http://schemas.microsoft.com/office/drawing/2014/main" id="{ADED72A2-61A5-306D-C046-91ECF30B05D9}"/>
              </a:ext>
            </a:extLst>
          </p:cNvPr>
          <p:cNvSpPr/>
          <p:nvPr/>
        </p:nvSpPr>
        <p:spPr>
          <a:xfrm>
            <a:off x="5510776" y="3605033"/>
            <a:ext cx="3332141" cy="1019413"/>
          </a:xfrm>
          <a:prstGeom prst="rect">
            <a:avLst/>
          </a:prstGeom>
          <a:noFill/>
          <a:ln/>
        </p:spPr>
        <p:txBody>
          <a:bodyPr wrap="square" lIns="0" tIns="0" rIns="0" bIns="0" rtlCol="0" anchor="t"/>
          <a:lstStyle/>
          <a:p>
            <a:pPr marL="0" indent="0" algn="l">
              <a:lnSpc>
                <a:spcPts val="4000"/>
              </a:lnSpc>
              <a:buNone/>
            </a:pPr>
            <a:r>
              <a:rPr lang="en-US" sz="4400" dirty="0">
                <a:solidFill>
                  <a:srgbClr val="9C5461"/>
                </a:solidFill>
                <a:latin typeface="DM Sans Semi Bold" pitchFamily="34" charset="0"/>
                <a:ea typeface="DM Sans Semi Bold" pitchFamily="34" charset="-122"/>
                <a:cs typeface="DM Sans Semi Bold" pitchFamily="34" charset="-120"/>
              </a:rPr>
              <a:t>Thank You</a:t>
            </a:r>
            <a:endParaRPr lang="en-US" sz="4400" dirty="0"/>
          </a:p>
        </p:txBody>
      </p:sp>
      <p:sp>
        <p:nvSpPr>
          <p:cNvPr id="5" name="Rectangle 4">
            <a:extLst>
              <a:ext uri="{FF2B5EF4-FFF2-40B4-BE49-F238E27FC236}">
                <a16:creationId xmlns:a16="http://schemas.microsoft.com/office/drawing/2014/main" id="{DD853755-F011-57E2-8A64-8BA9ED53E9F5}"/>
              </a:ext>
            </a:extLst>
          </p:cNvPr>
          <p:cNvSpPr>
            <a:spLocks noGrp="1" noRot="1" noMove="1" noResize="1" noEditPoints="1" noAdjustHandles="1" noChangeArrowheads="1" noChangeShapeType="1"/>
          </p:cNvSpPr>
          <p:nvPr/>
        </p:nvSpPr>
        <p:spPr>
          <a:xfrm>
            <a:off x="12697428" y="7419372"/>
            <a:ext cx="1932972" cy="81022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752</Words>
  <Application>Microsoft Office PowerPoint</Application>
  <PresentationFormat>Custom</PresentationFormat>
  <Paragraphs>112</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DM Sans Semi Bold</vt:lpstr>
      <vt:lpstr>Times New Roman</vt:lpstr>
      <vt:lpstr>Arial</vt:lpstr>
      <vt:lpstr>Wingdings</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Aryan Ojha</cp:lastModifiedBy>
  <cp:revision>5</cp:revision>
  <dcterms:created xsi:type="dcterms:W3CDTF">2026-02-22T03:41:55Z</dcterms:created>
  <dcterms:modified xsi:type="dcterms:W3CDTF">2026-02-22T17:17:19Z</dcterms:modified>
</cp:coreProperties>
</file>