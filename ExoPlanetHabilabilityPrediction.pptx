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59" r:id="rId9"/>
    <p:sldId id="265" r:id="rId10"/>
    <p:sldId id="263" r:id="rId11"/>
    <p:sldId id="266" r:id="rId12"/>
    <p:sldId id="269" r:id="rId13"/>
  </p:sldIdLst>
  <p:sldSz cx="18288000" cy="10287000"/>
  <p:notesSz cx="6858000" cy="9144000"/>
  <p:embeddedFontLst>
    <p:embeddedFont>
      <p:font typeface="Bricolage Grotesque" panose="020B0604020202020204" charset="0"/>
      <p:bold r:id="rId15"/>
    </p:embeddedFont>
    <p:embeddedFont>
      <p:font typeface="Times" panose="0202060305040502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14347" y="627000"/>
            <a:ext cx="17639872" cy="9435479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avLst/>
            <a:gdLst/>
            <a:ahLst/>
            <a:cxnLst/>
            <a:rect l="l" t="t" r="r" b="b"/>
            <a:pathLst>
              <a:path w="1202194" h="1387131" extrusionOk="0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41" b="-240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 extrusionOk="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206038" y="1592929"/>
            <a:ext cx="10528637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D2EEFF"/>
                </a:solidFill>
                <a:latin typeface="Times" panose="02020603050405020304" pitchFamily="18" charset="0"/>
                <a:ea typeface="Trochut"/>
                <a:cs typeface="Times" panose="02020603050405020304" pitchFamily="18" charset="0"/>
                <a:sym typeface="Trochut"/>
              </a:rPr>
              <a:t>Exoplanet Habitability Prediction Using ML</a:t>
            </a:r>
            <a:endParaRPr sz="9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D7500D-4784-4717-95BA-20FB9252D007}"/>
              </a:ext>
            </a:extLst>
          </p:cNvPr>
          <p:cNvSpPr/>
          <p:nvPr/>
        </p:nvSpPr>
        <p:spPr>
          <a:xfrm>
            <a:off x="6046839" y="7713143"/>
            <a:ext cx="4203290" cy="15193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bg2">
                    <a:lumMod val="20000"/>
                    <a:lumOff val="8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Roshini s</a:t>
            </a:r>
            <a:endParaRPr lang="en-IN" sz="6000" dirty="0">
              <a:solidFill>
                <a:schemeClr val="bg2">
                  <a:lumMod val="20000"/>
                  <a:lumOff val="8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8101" y="6795372"/>
            <a:ext cx="4010025" cy="730020"/>
            <a:chOff x="0" y="0"/>
            <a:chExt cx="5346700" cy="973360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730020"/>
            <a:chOff x="0" y="0"/>
            <a:chExt cx="5346700" cy="973360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6286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-2920180" y="7041716"/>
            <a:ext cx="7314808" cy="434745"/>
            <a:chOff x="-4406376" y="393700"/>
            <a:chExt cx="9753077" cy="579660"/>
          </a:xfrm>
        </p:grpSpPr>
        <p:sp>
          <p:nvSpPr>
            <p:cNvPr id="108" name="Google Shape;108;p2"/>
            <p:cNvSpPr txBox="1"/>
            <p:nvPr/>
          </p:nvSpPr>
          <p:spPr>
            <a:xfrm flipV="1">
              <a:off x="-4406376" y="393700"/>
              <a:ext cx="9753077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 dirty="0"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3" y="6746441"/>
            <a:ext cx="4010025" cy="1025295"/>
            <a:chOff x="0" y="0"/>
            <a:chExt cx="5346700" cy="1367060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0223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C0D67B-955F-6542-56DF-CF93E50F37DE}"/>
              </a:ext>
            </a:extLst>
          </p:cNvPr>
          <p:cNvSpPr/>
          <p:nvPr/>
        </p:nvSpPr>
        <p:spPr>
          <a:xfrm>
            <a:off x="707924" y="2448232"/>
            <a:ext cx="16782978" cy="731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lvl="3"/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3" algn="just"/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Thousands of exoplanets have been discovered outside our solar system. However, identifying which of them could support life is a major scientific challenge.</a:t>
            </a:r>
          </a:p>
          <a:p>
            <a:pPr lvl="3" algn="just"/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3"/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Habitability depends on important factors such as:</a:t>
            </a:r>
          </a:p>
          <a:p>
            <a:pPr marL="457200" lvl="3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lvl="3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Planet radius and mass</a:t>
            </a:r>
          </a:p>
          <a:p>
            <a:pPr marL="457200" lvl="3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Orbital period</a:t>
            </a:r>
          </a:p>
          <a:p>
            <a:pPr marL="457200" lvl="3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Equilibrium temperature</a:t>
            </a:r>
          </a:p>
          <a:p>
            <a:pPr marL="457200" lvl="3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Star properties (temperature, mass, metallicity)</a:t>
            </a:r>
          </a:p>
          <a:p>
            <a:pPr lvl="3"/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3" algn="just"/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	Analyzing large exoplanet datasets manually is difficult. Therefore, in this project, we use Machine Learning to predict whether a planet is Habitable or Not Habitable.</a:t>
            </a:r>
          </a:p>
          <a:p>
            <a:pPr algn="ctr"/>
            <a:endParaRPr lang="en-IN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12892088" y="7376116"/>
            <a:ext cx="4010025" cy="749070"/>
            <a:chOff x="0" y="0"/>
            <a:chExt cx="5346700" cy="998760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0" y="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6540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7138988" y="7370758"/>
            <a:ext cx="4010025" cy="749070"/>
            <a:chOff x="0" y="0"/>
            <a:chExt cx="5346700" cy="998760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0" y="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654051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538288" y="7376116"/>
            <a:ext cx="4010025" cy="749069"/>
            <a:chOff x="0" y="0"/>
            <a:chExt cx="5346700" cy="998759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0" y="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65405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Times" panose="02020603050405020304" pitchFamily="18" charset="0"/>
                <a:ea typeface="Bricolage Grotesque SemiBold"/>
                <a:cs typeface="Times" panose="02020603050405020304" pitchFamily="18" charset="0"/>
                <a:sym typeface="Bricolage Grotesque SemiBold"/>
              </a:rPr>
              <a:t>PROBLEM STATEMENT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3449B7-F693-8EBC-3B1C-2F5AAFFAF6A4}"/>
              </a:ext>
            </a:extLst>
          </p:cNvPr>
          <p:cNvSpPr/>
          <p:nvPr/>
        </p:nvSpPr>
        <p:spPr>
          <a:xfrm>
            <a:off x="796413" y="2566219"/>
            <a:ext cx="16827910" cy="71529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endParaRPr lang="en-US" sz="3400" b="1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	Although thousands of exoplanets have been discovered, determining which planets are potentially habitable remains a complex challenge. Habitability depends on multiple planetary and stellar parameters, and analyzing these features manually for large datasets is inefficient and time-consuming.</a:t>
            </a:r>
          </a:p>
          <a:p>
            <a:pPr algn="just"/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There is a need for:</a:t>
            </a:r>
          </a:p>
          <a:p>
            <a:pPr algn="just"/>
            <a:endParaRPr lang="en-US" sz="34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lvl="6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A data-driven approach to analyze exoplanet features</a:t>
            </a:r>
          </a:p>
          <a:p>
            <a:pPr marL="457200" lvl="2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An automated system to classify planets as Habitable or Not Habitable</a:t>
            </a:r>
          </a:p>
          <a:p>
            <a:pPr marL="457200" lvl="2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An interactive platform to visualize planetary data and predictions</a:t>
            </a:r>
          </a:p>
          <a:p>
            <a:pPr marL="457200" lvl="2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This project aims to solve this problem using </a:t>
            </a:r>
            <a:r>
              <a:rPr lang="en-US" sz="3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Machine Learning and data visualization techniques</a:t>
            </a: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5"/>
          <p:cNvSpPr txBox="1"/>
          <p:nvPr/>
        </p:nvSpPr>
        <p:spPr>
          <a:xfrm>
            <a:off x="974475" y="2739151"/>
            <a:ext cx="16339050" cy="62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3400" b="1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main objectives of this project are: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analyze exoplanet data obtained from NASA Exoplanet Archive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select important planetary and stellar features affecting habitability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build a Machine Learning model (Random Forest) for predicting habitability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create a new “habitable” label based on scientific threshold conditions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develop an interactive </a:t>
            </a:r>
            <a:r>
              <a:rPr lang="en-US" sz="3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Streamlit</a:t>
            </a: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 web application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provide real-time prediction and visualization of exoplanet data</a:t>
            </a:r>
          </a:p>
        </p:txBody>
      </p:sp>
      <p:sp>
        <p:nvSpPr>
          <p:cNvPr id="2" name="Google Shape;191;p5">
            <a:extLst>
              <a:ext uri="{FF2B5EF4-FFF2-40B4-BE49-F238E27FC236}">
                <a16:creationId xmlns:a16="http://schemas.microsoft.com/office/drawing/2014/main" id="{8EF9E257-FEE6-4FE5-AA7C-9C1412CCC7CF}"/>
              </a:ext>
            </a:extLst>
          </p:cNvPr>
          <p:cNvSpPr txBox="1"/>
          <p:nvPr/>
        </p:nvSpPr>
        <p:spPr>
          <a:xfrm>
            <a:off x="1187819" y="1269207"/>
            <a:ext cx="14021701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OBJECTIVE</a:t>
            </a:r>
            <a:endParaRPr sz="7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50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  <a:sym typeface="Bricolage Grotesque"/>
              </a:rPr>
              <a:t>DATASET DESCRIPTION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11353830" y="608956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456180"/>
            <a:ext cx="4748731" cy="2661190"/>
            <a:chOff x="0" y="0"/>
            <a:chExt cx="6331641" cy="3548256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787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 dirty="0">
                  <a:solidFill>
                    <a:srgbClr val="B0AFD3"/>
                  </a:solidFill>
                  <a:latin typeface="Times" panose="02020603050405020304" pitchFamily="18" charset="0"/>
                  <a:ea typeface="Bricolage Grotesque"/>
                  <a:cs typeface="Times" panose="02020603050405020304" pitchFamily="18" charset="0"/>
                  <a:sym typeface="Bricolage Grotesque"/>
                </a:rPr>
                <a:t>Star Features</a:t>
              </a:r>
              <a:endParaRPr sz="32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27576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marR="0" lvl="0" indent="-34290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Temperature</a:t>
              </a:r>
            </a:p>
            <a:p>
              <a:pPr marL="342900" marR="0" lvl="0" indent="-34290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Mass</a:t>
              </a:r>
            </a:p>
            <a:p>
              <a:pPr marL="342900" marR="0" lvl="0" indent="-34290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Radius</a:t>
              </a:r>
            </a:p>
            <a:p>
              <a:pPr marL="342900" marR="0" lvl="0" indent="-34290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Metallicity</a:t>
              </a:r>
              <a:endParaRPr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sp>
        <p:nvSpPr>
          <p:cNvPr id="213" name="Google Shape;213;p6"/>
          <p:cNvSpPr txBox="1"/>
          <p:nvPr/>
        </p:nvSpPr>
        <p:spPr>
          <a:xfrm>
            <a:off x="1415767" y="3463131"/>
            <a:ext cx="252205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B0AFD3"/>
                </a:solidFill>
                <a:latin typeface="Times" panose="02020603050405020304" pitchFamily="18" charset="0"/>
                <a:ea typeface="Bricolage Grotesque"/>
                <a:cs typeface="Times" panose="02020603050405020304" pitchFamily="18" charset="0"/>
                <a:sym typeface="Bricolage Grotesque"/>
              </a:rPr>
              <a:t>DATASET </a:t>
            </a:r>
            <a:endParaRPr sz="3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215" name="Google Shape;215;p6"/>
          <p:cNvGrpSpPr/>
          <p:nvPr/>
        </p:nvGrpSpPr>
        <p:grpSpPr>
          <a:xfrm>
            <a:off x="11285599" y="6641512"/>
            <a:ext cx="4572955" cy="1293790"/>
            <a:chOff x="4274619" y="-105749"/>
            <a:chExt cx="6392162" cy="1725055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4274619" y="-105749"/>
              <a:ext cx="6392162" cy="787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  <a:sym typeface="Bricolage Grotesque"/>
                </a:rPr>
                <a:t>System Feature</a:t>
              </a:r>
              <a:endParaRPr sz="32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4274620" y="929886"/>
              <a:ext cx="6331639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marR="0" lvl="0" indent="-34290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Distance from earth</a:t>
              </a:r>
              <a:endParaRPr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7459861" y="2638270"/>
            <a:ext cx="4748731" cy="3178253"/>
            <a:chOff x="0" y="0"/>
            <a:chExt cx="6331641" cy="4237670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787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  <a:sym typeface="Bricolage Grotesque"/>
                </a:rPr>
                <a:t>Planet features</a:t>
              </a:r>
              <a:endParaRPr sz="32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4"/>
              <a:ext cx="6331641" cy="3447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Radius </a:t>
              </a:r>
            </a:p>
            <a:p>
              <a:pPr marL="285750" marR="0" lvl="0" indent="-28575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Mass</a:t>
              </a:r>
            </a:p>
            <a:p>
              <a:pPr marL="285750" marR="0" lvl="0" indent="-28575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Orbital Period</a:t>
              </a:r>
            </a:p>
            <a:p>
              <a:pPr marL="285750" marR="0" lvl="0" indent="-28575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Equilibrium Temperature</a:t>
              </a:r>
            </a:p>
            <a:p>
              <a:pPr marL="285750" marR="0" lvl="0" indent="-28575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Insolation flux</a:t>
              </a:r>
              <a:endParaRPr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11677974" y="609562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36256-9E90-7B5F-F7C9-00989B13F799}"/>
              </a:ext>
            </a:extLst>
          </p:cNvPr>
          <p:cNvSpPr/>
          <p:nvPr/>
        </p:nvSpPr>
        <p:spPr>
          <a:xfrm>
            <a:off x="929148" y="3805084"/>
            <a:ext cx="6294422" cy="35374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457200" indent="-4572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Dataset Source: NASA Exoplanet Archive</a:t>
            </a:r>
          </a:p>
          <a:p>
            <a:pPr marL="457200" indent="-4572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Contains thousands of discovered exoplanets</a:t>
            </a:r>
          </a:p>
          <a:p>
            <a:pPr marL="457200" indent="-4572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Selected 10 important features for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765738"/>
            <a:chOff x="0" y="-9525"/>
            <a:chExt cx="5346700" cy="1020984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5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8988" y="7354100"/>
            <a:ext cx="4587764" cy="765728"/>
            <a:chOff x="0" y="-9511"/>
            <a:chExt cx="6117018" cy="1020971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9" y="-9511"/>
              <a:ext cx="6116999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666751"/>
              <a:ext cx="5346699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538288" y="7359447"/>
            <a:ext cx="4010025" cy="765738"/>
            <a:chOff x="0" y="-9525"/>
            <a:chExt cx="5346700" cy="1020984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50"/>
              <a:ext cx="53467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020414" y="90483"/>
            <a:ext cx="7769328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Times" panose="02020603050405020304" pitchFamily="18" charset="0"/>
                <a:ea typeface="Bricolage Grotesque SemiBold"/>
                <a:cs typeface="Times" panose="02020603050405020304" pitchFamily="18" charset="0"/>
                <a:sym typeface="Bricolage Grotesque SemiBold"/>
              </a:rPr>
              <a:t>Methodology 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1B13AA-B780-DD13-E301-E82BE098D089}"/>
              </a:ext>
            </a:extLst>
          </p:cNvPr>
          <p:cNvSpPr/>
          <p:nvPr/>
        </p:nvSpPr>
        <p:spPr>
          <a:xfrm>
            <a:off x="632522" y="6478852"/>
            <a:ext cx="2875936" cy="24334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Data Selecting columns, Filtering, Scaling features</a:t>
            </a:r>
            <a:endParaRPr lang="en-IN" sz="2400" dirty="0">
              <a:solidFill>
                <a:schemeClr val="bg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28F1232C-05ED-F509-3F0F-467EC9A16BA8}"/>
              </a:ext>
            </a:extLst>
          </p:cNvPr>
          <p:cNvSpPr/>
          <p:nvPr/>
        </p:nvSpPr>
        <p:spPr>
          <a:xfrm>
            <a:off x="545690" y="2182161"/>
            <a:ext cx="2993923" cy="243348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Data cleaning &amp; Preprocessing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23F228-E04D-6028-3ADE-70AB68A2768C}"/>
              </a:ext>
            </a:extLst>
          </p:cNvPr>
          <p:cNvCxnSpPr>
            <a:stCxn id="5" idx="1"/>
          </p:cNvCxnSpPr>
          <p:nvPr/>
        </p:nvCxnSpPr>
        <p:spPr>
          <a:xfrm>
            <a:off x="2042652" y="4613054"/>
            <a:ext cx="22122" cy="1865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0DA88633-18AF-B2D5-0BD5-2ADF66E9E1D1}"/>
              </a:ext>
            </a:extLst>
          </p:cNvPr>
          <p:cNvSpPr/>
          <p:nvPr/>
        </p:nvSpPr>
        <p:spPr>
          <a:xfrm>
            <a:off x="3879517" y="2095210"/>
            <a:ext cx="2993923" cy="2495138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Feature Engineering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A6F516CF-068D-9F4D-E30F-3B2B51046ED8}"/>
              </a:ext>
            </a:extLst>
          </p:cNvPr>
          <p:cNvSpPr/>
          <p:nvPr/>
        </p:nvSpPr>
        <p:spPr>
          <a:xfrm>
            <a:off x="7271761" y="2182161"/>
            <a:ext cx="3082414" cy="243348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Model Selection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C3C83D62-D5CE-0D82-F749-450D98AE1AE5}"/>
              </a:ext>
            </a:extLst>
          </p:cNvPr>
          <p:cNvSpPr/>
          <p:nvPr/>
        </p:nvSpPr>
        <p:spPr>
          <a:xfrm>
            <a:off x="10818884" y="2087149"/>
            <a:ext cx="3249229" cy="235605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Scaling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Thought Bubble: Cloud 16">
            <a:extLst>
              <a:ext uri="{FF2B5EF4-FFF2-40B4-BE49-F238E27FC236}">
                <a16:creationId xmlns:a16="http://schemas.microsoft.com/office/drawing/2014/main" id="{852F540E-F5D8-2AE3-FDBE-71D0E43E4E88}"/>
              </a:ext>
            </a:extLst>
          </p:cNvPr>
          <p:cNvSpPr/>
          <p:nvPr/>
        </p:nvSpPr>
        <p:spPr>
          <a:xfrm>
            <a:off x="14532822" y="2048435"/>
            <a:ext cx="3227106" cy="243348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Training &amp; Testing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E92777-0702-7E08-1774-F364745FCD81}"/>
              </a:ext>
            </a:extLst>
          </p:cNvPr>
          <p:cNvSpPr/>
          <p:nvPr/>
        </p:nvSpPr>
        <p:spPr>
          <a:xfrm>
            <a:off x="3997504" y="6478852"/>
            <a:ext cx="2875936" cy="243089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Creating Habitable label based on radius &amp; temperature</a:t>
            </a:r>
            <a:endParaRPr lang="en-IN" sz="2400" dirty="0">
              <a:solidFill>
                <a:schemeClr val="bg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0A44BF-4610-0DD4-BFC3-EAEEB4BE0848}"/>
              </a:ext>
            </a:extLst>
          </p:cNvPr>
          <p:cNvSpPr/>
          <p:nvPr/>
        </p:nvSpPr>
        <p:spPr>
          <a:xfrm>
            <a:off x="7573258" y="6478852"/>
            <a:ext cx="2875936" cy="24334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Random Forest Classifier</a:t>
            </a:r>
            <a:endParaRPr lang="en-IN" sz="2400" dirty="0">
              <a:solidFill>
                <a:schemeClr val="bg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AB9233-FFD1-93CA-F7BD-8E6AA9289BF3}"/>
              </a:ext>
            </a:extLst>
          </p:cNvPr>
          <p:cNvSpPr/>
          <p:nvPr/>
        </p:nvSpPr>
        <p:spPr>
          <a:xfrm>
            <a:off x="11149013" y="6478852"/>
            <a:ext cx="2919100" cy="24334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bg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StandardScaler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 for consistent feature ranges</a:t>
            </a:r>
            <a:endParaRPr lang="en-IN" sz="2400" dirty="0">
              <a:solidFill>
                <a:schemeClr val="bg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080130-8D2F-C658-B840-E03AA8E7AE88}"/>
              </a:ext>
            </a:extLst>
          </p:cNvPr>
          <p:cNvSpPr/>
          <p:nvPr/>
        </p:nvSpPr>
        <p:spPr>
          <a:xfrm>
            <a:off x="14927849" y="6395890"/>
            <a:ext cx="2733345" cy="243348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80-20 split or cross validation </a:t>
            </a:r>
            <a:endParaRPr lang="en-IN" sz="2400" dirty="0">
              <a:solidFill>
                <a:schemeClr val="bg2">
                  <a:lumMod val="7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9CE917-72EF-A6E2-0DBF-AB1F58A66034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376478" y="4587691"/>
            <a:ext cx="1" cy="189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17DBAE-BCC5-00F1-682C-CD41E2680FDE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8812968" y="4613054"/>
            <a:ext cx="0" cy="1865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42F5D2-C317-37E0-3D37-B2BE25AFC1BB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2443499" y="4440695"/>
            <a:ext cx="0" cy="2038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9450FF-B57C-5A6C-3E9C-858D4349DFB5}"/>
              </a:ext>
            </a:extLst>
          </p:cNvPr>
          <p:cNvCxnSpPr>
            <a:stCxn id="17" idx="1"/>
          </p:cNvCxnSpPr>
          <p:nvPr/>
        </p:nvCxnSpPr>
        <p:spPr>
          <a:xfrm>
            <a:off x="16146375" y="4479328"/>
            <a:ext cx="0" cy="1916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0D56FB-53A2-49D2-E395-A63570F5C4B5}"/>
              </a:ext>
            </a:extLst>
          </p:cNvPr>
          <p:cNvCxnSpPr>
            <a:cxnSpLocks/>
          </p:cNvCxnSpPr>
          <p:nvPr/>
        </p:nvCxnSpPr>
        <p:spPr>
          <a:xfrm flipH="1">
            <a:off x="2993923" y="1147619"/>
            <a:ext cx="4911212" cy="1034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5B589D0-D186-7B4D-8398-F653BC77A2BF}"/>
              </a:ext>
            </a:extLst>
          </p:cNvPr>
          <p:cNvCxnSpPr/>
          <p:nvPr/>
        </p:nvCxnSpPr>
        <p:spPr>
          <a:xfrm flipH="1">
            <a:off x="6238568" y="1167573"/>
            <a:ext cx="1607574" cy="880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6BF9B85-333C-BB08-F642-D6FDACA50A3F}"/>
              </a:ext>
            </a:extLst>
          </p:cNvPr>
          <p:cNvCxnSpPr/>
          <p:nvPr/>
        </p:nvCxnSpPr>
        <p:spPr>
          <a:xfrm>
            <a:off x="7905135" y="1167573"/>
            <a:ext cx="619433" cy="1014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532D261-A23A-9D26-2902-0AA10DD22284}"/>
              </a:ext>
            </a:extLst>
          </p:cNvPr>
          <p:cNvCxnSpPr/>
          <p:nvPr/>
        </p:nvCxnSpPr>
        <p:spPr>
          <a:xfrm>
            <a:off x="7905135" y="1147619"/>
            <a:ext cx="3821617" cy="1034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20E622E-CA3B-5176-F4A2-64C2234DFDB4}"/>
              </a:ext>
            </a:extLst>
          </p:cNvPr>
          <p:cNvCxnSpPr/>
          <p:nvPr/>
        </p:nvCxnSpPr>
        <p:spPr>
          <a:xfrm>
            <a:off x="7905135" y="1147619"/>
            <a:ext cx="8241240" cy="939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8"/>
          <p:cNvGrpSpPr/>
          <p:nvPr/>
        </p:nvGrpSpPr>
        <p:grpSpPr>
          <a:xfrm>
            <a:off x="9296400" y="3917156"/>
            <a:ext cx="5303763" cy="731406"/>
            <a:chOff x="0" y="-9525"/>
            <a:chExt cx="7071684" cy="975208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0" y="-9525"/>
              <a:ext cx="7071684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0" y="620974"/>
              <a:ext cx="7071684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8" name="Google Shape;268;p8"/>
          <p:cNvSpPr txBox="1"/>
          <p:nvPr/>
        </p:nvSpPr>
        <p:spPr>
          <a:xfrm>
            <a:off x="9769508" y="6344807"/>
            <a:ext cx="54483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99D74D-4C4B-368E-D6B0-2A44B256AF1F}"/>
              </a:ext>
            </a:extLst>
          </p:cNvPr>
          <p:cNvSpPr/>
          <p:nvPr/>
        </p:nvSpPr>
        <p:spPr>
          <a:xfrm>
            <a:off x="811160" y="1268361"/>
            <a:ext cx="8128117" cy="80083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6F9E57-477F-45C3-B34A-C0791C0BD03B}"/>
              </a:ext>
            </a:extLst>
          </p:cNvPr>
          <p:cNvSpPr/>
          <p:nvPr/>
        </p:nvSpPr>
        <p:spPr>
          <a:xfrm>
            <a:off x="9605130" y="4663894"/>
            <a:ext cx="8128116" cy="958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sz="7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Prediction Workflow</a:t>
            </a:r>
            <a:endParaRPr lang="en-IN" sz="70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1CA7B-5AC8-8D51-8B14-976A3F56696A}"/>
              </a:ext>
            </a:extLst>
          </p:cNvPr>
          <p:cNvSpPr/>
          <p:nvPr/>
        </p:nvSpPr>
        <p:spPr>
          <a:xfrm>
            <a:off x="145307" y="473403"/>
            <a:ext cx="7846143" cy="12983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7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Dashboard Design</a:t>
            </a:r>
            <a:endParaRPr lang="en-IN" sz="70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4A192-BC1C-2C47-E500-684339041C5A}"/>
              </a:ext>
            </a:extLst>
          </p:cNvPr>
          <p:cNvSpPr/>
          <p:nvPr/>
        </p:nvSpPr>
        <p:spPr>
          <a:xfrm>
            <a:off x="9752194" y="5561417"/>
            <a:ext cx="7300053" cy="29336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457200" indent="-4572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User inputs planetary and Steller features</a:t>
            </a:r>
          </a:p>
          <a:p>
            <a:pPr marL="457200" indent="-4572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Model predicts Habitable / Not Habitable</a:t>
            </a:r>
          </a:p>
          <a:p>
            <a:pPr marL="457200" indent="-4572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Real-Time visualization and feedback</a:t>
            </a:r>
            <a:endParaRPr lang="en-IN" sz="28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B497F-1EA7-AF95-DEA4-0B5FE2FC5355}"/>
              </a:ext>
            </a:extLst>
          </p:cNvPr>
          <p:cNvSpPr/>
          <p:nvPr/>
        </p:nvSpPr>
        <p:spPr>
          <a:xfrm>
            <a:off x="811160" y="2044546"/>
            <a:ext cx="7152968" cy="42622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just"/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Streamlit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 Interface</a:t>
            </a:r>
          </a:p>
          <a:p>
            <a:pPr marL="457200" indent="-4572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Navigation: Prediction page Vs  Data Visualization page</a:t>
            </a:r>
          </a:p>
          <a:p>
            <a:pPr marL="457200" indent="-4572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Data preview: First 5 habitable planets.</a:t>
            </a:r>
          </a:p>
          <a:p>
            <a:pPr marL="457200" indent="-4572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Correlation  Heatmap .</a:t>
            </a:r>
          </a:p>
          <a:p>
            <a:pPr marL="457200" indent="-4572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Scatter plots of features  vs features planet radius .</a:t>
            </a:r>
          </a:p>
          <a:p>
            <a:pPr marL="457200" indent="-4572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Bar chart :Habitable  vs non-Habitable count.</a:t>
            </a:r>
            <a:endParaRPr lang="en-IN" sz="28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767687" y="3528552"/>
            <a:ext cx="5987700" cy="20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</a:t>
            </a:r>
            <a:r>
              <a:rPr lang="en-US" sz="6675" b="1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&amp; Solutions</a:t>
            </a:r>
            <a:endParaRPr dirty="0"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1579436"/>
            <a:chOff x="0" y="0"/>
            <a:chExt cx="6331500" cy="2105913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787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B0AFD3"/>
                  </a:solidFill>
                  <a:latin typeface="Times" panose="02020603050405020304" pitchFamily="18" charset="0"/>
                  <a:ea typeface="Bricolage Grotesque"/>
                  <a:cs typeface="Times" panose="02020603050405020304" pitchFamily="18" charset="0"/>
                  <a:sym typeface="Bricolage Grotesque"/>
                </a:rPr>
                <a:t>Feature Mismatch </a:t>
              </a:r>
              <a:endParaRPr sz="32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1378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Ensuring 10 features match scaler model</a:t>
              </a:r>
              <a:endParaRPr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1640051"/>
            <a:chOff x="-67" y="-225800"/>
            <a:chExt cx="6331567" cy="2186733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787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  <a:sym typeface="Bricolage Grotesque"/>
                </a:rPr>
                <a:t>Imbalanced Dataset</a:t>
              </a:r>
              <a:endParaRPr sz="32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5"/>
              <a:ext cx="6331500" cy="1378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Random Forest handles class imbalance</a:t>
              </a:r>
              <a:endParaRPr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117" y="6673030"/>
            <a:ext cx="4748625" cy="1062373"/>
            <a:chOff x="0" y="0"/>
            <a:chExt cx="6331500" cy="1416496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787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B0AFD3"/>
                  </a:solidFill>
                  <a:latin typeface="Times" panose="02020603050405020304" pitchFamily="18" charset="0"/>
                  <a:ea typeface="Bricolage Grotesque"/>
                  <a:cs typeface="Times" panose="02020603050405020304" pitchFamily="18" charset="0"/>
                  <a:sym typeface="Bricolage Grotesque"/>
                </a:rPr>
                <a:t>R</a:t>
              </a:r>
              <a:r>
                <a:rPr lang="en-US" sz="3200" b="1" i="0" u="none" strike="noStrike" cap="none" dirty="0">
                  <a:solidFill>
                    <a:srgbClr val="B0AFD3"/>
                  </a:solidFill>
                  <a:latin typeface="Times" panose="02020603050405020304" pitchFamily="18" charset="0"/>
                  <a:ea typeface="Bricolage Grotesque"/>
                  <a:cs typeface="Times" panose="02020603050405020304" pitchFamily="18" charset="0"/>
                  <a:sym typeface="Bricolage Grotesque"/>
                </a:rPr>
                <a:t>eal-time predictions</a:t>
              </a:r>
              <a:endParaRPr sz="32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727076"/>
              <a:ext cx="6331500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err="1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Streamlit</a:t>
              </a:r>
              <a:r>
                <a:rPr lang="en-US" sz="2400" dirty="0">
                  <a:solidFill>
                    <a:srgbClr val="B0AFD3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provides instant feedback</a:t>
              </a:r>
              <a:endParaRPr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981269" y="6673025"/>
            <a:ext cx="5987708" cy="911782"/>
            <a:chOff x="347967" y="-86473"/>
            <a:chExt cx="7983610" cy="1215709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8" y="-86473"/>
              <a:ext cx="7983599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5"/>
              <a:ext cx="6331499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892088" y="7252467"/>
            <a:ext cx="3922302" cy="678844"/>
            <a:chOff x="0" y="-239433"/>
            <a:chExt cx="5346600" cy="893806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40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8"/>
              <a:ext cx="5346600" cy="362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777099"/>
            <a:ext cx="16583915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dirty="0">
                <a:solidFill>
                  <a:srgbClr val="B0AFD3"/>
                </a:solidFill>
                <a:latin typeface="Times" panose="02020603050405020304" pitchFamily="18" charset="0"/>
                <a:ea typeface="Bricolage Grotesque SemiBold"/>
                <a:cs typeface="Times" panose="02020603050405020304" pitchFamily="18" charset="0"/>
                <a:sym typeface="Bricolage Grotesque SemiBold"/>
              </a:rPr>
              <a:t>Prediction Page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3A50C-6288-321F-62D3-36062E2CB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3106506"/>
            <a:ext cx="7125317" cy="5578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F5C8D8-513E-1872-4A55-E32896F7E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707" y="3563745"/>
            <a:ext cx="7506350" cy="4663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7BD533-EF74-4B08-005C-85FE406CB4CA}"/>
              </a:ext>
            </a:extLst>
          </p:cNvPr>
          <p:cNvSpPr/>
          <p:nvPr/>
        </p:nvSpPr>
        <p:spPr>
          <a:xfrm>
            <a:off x="132735" y="560439"/>
            <a:ext cx="6194323" cy="10766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7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Dashboard</a:t>
            </a:r>
            <a:endParaRPr lang="en-IN" sz="70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3BF60-4710-E97F-C264-A78AF0C92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155" y="6058167"/>
            <a:ext cx="7026249" cy="4137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16009E-F696-BEFC-F835-976145C28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794" y="91002"/>
            <a:ext cx="7292972" cy="50524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D3DCD2-F372-EA3C-C451-D3A529A86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49" y="2891551"/>
            <a:ext cx="7300593" cy="5509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  <a:endParaRPr sz="70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BB8485-A02D-DB34-2F3B-F291E309F656}"/>
              </a:ext>
            </a:extLst>
          </p:cNvPr>
          <p:cNvSpPr/>
          <p:nvPr/>
        </p:nvSpPr>
        <p:spPr>
          <a:xfrm>
            <a:off x="2697480" y="3779520"/>
            <a:ext cx="13152120" cy="4815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571500" indent="-5715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Successfully build  an interactive dashboard for predicting exoplanet habitability</a:t>
            </a:r>
          </a:p>
          <a:p>
            <a:pPr marL="571500" indent="-5715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Model allows user to input planet / star data and get instant result</a:t>
            </a:r>
          </a:p>
          <a:p>
            <a:pPr marL="571500" indent="-571500" algn="just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Data visualization helps explore the planetary system trends </a:t>
            </a:r>
            <a:endParaRPr lang="en-IN" sz="3600" dirty="0">
              <a:solidFill>
                <a:schemeClr val="accent4">
                  <a:lumMod val="60000"/>
                  <a:lumOff val="40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458</Words>
  <Application>Microsoft Office PowerPoint</Application>
  <PresentationFormat>Custom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Arial</vt:lpstr>
      <vt:lpstr>Calibri</vt:lpstr>
      <vt:lpstr>Times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shanthinisuresh234@outlook.com</cp:lastModifiedBy>
  <cp:revision>2</cp:revision>
  <dcterms:created xsi:type="dcterms:W3CDTF">2006-08-16T00:00:00Z</dcterms:created>
  <dcterms:modified xsi:type="dcterms:W3CDTF">2026-02-21T17:50:42Z</dcterms:modified>
</cp:coreProperties>
</file>